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94645"/>
  </p:normalViewPr>
  <p:slideViewPr>
    <p:cSldViewPr snapToGrid="0" snapToObjects="1">
      <p:cViewPr varScale="1">
        <p:scale>
          <a:sx n="118" d="100"/>
          <a:sy n="118" d="100"/>
        </p:scale>
        <p:origin x="60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304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Eagle’s view</a:t>
            </a:r>
            <a:br/>
            <a:r>
              <a:t/>
            </a:r>
            <a:br/>
            <a:r>
              <a:t>Suggested timing: 90 seconds</a:t>
            </a:r>
            <a:br/>
            <a:r>
              <a:t/>
            </a:r>
            <a:br/>
            <a:r>
              <a:t>WHY THIS MATTERS</a:t>
            </a:r>
            <a:br/>
            <a:r>
              <a:t>The useful story is how products fit into the business: shared capabilities across business lines, internal workflow tools, vendor dependencies and the quality of the disclosures behind them. These four cards are starting points; the later slides explain the products inside each group.</a:t>
            </a:r>
            <a:br/>
            <a:r>
              <a:t/>
            </a:r>
            <a:br/>
            <a:r>
              <a:t>DISCUSSION</a:t>
            </a:r>
            <a:br/>
            <a:r>
              <a:t>Use the cards to introduce the discussion, then move to examples. Product counts show the size of a footprint; they do not measure spend, delivered value, incidents or control effectiveness. All percentages use the same 173 source products. A product appears once within each combination, but can appear in several combinations. Pilot and Active are kept distinct in the underlying data, even when combined for a follow-up list.</a:t>
            </a:r>
            <a:br/>
            <a:r>
              <a:t/>
            </a:r>
            <a:br/>
            <a:r>
              <a:t>QUESTION TO OPEN THE DISCUSSION</a:t>
            </a:r>
            <a:br/>
            <a:r>
              <a:t>Which shared products and recurring owner questions deserve coordinated attention?</a:t>
            </a:r>
            <a:br/>
            <a:r>
              <a:t/>
            </a:r>
            <a:br/>
            <a:r>
              <a:t>EVIDENCE</a:t>
            </a:r>
            <a:br/>
            <a:r>
              <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Build and buy both need ongoing ownership</a:t>
            </a:r>
            <a:br/>
            <a:r>
              <a:t/>
            </a:r>
            <a:br/>
            <a:r>
              <a:t>Suggested timing: 75 seconds</a:t>
            </a:r>
            <a:br/>
            <a:r>
              <a:t/>
            </a:r>
            <a:br/>
            <a:r>
              <a:t>WHY THIS MATTERS</a:t>
            </a:r>
            <a:br/>
            <a:r>
              <a:t>Build and buy have equally large Pilot/Active footprints, so both need ongoing ownership. The practical question is how responsibilities are shared across internal teams and suppliers.</a:t>
            </a:r>
            <a:br/>
            <a:r>
              <a:t/>
            </a:r>
            <a:br/>
            <a:r>
              <a:t>DISCUSSION</a:t>
            </a:r>
            <a:br/>
            <a:r>
              <a:t>There are 48 in-house and 48 vendor-related products in Pilot/Active. The equal counts are descriptive; the inventory has no comparable cost, usage or outcome measures from which to declare either approach more successful. Nine additional Pilot/Active products have Unclassified sources. Vendor AI is the app’s grouping of licensed, purchased, custom-built vendor and hybrid sources; it is not a count of vendors.</a:t>
            </a:r>
            <a:br/>
            <a:r>
              <a:t/>
            </a:r>
            <a:br/>
            <a:r>
              <a:t>QUESTION TO OPEN THE DISCUSSION</a:t>
            </a:r>
            <a:br/>
            <a:r>
              <a:t>Who owns maintenance, changes, incident handling and vendor escalation for each sourcing path?</a:t>
            </a:r>
            <a:br/>
            <a:r>
              <a:t/>
            </a:r>
            <a:br/>
            <a:r>
              <a:t>EVIDENCE</a:t>
            </a:r>
            <a:br/>
            <a:r>
              <a:t>Developed in-house_later: 48 products (27.7% of 173); source rows 3, 7, 8, 9, 22, 23, 24, 25, 26, 28, 30, 31, 34, 43, 44, 45, 46, 51, 52, 53, 54, 59, 64, 65, 66, 67, 71, 73, 74, 75, 76, 77, 78, 80, 84, 94, 96, 106, 122, 126, 133, 148, 153, 154, 155, 159, 160, 172.</a:t>
            </a:r>
            <a:br/>
            <a:r>
              <a:t>Vendor AI_later: 48 products (27.7% of 173); source rows 2, 10, 14, 15, 17, 18, 19, 20, 29, 32, 36, 37, 38, 39, 41, 48, 49, 55, 57, 60, 61, 62, 63, 68, 72, 79, 81, 82, 88, 89, 98, 109, 112, 116, 117, 121, 123, 127, 132, 136, 144, 145, 146, 152, 161, 163, 165, 171.</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Business lines share products as well as sourcing choices</a:t>
            </a:r>
            <a:br/>
            <a:r>
              <a:t/>
            </a:r>
            <a:br/>
            <a:r>
              <a:t>Suggested timing: 105 seconds</a:t>
            </a:r>
            <a:br/>
            <a:r>
              <a:t/>
            </a:r>
            <a:br/>
            <a:r>
              <a:t>WHY THIS MATTERS</a:t>
            </a:r>
            <a:br/>
            <a:r>
              <a:t>Several business lines depend on the same products. A shared improvement in outreach, translation or prior-authorization support could benefit more than one business, so the sourcing charts should prompt coordination across business-line owners.</a:t>
            </a:r>
            <a:br/>
            <a:r>
              <a:t/>
            </a:r>
            <a:br/>
            <a:r>
              <a:t>DISCUSSION</a:t>
            </a:r>
            <a:br/>
            <a:r>
              <a:t>26 products simultaneously support Medicaid, Medicare and Marketplace and are Pilot/Active: 14 Active and 12 Pilot. The group includes HuMaN outreach, CADA prior-authorization support, Krisp translation, SIU lead generation and provider-directory cleansing. The Medicaid and Commercial Pilot/Active slices also share 14 products. These are shared product records, not separately counted deployments for each business line; potential reuse is an implication, not measured ROI.</a:t>
            </a:r>
            <a:br/>
            <a:r>
              <a:t/>
            </a:r>
            <a:br/>
            <a:r>
              <a:t>QUESTION TO OPEN THE DISCUSSION</a:t>
            </a:r>
            <a:br/>
            <a:r>
              <a:t>Which shared capabilities should have joint investment and maintenance ownership?</a:t>
            </a:r>
            <a:br/>
            <a:r>
              <a:t/>
            </a:r>
            <a:br/>
            <a:r>
              <a:t>EVIDENCE</a:t>
            </a:r>
            <a:br/>
            <a:r>
              <a:t>shared_three_lob: 26 products (15.0% of 173); source rows 3, 4, 28, 30, 42, 44, 49, 51, 66, 67, 80, 84, 89, 96, 98, 109, 123, 126, 132, 139, 144, 145, 148, 162, 171, 172.</a:t>
            </a:r>
            <a:br/>
            <a:r>
              <a:t>medicaid_commercial_overlap: 14 products (8.1% of 173); source rows 22, 23, 30, 51, 66, 89, 96, 98, 109, 123, 132, 144, 148, 162.</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Commercial’s vendor footprint includes related workflow tools</a:t>
            </a:r>
            <a:br/>
            <a:r>
              <a:t/>
            </a:r>
            <a:br/>
            <a:r>
              <a:t>Suggested timing: 105 seconds</a:t>
            </a:r>
            <a:br/>
            <a:r>
              <a:t/>
            </a:r>
            <a:br/>
            <a:r>
              <a:t>WHY THIS MATTERS</a:t>
            </a:r>
            <a:br/>
            <a:r>
              <a:t>Part of Commercial’s vendor footprint comes from several assistants embedded in the same delivery workflow. Looking at the common workflow and owner gives a more practical explanation than treating every product as a separate supplier decision.</a:t>
            </a:r>
            <a:br/>
            <a:r>
              <a:t/>
            </a:r>
            <a:br/>
            <a:r>
              <a:t>DISCUSSION</a:t>
            </a:r>
            <a:br/>
            <a:r>
              <a:t>Five of the 14 Commercial Vendor AI products in Pilot/Active are Active Jira helpers with the same business/technical owner pair. Their purposes cover backlog grouping, work-item surfacing, estimation, security classification and release checks. They remain five products; the data does not establish five vendors, a single contract or duplicate products. All five have a vendor-contact finding. Separately, the 10 Commercial in-house later-stage products include five test-like entries that need owner confirmation; the original totals remain intact.</a:t>
            </a:r>
            <a:br/>
            <a:r>
              <a:t/>
            </a:r>
            <a:br/>
            <a:r>
              <a:t>QUESTION TO OPEN THE DISCUSSION</a:t>
            </a:r>
            <a:br/>
            <a:r>
              <a:t>Could one coordinated owner review resolve shared dependencies and contact details across these Jira tools?</a:t>
            </a:r>
            <a:br/>
            <a:r>
              <a:t/>
            </a:r>
            <a:br/>
            <a:r>
              <a:t>EVIDENCE</a:t>
            </a:r>
            <a:br/>
            <a:r>
              <a:t>jira_commercial_active: 5 products (2.9% of 173); source rows 55, 60, 61, 62, 63.</a:t>
            </a:r>
            <a:br/>
            <a:r>
              <a:t>test_named_active_unknown_agentic: 5 products (2.9% of 173); source rows 22, 23, 24, 25, 26.</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In-house Agentic AI includes everyday staff workflows</a:t>
            </a:r>
            <a:br/>
            <a:r>
              <a:t/>
            </a:r>
            <a:br/>
            <a:r>
              <a:t>Suggested timing: 90 seconds</a:t>
            </a:r>
            <a:br/>
            <a:r>
              <a:t/>
            </a:r>
            <a:br/>
            <a:r>
              <a:t>WHY THIS MATTERS</a:t>
            </a:r>
            <a:br/>
            <a:r>
              <a:t>The in-house Agentic footprint includes ordinary staff workflows such as policy guidance, reporting, estimation, scheduling and file checks. This opens a reuse and support discussion alongside the question of what each tool is allowed to do.</a:t>
            </a:r>
            <a:br/>
            <a:r>
              <a:t/>
            </a:r>
            <a:br/>
            <a:r>
              <a:t>DISCUSSION</a:t>
            </a:r>
            <a:br/>
            <a:r>
              <a:t>21 products combine Agentic AI, in-house source, Pilot/Active and reported No member impact. Examples include ITSM policy help, PDF/JSON validation, demand estimation and Power Platform support. This is a subset of the 30 in-house Agentic Pilot/Active products. Reported No member impact does not prove no indirect impact, and an Agentic tag does not tell us whether a product can take actions autonomously. Five of the 30 have test-like registrations; retain them until the owners confirm their status.</a:t>
            </a:r>
            <a:br/>
            <a:r>
              <a:t/>
            </a:r>
            <a:br/>
            <a:r>
              <a:t>QUESTION TO OPEN THE DISCUSSION</a:t>
            </a:r>
            <a:br/>
            <a:r>
              <a:t>Which useful staff tools can be reused, and who will maintain them as recurring work depends on them?</a:t>
            </a:r>
            <a:br/>
            <a:r>
              <a:t/>
            </a:r>
            <a:br/>
            <a:r>
              <a:t>EVIDENCE</a:t>
            </a:r>
            <a:br/>
            <a:r>
              <a:t>agentic_inhouse_later_no_member: 21 products (12.1% of 173); source rows 7, 8, 30, 34, 44, 54, 59, 64, 66, 73, 74, 75, 76, 77, 78, 126, 133, 153, 154, 155, 160.</a:t>
            </a:r>
            <a:br/>
            <a:r>
              <a:t>agentic_inhouse_later: 30 products (17.3% of 173); source rows 7, 8, 22, 23, 24, 25, 26, 30, 34, 43, 44, 54, 59, 64, 66, 73, 74, 75, 76, 77, 78, 94, 96, 122, 126, 133, 153, 154, 155, 160.</a:t>
            </a:r>
            <a:br/>
            <a:r>
              <a:t>test_named_active_unknown_agentic: 5 products (2.9% of 173); source rows 22, 23, 24, 25, 26.</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Risk labels point to different follow-up questions</a:t>
            </a:r>
            <a:br/>
            <a:r>
              <a:t/>
            </a:r>
            <a:br/>
            <a:r>
              <a:t>Suggested timing: 75 seconds</a:t>
            </a:r>
            <a:br/>
            <a:r>
              <a:t/>
            </a:r>
            <a:br/>
            <a:r>
              <a:t>WHY THIS MATTERS</a:t>
            </a:r>
            <a:br/>
            <a:r>
              <a:t>A declared Medium or High tier prompts a discussion about the assessment and controls. An Unknown tier first needs classification and, for some records here, confirmation of the registration itself.</a:t>
            </a:r>
            <a:br/>
            <a:r>
              <a:t/>
            </a:r>
            <a:br/>
            <a:r>
              <a:t>DISCUSSION</a:t>
            </a:r>
            <a:br/>
            <a:r>
              <a:t>The existing cards show 10 Agentic Medium/High Pilot/Active products and 11 Agentic Unknown-risk Pilot/Active products. Five of the Unknown group are the same Active products with test-like names and purposes discussed later. They are signals for owner review, not confirmed test data. Keep the baseline unchanged and avoid interpreting Unknown as High.</a:t>
            </a:r>
            <a:br/>
            <a:r>
              <a:t/>
            </a:r>
            <a:br/>
            <a:r>
              <a:t>QUESTION TO OPEN THE DISCUSSION</a:t>
            </a:r>
            <a:br/>
            <a:r>
              <a:t>Is the missing information the assessment, the product context, or the registration’s operating status?</a:t>
            </a:r>
            <a:br/>
            <a:r>
              <a:t/>
            </a:r>
            <a:br/>
            <a:r>
              <a:t>EVIDENCE</a:t>
            </a:r>
            <a:br/>
            <a:r>
              <a:t>test_named_active_unknown_agentic: 5 products (2.9% of 173); source rows 22, 23, 24, 25, 26.</a:t>
            </a:r>
            <a:br/>
            <a:r>
              <a:t>Existing card cohorts: Agentic + Medium/High + Pilot/Active =10; Agentic + Unknown + Pilot/Active =11.</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Oversight needs to be understood in the workflow</a:t>
            </a:r>
            <a:br/>
            <a:r>
              <a:t/>
            </a:r>
            <a:br/>
            <a:r>
              <a:t>Suggested timing: 90 seconds</a:t>
            </a:r>
            <a:br/>
            <a:r>
              <a:t/>
            </a:r>
            <a:br/>
            <a:r>
              <a:t>WHY THIS MATTERS</a:t>
            </a:r>
            <a:br/>
            <a:r>
              <a:t>This group includes tools that validate files, answer policy questions and recall conversations. The key distinction is where a person makes the downstream decision after the tool produces its output.</a:t>
            </a:r>
            <a:br/>
            <a:r>
              <a:t/>
            </a:r>
            <a:br/>
            <a:r>
              <a:t>DISCUSSION</a:t>
            </a:r>
            <a:br/>
            <a:r>
              <a:t>Nine Agentic Pilot/Active products report No oversight. Eight declare Low risk; eight report No member impact; these are different eight-product subsets. Examples include a Medicare enrollment PDF validator, ITSM policy assistance and email recall. The inventory does not establish whether a user still approves a consequential action, so the No label needs workflow-specific follow-up. Four other Agentic Pilot/Active products report Partial oversight.</a:t>
            </a:r>
            <a:br/>
            <a:r>
              <a:t/>
            </a:r>
            <a:br/>
            <a:r>
              <a:t>QUESTION TO OPEN THE DISCUSSION</a:t>
            </a:r>
            <a:br/>
            <a:r>
              <a:t>Does the tool only inform a user, or can it act on a member, transaction or system without approval?</a:t>
            </a:r>
            <a:br/>
            <a:r>
              <a:t/>
            </a:r>
            <a:br/>
            <a:r>
              <a:t>EVIDENCE</a:t>
            </a:r>
            <a:br/>
            <a:r>
              <a:t>agentic_no_later: 9 products (5.2% of 173); source rows 42, 43, 44, 54, 59, 64, 66, 73, 78.</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Hosting points to different support responsibilities</a:t>
            </a:r>
            <a:br/>
            <a:r>
              <a:t/>
            </a:r>
            <a:br/>
            <a:r>
              <a:t>Suggested timing: 75 seconds</a:t>
            </a:r>
            <a:br/>
            <a:r>
              <a:t/>
            </a:r>
            <a:br/>
            <a:r>
              <a:t>WHY THIS MATTERS</a:t>
            </a:r>
            <a:br/>
            <a:r>
              <a:t>The hosting field helps identify who should support a product and where escalation may depend on another party. It also needs a consistent meaning: an employee laptop may describe the user’s access point rather than the place inference runs.</a:t>
            </a:r>
            <a:br/>
            <a:r>
              <a:t/>
            </a:r>
            <a:br/>
            <a:r>
              <a:t>DISCUSSION</a:t>
            </a:r>
            <a:br/>
            <a:r>
              <a:t>29 products combine Vendor AI, external vendor cloud and Pilot/Active. Eight combine in-house, Employee laptop and Pilot/Active; five are Active, six are Agentic and all eight report No member impact. The laptop products include mapping, clause extraction, reporting and conversation-recall tools. Their descriptions support a maintenance and continuity question; they do not establish local-only data processing, shadow IT or a security finding.</a:t>
            </a:r>
            <a:br/>
            <a:r>
              <a:t/>
            </a:r>
            <a:br/>
            <a:r>
              <a:t>QUESTION TO OPEN THE DISCUSSION</a:t>
            </a:r>
            <a:br/>
            <a:r>
              <a:t>Which tools now support recurring work, and who provides durable maintenance and escalation?</a:t>
            </a:r>
            <a:br/>
            <a:r>
              <a:t/>
            </a:r>
            <a:br/>
            <a:r>
              <a:t>EVIDENCE</a:t>
            </a:r>
            <a:br/>
            <a:r>
              <a:t>Employee laptop + in-house + Pilot/Active source rows:7,8,31,45,64,66,77,153. Vendor cloud + Vendor AI + Pilot/Active =29.</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Unknown risk needs a registration check as well as assessment</a:t>
            </a:r>
            <a:br/>
            <a:r>
              <a:t/>
            </a:r>
            <a:br/>
            <a:r>
              <a:t>Suggested timing: 105 seconds</a:t>
            </a:r>
            <a:br/>
            <a:r>
              <a:t/>
            </a:r>
            <a:br/>
            <a:r>
              <a:t>WHY THIS MATTERS</a:t>
            </a:r>
            <a:br/>
            <a:r>
              <a:t>The Unknown-risk group includes a registration-quality question as well as a risk-assessment question. Five Active products have test-like names and purposes and share the same submission and go-live date.</a:t>
            </a:r>
            <a:br/>
            <a:r>
              <a:t/>
            </a:r>
            <a:br/>
            <a:r>
              <a:t>DISCUSSION</a:t>
            </a:r>
            <a:br/>
            <a:r>
              <a:t>The five source rows 22–26 are in-house, Agentic and Unknown risk; both dates are 19 July 2026. They sit within the 22 Unknown-risk Pilot/Active products and the nine Unknown-risk Active products. Two of the five pass all current validation rules. That shows the limit of a clean form: it does not confirm that the registration describes an operating product. Ask owners to verify them; no records were removed, no classifications were changed, and all percentages still use 173.</a:t>
            </a:r>
            <a:br/>
            <a:r>
              <a:t/>
            </a:r>
            <a:br/>
            <a:r>
              <a:t>QUESTION TO OPEN THE DISCUSSION</a:t>
            </a:r>
            <a:br/>
            <a:r>
              <a:t>Are these operating products, demonstration registrations or entries whose status needs correction?</a:t>
            </a:r>
            <a:br/>
            <a:r>
              <a:t/>
            </a:r>
            <a:br/>
            <a:r>
              <a:t>EVIDENCE</a:t>
            </a:r>
            <a:br/>
            <a:r>
              <a:t>unknown_later: 22 products (12.7% of 173); source rows 4, 15, 17, 18, 22, 23, 24, 25, 26, 29, 51, 75, 78, 82, 84, 95, 106, 116, 127, 145, 150, 162.</a:t>
            </a:r>
            <a:br/>
            <a:r>
              <a:t>unknown_active: 9 products (5.2% of 173); source rows 22, 23, 24, 25, 26, 51, 82, 84, 95.</a:t>
            </a:r>
            <a:br/>
            <a:r>
              <a:t>test_named_active_unknown_agentic: 5 products (2.9% of 173); source rows 22, 23, 24, 25, 26.</a:t>
            </a:r>
            <a:br/>
            <a:r>
              <a:t>test_named_passing: 2 products (1.2% of 173); source rows 24, 25.</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The live oversight questions extend beyond Agentic AI</a:t>
            </a:r>
            <a:br/>
            <a:r>
              <a:t/>
            </a:r>
            <a:br/>
            <a:r>
              <a:t>Suggested timing: 90 seconds</a:t>
            </a:r>
            <a:br/>
            <a:r>
              <a:t/>
            </a:r>
            <a:br/>
            <a:r>
              <a:t>WHY THIS MATTERS</a:t>
            </a:r>
            <a:br/>
            <a:r>
              <a:t>The two Active products in this limited-oversight, member-impact group use ML for prior-authorization review and provider-directory accuracy. The three Agentic products in the same group are in Pilot, so the workflow and affected person provide useful context beyond the technology label.</a:t>
            </a:r>
            <a:br/>
            <a:r>
              <a:t/>
            </a:r>
            <a:br/>
            <a:r>
              <a:t>DISCUSSION</a:t>
            </a:r>
            <a:br/>
            <a:r>
              <a:t>CADA (row 80) is Active, ML and Partial oversight, with a stated purpose of prior-authorization clinical-review automation. H1/Veda (row 98) is Active, ML and No oversight, with a provider-directory cleansing purpose. Neither has an Agentic tag. The three Pilot Agentic products are rows 10,15,43; their purposes include outreach and enrollment validation. The on-slide cards retain the Partial/No split shown in the screenshot; this Active/Pilot and technology split is a further cross-column analysis of the same five products. The data does not establish harm or control effectiveness.</a:t>
            </a:r>
            <a:br/>
            <a:r>
              <a:t/>
            </a:r>
            <a:br/>
            <a:r>
              <a:t>QUESTION TO OPEN THE DISCUSSION</a:t>
            </a:r>
            <a:br/>
            <a:r>
              <a:t>Where could an incorrect output affect a member’s authorization, routing or provider information, and who can intervene?</a:t>
            </a:r>
            <a:br/>
            <a:r>
              <a:t/>
            </a:r>
            <a:br/>
            <a:r>
              <a:t>EVIDENCE</a:t>
            </a:r>
            <a:br/>
            <a:r>
              <a:t>member_limited_later: 5 products (2.9% of 173); source rows 10, 15, 43, 80, 98.</a:t>
            </a:r>
            <a:br/>
            <a:r>
              <a:t>member_limited_active_ml: 2 products (1.2% of 173); source rows 80, 98.</a:t>
            </a:r>
            <a:br/>
            <a:r>
              <a:t>member_limited_pilot_agentic: 3 products (1.7% of 173); source rows 10, 15, 43.</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Later-stage errors call for two kinds of follow-up</a:t>
            </a:r>
            <a:br/>
            <a:r>
              <a:t/>
            </a:r>
            <a:br/>
            <a:r>
              <a:t>Suggested timing: 90 seconds</a:t>
            </a:r>
            <a:br/>
            <a:r>
              <a:t/>
            </a:r>
            <a:br/>
            <a:r>
              <a:t>WHY THIS MATTERS</a:t>
            </a:r>
            <a:br/>
            <a:r>
              <a:t>The later-stage cleanup list contains two kinds of work. Some products need model-count clarification; others also need contact, scope, identity or other disclosures resolved.</a:t>
            </a:r>
            <a:br/>
            <a:r>
              <a:t/>
            </a:r>
            <a:br/>
            <a:r>
              <a:t>DISCUSSION</a:t>
            </a:r>
            <a:br/>
            <a:r>
              <a:t>Across the 74 Pilot/Active products with findings, 46 have only count findings and 28 have at least one non-count finding. Those groups are mutually exclusive and sum to 74. The on-slide cards show the same overall group split by Active (39) and Pilot (35). Count-only does not mean an easy formatting repair: some owners still need another party to confirm the answer. These are inventory-validation outcomes, not evidence that a product is unsafe or noncompliant.</a:t>
            </a:r>
            <a:br/>
            <a:r>
              <a:t/>
            </a:r>
            <a:br/>
            <a:r>
              <a:t>QUESTION TO OPEN THE DISCUSSION</a:t>
            </a:r>
            <a:br/>
            <a:r>
              <a:t>Can the correction work be routed by what is missing and who can supply it?</a:t>
            </a:r>
            <a:br/>
            <a:r>
              <a:t/>
            </a:r>
            <a:br/>
            <a:r>
              <a:t>EVIDENCE</a:t>
            </a:r>
            <a:br/>
            <a:r>
              <a:t>errors_later: 74 products (42.8% of 173); source rows 3, 4, 10, 14, 19, 22, 23, 26, 28, 29, 30, 31, 32, 36, 37, 38, 39, 41, 43, 44, 45, 46, 48, 49, 50, 51, 52, 53, 55, 57, 60, 61, 62, 63, 64, 65, 66, 67, 68, 71, 72, 74, 77, 78, 81, 88, 89, 94, 95, 98, 101, 106, 112, 116, 117, 121, 123, 126, 127, 129, 133, 136, 139, 145, 146, 150, 154, 155, 159, 161, 162, 163, 171, 172.</a:t>
            </a:r>
            <a:br/>
            <a:r>
              <a:t>count_only_later: 46 products (26.6% of 173); source rows 3, 10, 26, 29, 30, 31, 32, 37, 38, 39, 43, 45, 46, 50, 51, 52, 53, 64, 66, 67, 68, 71, 72, 74, 77, 88, 89, 94, 101, 116, 117, 121, 123, 126, 127, 129, 133, 145, 146, 150, 154, 155, 161, 163, 171, 172.</a:t>
            </a:r>
            <a:br/>
            <a:r>
              <a:t>non_count_later: 28 products (16.2% of 173); source rows 4, 14, 19, 22, 23, 28, 36, 41, 44, 48, 49, 55, 57, 60, 61, 62, 63, 65, 78, 81, 95, 98, 106, 112, 136, 139, 159, 162.</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A model-count error can mean two different problems</a:t>
            </a:r>
            <a:br/>
            <a:r>
              <a:t/>
            </a:r>
            <a:br/>
            <a:r>
              <a:t>Suggested timing: 105 seconds</a:t>
            </a:r>
            <a:br/>
            <a:r>
              <a:t/>
            </a:r>
            <a:br/>
            <a:r>
              <a:t>WHY THIS MATTERS</a:t>
            </a:r>
            <a:br/>
            <a:r>
              <a:t>Some owners supplied a count in prose; others still need the vendor to confirm it. Sending the same correction request to both groups would miss the underlying reason the field failed.</a:t>
            </a:r>
            <a:br/>
            <a:r>
              <a:t/>
            </a:r>
            <a:br/>
            <a:r>
              <a:t>DISCUSSION</a:t>
            </a:r>
            <a:br/>
            <a:r>
              <a:t>ServiceNow Estimator Assistant (row 126) describes two models in a response beginning “2.”, and Principles Prince AI (row 161) explicitly writes “LLM = 1”; these fail the current format. Across both model-count fields, six reviewed vendor Pilot/Active examples (rows 10,29,88,98,121,127) explicitly defer counts or indicate limited vendor visibility; rows 88 and121 concern ML/DL counts rather than the LLM-count cohort on this slide. Those six are reviewed examples, not an exhaustive automated classification. Ask owners to confirm model definitions and facts before rewriting a response. No source values or validation rules were changed.</a:t>
            </a:r>
            <a:br/>
            <a:r>
              <a:t/>
            </a:r>
            <a:br/>
            <a:r>
              <a:t>QUESTION TO OPEN THE DISCUSSION</a:t>
            </a:r>
            <a:br/>
            <a:r>
              <a:t>Is the fix a clearer way to enter a known count, or a request for information the product owner does not yet have?</a:t>
            </a:r>
            <a:br/>
            <a:r>
              <a:t/>
            </a:r>
            <a:br/>
            <a:r>
              <a:t>EVIDENCE</a:t>
            </a:r>
            <a:br/>
            <a:r>
              <a:t>llm_errors_later: 49 products (28.3% of 173); source rows 4, 10, 19, 22, 26, 29, 31, 32, 37, 38, 39, 41, 45, 46, 48, 49, 50, 51, 52, 53, 57, 64, 66, 67, 68, 71, 74, 77, 78, 94, 95, 98, 101, 116, 117, 123, 126, 127, 129, 133, 136, 145, 146, 150, 154, 155, 159, 161, 163.</a:t>
            </a:r>
            <a:br/>
            <a:r>
              <a:t>Reviewed explicit-count examples: rows 126,161. Reviewed vendor-dependent examples across both count fields: rows 10,29,88,98,121,127. LLM-count-specific examples: rows 10,29,98,127.</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Shared owners offer a starting point for vendor follow-up</a:t>
            </a:r>
            <a:br/>
            <a:r>
              <a:t/>
            </a:r>
            <a:br/>
            <a:r>
              <a:t>Suggested timing: 90 seconds</a:t>
            </a:r>
            <a:br/>
            <a:r>
              <a:t/>
            </a:r>
            <a:br/>
            <a:r>
              <a:t>WHY THIS MATTERS</a:t>
            </a:r>
            <a:br/>
            <a:r>
              <a:t>A common owner can be a useful starting point for repeated contact gaps. Five Active Jira helpers have the same owner pair and all lack the required vendor contact, so one coordinated discussion could address five product records.</a:t>
            </a:r>
            <a:br/>
            <a:r>
              <a:t/>
            </a:r>
            <a:br/>
            <a:r>
              <a:t>DISCUSSION</a:t>
            </a:r>
            <a:br/>
            <a:r>
              <a:t>The later-stage vendor-contact group contains 13 products, including 10 Active; the five Jira products are rows 55,60,61,62,63. The source comparison also needs care: vendor products face this additional disclosure requirement. In Pilot/Active, 16 vendor and eight in-house products have non-count findings; considering non-count findings other than VENDOR-01 leaves six vendor and eight in-house products. That does not establish worse vendor-product quality. Confirm the appropriate contact for each product even if ownership is shared.</a:t>
            </a:r>
            <a:br/>
            <a:r>
              <a:t/>
            </a:r>
            <a:br/>
            <a:r>
              <a:t>QUESTION TO OPEN THE DISCUSSION</a:t>
            </a:r>
            <a:br/>
            <a:r>
              <a:t>Who can confirm the right escalation contact for this related group of tools?</a:t>
            </a:r>
            <a:br/>
            <a:r>
              <a:t/>
            </a:r>
            <a:br/>
            <a:r>
              <a:t>EVIDENCE</a:t>
            </a:r>
            <a:br/>
            <a:r>
              <a:t>vendor_gap_later: 13 products (7.5% of 173); source rows 14, 36, 41, 48, 49, 55, 57, 60, 61, 62, 63, 81, 136.</a:t>
            </a:r>
            <a:br/>
            <a:r>
              <a:t>jira_commercial_active: 5 products (2.9% of 173); source rows 55, 60, 61, 62, 63.</a:t>
            </a:r>
            <a:br/>
            <a:r>
              <a:t>Vendor AI_non_count: 16 products (9.2% of 173); source rows 14, 19, 36, 41, 48, 49, 55, 57, 60, 61, 62, 63, 81, 98, 112, 136.</a:t>
            </a:r>
            <a:br/>
            <a:r>
              <a:t>Developed in-house_non_count: 8 products (4.6% of 173); source rows 22, 23, 28, 44, 65, 78, 106, 159.</a:t>
            </a:r>
            <a:br/>
            <a:r>
              <a:t>Vendor AI_non_count_excluding_vendor: 6 products (3.5% of 173); source rows 14, 19, 36, 57, 98, 112.</a:t>
            </a:r>
            <a:br/>
            <a:r>
              <a:t>Developed in-house_non_count_excluding_vendor: 8 products (4.6% of 173); source rows 22, 23, 28, 44, 65, 78, 106, 159.</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Count-only findings create a focused cleanup opportunity</a:t>
            </a:r>
            <a:br/>
            <a:r>
              <a:t/>
            </a:r>
            <a:br/>
            <a:r>
              <a:t>Suggested timing: 90 seconds</a:t>
            </a:r>
            <a:br/>
            <a:r>
              <a:t/>
            </a:r>
            <a:br/>
            <a:r>
              <a:t>WHY THIS MATTERS</a:t>
            </a:r>
            <a:br/>
            <a:r>
              <a:t>The count-only group is a focused opportunity because no other finding family currently prevents a validation pass. The next step is to distinguish formatting from unresolved facts and then revalidate the confirmed answers.</a:t>
            </a:r>
            <a:br/>
            <a:r>
              <a:t/>
            </a:r>
            <a:br/>
            <a:r>
              <a:t>DISCUSSION</a:t>
            </a:r>
            <a:br/>
            <a:r>
              <a:t>76 products have only COUNT findings, including 46 in Pilot/Active. Four Active BTS Communications Copilot products (rows 32,37,38,39) all select GenAI, answer N/A for LLM Count and receive only COUNT-02. A common platform-owner clarification may help all four; the inventory does not prove they share a model. The 128 passing-product scenario is conditional on all 76 resolving cleanly with no other findings introduced. It is not a completed revalidation or permission to invent counts.</a:t>
            </a:r>
            <a:br/>
            <a:r>
              <a:t/>
            </a:r>
            <a:br/>
            <a:r>
              <a:t>QUESTION TO OPEN THE DISCUSSION</a:t>
            </a:r>
            <a:br/>
            <a:r>
              <a:t>Which repeated questions can a product or platform owner answer once, with confirmation for each affected product?</a:t>
            </a:r>
            <a:br/>
            <a:r>
              <a:t/>
            </a:r>
            <a:br/>
            <a:r>
              <a:t>EVIDENCE</a:t>
            </a:r>
            <a:br/>
            <a:r>
              <a:t>count_only_all: 76 products (43.9% of 173); source rows 3, 6, 10, 11, 13, 26, 29, 30, 31, 32, 37, 38, 39, 40, 43, 45, 46, 47, 50, 51, 52, 53, 64, 66, 67, 68, 69, 70, 71, 72, 74, 77, 85, 86, 88, 89, 90, 91, 92, 93, 94, 99, 100, 101, 104, 105, 115, 116, 117, 118, 121, 123, 125, 126, 127, 129, 130, 133, 134, 137, 140, 142, 145, 146, 147, 150, 151, 154, 155, 161, 163, 166, 168, 170, 171, 172.</a:t>
            </a:r>
            <a:br/>
            <a:r>
              <a:t>count_only_later: 46 products (26.6% of 173); source rows 3, 10, 26, 29, 30, 31, 32, 37, 38, 39, 43, 45, 46, 50, 51, 52, 53, 64, 66, 67, 68, 71, 72, 74, 77, 88, 89, 94, 101, 116, 117, 121, 123, 126, 127, 129, 133, 145, 146, 150, 154, 155, 161, 163, 171, 172.</a:t>
            </a:r>
            <a:br/>
            <a:r>
              <a:t>bts_communications: 4 products (2.3% of 173); source rows 32, 37, 38, 39.</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Unclassified can hide sensitive-data disclosures</a:t>
            </a:r>
            <a:br/>
            <a:r>
              <a:t/>
            </a:r>
            <a:br/>
            <a:r>
              <a:t>Suggested timing: 105 seconds</a:t>
            </a:r>
            <a:br/>
            <a:r>
              <a:t/>
            </a:r>
            <a:br/>
            <a:r>
              <a:t>WHY THIS MATTERS</a:t>
            </a:r>
            <a:br/>
            <a:r>
              <a:t>Some products disclose PHI or PII but disappear from those chart categories when another selected term is unmapped. The immediate reporting improvement is to preserve known selections while still showing the unmapped wording for review.</a:t>
            </a:r>
            <a:br/>
            <a:r>
              <a:t/>
            </a:r>
            <a:br/>
            <a:r>
              <a:t>DISCUSSION</a:t>
            </a:r>
            <a:br/>
            <a:r>
              <a:t>18 products explicitly select Contains PHI or Contains PII and are charted as Unclassified because the multi-select response also contains an unmapped term; nine are Pilot/Active. Business Confidential Data accompanies 14 of the 18. Exact raw PHI selection appears on 33 products versus 19 charted; PII appears on 36 versus 18 charted. These PHI and PII groups overlap. This is a mapping blind spot in disclosed data, not proof of additional data use or a missing answer. The on-slide 71-product Unclassified data cohort includes the nine later-stage products; environment mapping is a separate issue.</a:t>
            </a:r>
            <a:br/>
            <a:r>
              <a:t/>
            </a:r>
            <a:br/>
            <a:r>
              <a:t>QUESTION TO OPEN THE DISCUSSION</a:t>
            </a:r>
            <a:br/>
            <a:r>
              <a:t>Can the reporting preserve recognized sensitive-data selections without losing the owner’s more detailed description?</a:t>
            </a:r>
            <a:br/>
            <a:r>
              <a:t/>
            </a:r>
            <a:br/>
            <a:r>
              <a:t>EVIDENCE</a:t>
            </a:r>
            <a:br/>
            <a:r>
              <a:t>hidden_sensitive: 18 products (10.4% of 173); source rows 4, 10, 12, 15, 33, 35, 90, 94, 104, 120, 121, 127, 132, 134, 160, 162, 166, 173.</a:t>
            </a:r>
            <a:br/>
            <a:r>
              <a:t>hidden_sensitive_later: 9 products (5.2% of 173); source rows 4, 10, 15, 94, 121, 127, 132, 160, 162.</a:t>
            </a:r>
            <a:br/>
            <a:r>
              <a:t>Exact Contains PHI source selection=33, app chart category=19. Exact Contains PII selection=36, app chart category=18. Business Confidential Data in hidden-sensitive cohort=14.</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Turn the patterns into coordinated owner reviews</a:t>
            </a:r>
            <a:br/>
            <a:r>
              <a:t/>
            </a:r>
            <a:br/>
            <a:r>
              <a:t>Suggested timing: 120 seconds</a:t>
            </a:r>
            <a:br/>
            <a:r>
              <a:t/>
            </a:r>
            <a:br/>
            <a:r>
              <a:t>WHY THIS MATTERS</a:t>
            </a:r>
            <a:br/>
            <a:r>
              <a:t>Organize follow-up around related products and the people who can resolve the question. The aim is fewer repeated requests and a clearer distinction between correcting a form, confirming a product and improving the reporting.</a:t>
            </a:r>
            <a:br/>
            <a:r>
              <a:t/>
            </a:r>
            <a:br/>
            <a:r>
              <a:t>DISCUSSION</a:t>
            </a:r>
            <a:br/>
            <a:r>
              <a:t>Start with shared Jira contacts, recurring model-count questions and verification of the five Active test-like entries. For oversight, use the actual decision and member impact to choose the follow-up. For reporting, retain explicit PHI/PII selections and agree what hosting and business-line labels mean. Shared business-line products create an opportunity for coordinated maintenance and investment. These are proposals for discussion, not assigned owners or approved commitments; the product lists overlap and should be deduplicated before planning workload.</a:t>
            </a:r>
            <a:br/>
            <a:r>
              <a:t/>
            </a:r>
            <a:br/>
            <a:r>
              <a:t>QUESTION TO OPEN THE DISCUSSION</a:t>
            </a:r>
            <a:br/>
            <a:r>
              <a:t>Which owner groups can resolve the most repeated questions, and what evidence will show that each product record is ready?</a:t>
            </a:r>
            <a:br/>
            <a:r>
              <a:t/>
            </a:r>
            <a:br/>
            <a:r>
              <a:t>EVIDENCE</a:t>
            </a:r>
            <a:br/>
            <a:r>
              <a:t>jira_commercial_active: 5 products (2.9% of 173); source rows 55, 60, 61, 62, 63.</a:t>
            </a:r>
            <a:br/>
            <a:r>
              <a:t>bts_communications: 4 products (2.3% of 173); source rows 32, 37, 38, 39.</a:t>
            </a:r>
            <a:br/>
            <a:r>
              <a:t>test_named_active_unknown_agentic: 5 products (2.9% of 173); source rows 22, 23, 24, 25, 26.</a:t>
            </a:r>
            <a:br/>
            <a:r>
              <a:t>hidden_sensitive_later: 9 products (5.2% of 173); source rows 4, 10, 15, 94, 121, 127, 132, 160, 162.</a:t>
            </a:r>
            <a:br/>
            <a:r>
              <a:t>shared_three_lob: 26 products (15.0% of 173); source rows 3, 4, 28, 30, 42, 44, 49, 51, 66, 67, 80, 84, 89, 96, 98, 109, 123, 126, 132, 139, 144, 145, 148, 162, 171, 172.</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Count affected products—not repeated findings</a:t>
            </a:r>
            <a:br/>
            <a:r>
              <a:t/>
            </a:r>
            <a:br/>
            <a:r>
              <a:t>Appendix reference</a:t>
            </a:r>
            <a:br/>
            <a:r>
              <a:t/>
            </a:r>
            <a:br/>
            <a:r>
              <a:t>WHY THIS MATTERS</a:t>
            </a:r>
            <a:br/>
            <a:r>
              <a:t>Each rule counts affected products once, even when it produces more than one finding for a product. A product may appear under several rules, so these rows cannot be added to calculate total affected products.</a:t>
            </a:r>
            <a:br/>
            <a:r>
              <a:t/>
            </a:r>
            <a:br/>
            <a:r>
              <a:t>DISCUSSION</a:t>
            </a:r>
            <a:br/>
            <a:r>
              <a:t>COUNT-01 has 112 finding instances across 79 products. The union across count rules is 100 products; the union across all current rules is 121. All percentages divide affected products by 173. These are results from the saved rules 5.4 review, not a measure of business risk or product effectiveness.</a:t>
            </a:r>
            <a:br/>
            <a:r>
              <a:t/>
            </a:r>
            <a:br/>
            <a:r>
              <a:t>QUESTION TO OPEN THE DISCUSSION</a:t>
            </a:r>
            <a:br/>
            <a:r>
              <a:t>Use this table to answer questions about what the validation checks actually flagged.</a:t>
            </a:r>
            <a:br/>
            <a:r>
              <a:t/>
            </a:r>
            <a:br/>
            <a:r>
              <a:t>EVIDENCE</a:t>
            </a:r>
            <a:br/>
            <a:r>
              <a:t>Saved findings deduplicated on source_row by rule_id. Original screenshot-based card counts are retained.</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Deeper combinations on the same 173-product base</a:t>
            </a:r>
            <a:br/>
            <a:r>
              <a:t/>
            </a:r>
            <a:br/>
            <a:r>
              <a:t>Appendix reference</a:t>
            </a:r>
            <a:br/>
            <a:r>
              <a:t/>
            </a:r>
            <a:br/>
            <a:r>
              <a:t>WHY THIS MATTERS</a:t>
            </a:r>
            <a:br/>
            <a:r>
              <a:t>These combinations make the new explanations reproducible on one common product baseline. The source-specific and raw-answer checks supplement the app’s standard grouped views.</a:t>
            </a:r>
            <a:br/>
            <a:r>
              <a:t/>
            </a:r>
            <a:br/>
            <a:r>
              <a:t>DISCUSSION</a:t>
            </a:r>
            <a:br/>
            <a:r>
              <a:t>Every number is a distinct source-product count divided by 173. Limited oversight means Partially or No. Test-like is an explicit review of the names and purposes on rows 22–26 and is not a confirmed exclusion. The PHI/PII intersection uses exact source selections plus the app’s Unclassified category; it should not be read as a category already visible in the chart. The BTS family uses the shared product-name prefix and the saved COUNT-02 outcome. The groups overlap.</a:t>
            </a:r>
            <a:br/>
            <a:r>
              <a:t/>
            </a:r>
            <a:br/>
            <a:r>
              <a:t>QUESTION TO OPEN THE DISCUSSION</a:t>
            </a:r>
            <a:br/>
            <a:r>
              <a:t>Use the source-row lists below to inspect the actual products behind a combination.</a:t>
            </a:r>
            <a:br/>
            <a:r>
              <a:t/>
            </a:r>
            <a:br/>
            <a:r>
              <a:t>EVIDENCE</a:t>
            </a:r>
            <a:br/>
            <a:r>
              <a:t>shared_three_lob: 26 products (15.0% of 173); source rows 3, 4, 28, 30, 42, 44, 49, 51, 66, 67, 80, 84, 89, 96, 98, 109, 123, 126, 132, 139, 144, 145, 148, 162, 171, 172.</a:t>
            </a:r>
            <a:br/>
            <a:r>
              <a:t>jira_commercial_active: 5 products (2.9% of 173); source rows 55, 60, 61, 62, 63.</a:t>
            </a:r>
            <a:br/>
            <a:r>
              <a:t>agentic_inhouse_later_no_member: 21 products (12.1% of 173); source rows 7, 8, 30, 34, 44, 54, 59, 64, 66, 73, 74, 75, 76, 77, 78, 126, 133, 153, 154, 155, 160.</a:t>
            </a:r>
            <a:br/>
            <a:r>
              <a:t>member_limited_active_ml: 2 products (1.2% of 173); source rows 80, 98.</a:t>
            </a:r>
            <a:br/>
            <a:r>
              <a:t>count_only_later: 46 products (26.6% of 173); source rows 3, 10, 26, 29, 30, 31, 32, 37, 38, 39, 43, 45, 46, 50, 51, 52, 53, 64, 66, 67, 68, 71, 72, 74, 77, 88, 89, 94, 101, 116, 117, 121, 123, 126, 127, 129, 133, 145, 146, 150, 154, 155, 161, 163, 171, 172.</a:t>
            </a:r>
            <a:br/>
            <a:r>
              <a:t>hidden_sensitive_later: 9 products (5.2% of 173); source rows 4, 10, 15, 94, 121, 127, 132, 160, 162.</a:t>
            </a:r>
            <a:br/>
            <a:r>
              <a:t>test_named_active_unknown_agentic: 5 products (2.9% of 173); source rows 22, 23, 24, 25, 26.</a:t>
            </a:r>
            <a:br/>
            <a:r>
              <a:t>bts_communications: 4 products (2.3% of 173); source rows 32, 37, 38, 39.</a:t>
            </a:r>
            <a:br/>
            <a:r>
              <a:t>llm_errors_later: 49 products (28.3% of 173); source rows 4, 10, 19, 22, 26, 29, 31, 32, 37, 38, 39, 41, 45, 46, 48, 49, 50, 51, 52, 53, 57, 64, 66, 67, 68, 71, 74, 77, 78, 94, 95, 98, 101, 116, 117, 123, 126, 127, 129, 133, 136, 145, 146, 150, 154, 155, 159, 161, 163.</a:t>
            </a:r>
            <a:br/>
            <a:r>
              <a:t>vendor_gap_later: 13 products (7.5% of 173); source rows 14, 36, 41, 48, 49, 55, 57, 60, 61, 62, 63, 81, 136.</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Business-line source counts as shares of all products</a:t>
            </a:r>
            <a:br/>
            <a:r>
              <a:t/>
            </a:r>
            <a:br/>
            <a:r>
              <a:t>Appendix reference</a:t>
            </a:r>
            <a:br/>
            <a:r>
              <a:t/>
            </a:r>
            <a:br/>
            <a:r>
              <a:t>WHY THIS MATTERS</a:t>
            </a:r>
            <a:br/>
            <a:r>
              <a:t>The business-line rows partly describe the same products. They are useful views of shared capability, but do not form separate product portfolios that can be added together.</a:t>
            </a:r>
            <a:br/>
            <a:r>
              <a:t/>
            </a:r>
            <a:br/>
            <a:r>
              <a:t>DISCUSSION</a:t>
            </a:r>
            <a:br/>
            <a:r>
              <a:t>26 Pilot/Active products support Medicaid, Medicare and Marketplace together. Medicaid and Commercial later-stage slices overlap on 14 products. Commercial’s vendor view also includes the five same-owner Jira helpers. These explanations make the source differences more useful for ownership discussions without claiming that sourcing preference or performance caused them. All displayed percentages remain shares of 173 products.</a:t>
            </a:r>
            <a:br/>
            <a:r>
              <a:t/>
            </a:r>
            <a:br/>
            <a:r>
              <a:t>QUESTION TO OPEN THE DISCUSSION</a:t>
            </a:r>
            <a:br/>
            <a:r>
              <a:t>Which decisions should be coordinated across the business lines that use the same product?</a:t>
            </a:r>
            <a:br/>
            <a:r>
              <a:t/>
            </a:r>
            <a:br/>
            <a:r>
              <a:t>EVIDENCE</a:t>
            </a:r>
            <a:br/>
            <a:r>
              <a:t>shared_three_lob: 26 products (15.0% of 173); source rows 3, 4, 28, 30, 42, 44, 49, 51, 66, 67, 80, 84, 89, 96, 98, 109, 123, 126, 132, 139, 144, 145, 148, 162, 171, 172.</a:t>
            </a:r>
            <a:br/>
            <a:r>
              <a:t>medicaid_commercial_overlap: 14 products (8.1% of 173); source rows 22, 23, 30, 51, 66, 89, 96, 98, 109, 123, 132, 144, 148, 162.</a:t>
            </a:r>
            <a:br/>
            <a:r>
              <a:t>jira_commercial_active: 5 products (2.9% of 173); source rows 55, 60, 61, 62, 63.</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A clean form still needs a credible product record</a:t>
            </a:r>
            <a:br/>
            <a:r>
              <a:t/>
            </a:r>
            <a:br/>
            <a:r>
              <a:t>Appendix reference</a:t>
            </a:r>
            <a:br/>
            <a:r>
              <a:t/>
            </a:r>
            <a:br/>
            <a:r>
              <a:t>WHY THIS MATTERS</a:t>
            </a:r>
            <a:br/>
            <a:r>
              <a:t>Identity checks and clean field values cannot establish that a record describes a distinct operating product. Review the business meaning before merging records or presenting a registration as operational exposure.</a:t>
            </a:r>
            <a:br/>
            <a:r>
              <a:t/>
            </a:r>
            <a:br/>
            <a:r>
              <a:t>DISCUSSION</a:t>
            </a:r>
            <a:br/>
            <a:r>
              <a:t>The screenshot shows five repeated Not Applicable ID flags; two other products share an identifier after case normalization. Keep all 173 products while owners reconcile the identifiers. A separate semantic check found five Active test-like registrations, two of which pass the current checks. Row24 even has the test-like phrase “19-Jul-Henry-Test-4” in the count fields, accepted by the leading-number parser. This warrants rule and registration review; no identifiers, source data or saved outcomes were changed.</a:t>
            </a:r>
            <a:br/>
            <a:r>
              <a:t/>
            </a:r>
            <a:br/>
            <a:r>
              <a:t>QUESTION TO OPEN THE DISCUSSION</a:t>
            </a:r>
            <a:br/>
            <a:r>
              <a:t>Is this a legitimate product record, a placeholder or a registration needing correction?</a:t>
            </a:r>
            <a:br/>
            <a:r>
              <a:t/>
            </a:r>
            <a:br/>
            <a:r>
              <a:t>EVIDENCE</a:t>
            </a:r>
            <a:br/>
            <a:r>
              <a:t>test_named_active_unknown_agentic: 5 products (2.9% of 173); source rows 22, 23, 24, 25, 26.</a:t>
            </a:r>
            <a:br/>
            <a:r>
              <a:t>test_named_passing: 2 products (1.2% of 173); source rows 24, 25.</a:t>
            </a:r>
            <a:br/>
            <a:r>
              <a:t>Not Applicable ID-02 source rows 44,57,106,112,119. Other repeated identifier rows 78,159.</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wrap="square"/>
          <a:lstStyle/>
          <a:p>
            <a:r>
              <a:t>Reproduce the product intersections in the app</a:t>
            </a:r>
            <a:br/>
            <a:r>
              <a:t/>
            </a:r>
            <a:br/>
            <a:r>
              <a:t>Appendix reference</a:t>
            </a:r>
            <a:br/>
            <a:r>
              <a:t/>
            </a:r>
            <a:br/>
            <a:r>
              <a:t>WHY THIS MATTERS</a:t>
            </a:r>
            <a:br/>
            <a:r>
              <a:t>Use the app for the grouped comparisons and individual product details for the source-response checks. The product lists embedded in these notes make the deeper combinations traceable without additional report files.</a:t>
            </a:r>
            <a:br/>
            <a:r>
              <a:t/>
            </a:r>
            <a:br/>
            <a:r>
              <a:t>DISCUSSION</a:t>
            </a:r>
            <a:br/>
            <a:r>
              <a:t>Input: AI Inventory data.csv in the repo root, exported from the second tab of Krisp_data.xlsx. Saved review: 28b09c1d-4ee4-4a51-a408-0caf7fb82915, rules 5.4, validated 28 October 2026. Set Percentage basis to All products in the file. The existing screenshots remain genuine app captures. For shared business lines, intersect the selected business-line memberships; for Jira helpers, also inspect Data Environment and the owner pair. For PHI/PII mapping, inspect the original multi-select answer. Source-row references count logical product records with the header as row 1, not physical lines in the multiline CSV.</a:t>
            </a:r>
            <a:br/>
            <a:r>
              <a:t/>
            </a:r>
            <a:br/>
            <a:r>
              <a:t>QUESTION TO OPEN THE DISCUSSION</a:t>
            </a:r>
            <a:br/>
            <a:r>
              <a:t>Keep the 173-product population fixed until the business confirms any change.</a:t>
            </a:r>
            <a:br/>
            <a:r>
              <a:t/>
            </a:r>
            <a:br/>
            <a:r>
              <a:t>EVIDENCE</a:t>
            </a:r>
            <a:br/>
            <a:r>
              <a:t/>
            </a:r>
            <a:br/>
            <a:r>
              <a:t>Source: AI Inventory data.csv,173 products; saved review 28b09c1d-4ee4-4a51-a408-0caf7fb82915; rules 5.4; validated 28 October 2026. One source row per product; all percentages /173. Source rows use logical records including the header.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8000" y="609600"/>
            <a:ext cx="2195153" cy="436017"/>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rPr lang="en-US" dirty="0"/>
              <a:t>Eagle’s view</a:t>
            </a:r>
            <a:endParaRPr dirty="0"/>
          </a:p>
        </p:txBody>
      </p:sp>
      <p:sp>
        <p:nvSpPr>
          <p:cNvPr id="5" name="Rounded Rectangle 4"/>
          <p:cNvSpPr/>
          <p:nvPr/>
        </p:nvSpPr>
        <p:spPr>
          <a:xfrm>
            <a:off x="508000" y="1739900"/>
            <a:ext cx="5461000" cy="1905000"/>
          </a:xfrm>
          <a:prstGeom prst="roundRect">
            <a:avLst>
              <a:gd name="adj" fmla="val 5333"/>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6600" y="1943100"/>
            <a:ext cx="5003800" cy="457200"/>
          </a:xfrm>
          <a:prstGeom prst="rect">
            <a:avLst/>
          </a:prstGeom>
          <a:noFill/>
        </p:spPr>
        <p:txBody>
          <a:bodyPr wrap="none" lIns="0" tIns="0" rIns="0" bIns="0" anchor="t">
            <a:spAutoFit/>
          </a:bodyPr>
          <a:lstStyle/>
          <a:p>
            <a:pPr algn="l">
              <a:lnSpc>
                <a:spcPts val="1534"/>
              </a:lnSpc>
              <a:spcBef>
                <a:spcPts val="0"/>
              </a:spcBef>
              <a:spcAft>
                <a:spcPts val="0"/>
              </a:spcAft>
              <a:defRPr sz="1300" b="1">
                <a:solidFill>
                  <a:srgbClr val="69DDD0"/>
                </a:solidFill>
                <a:latin typeface="Arial"/>
              </a:defRPr>
            </a:pPr>
            <a:r>
              <a:t>Agentic × In-house × Pilot/Active</a:t>
            </a:r>
          </a:p>
        </p:txBody>
      </p:sp>
      <p:sp>
        <p:nvSpPr>
          <p:cNvPr id="7" name="TextBox 6"/>
          <p:cNvSpPr txBox="1"/>
          <p:nvPr/>
        </p:nvSpPr>
        <p:spPr>
          <a:xfrm>
            <a:off x="736600" y="2451100"/>
            <a:ext cx="5003800" cy="571500"/>
          </a:xfrm>
          <a:prstGeom prst="rect">
            <a:avLst/>
          </a:prstGeom>
          <a:noFill/>
        </p:spPr>
        <p:txBody>
          <a:bodyPr wrap="none" lIns="0" tIns="0" rIns="0" bIns="0" anchor="t">
            <a:spAutoFit/>
          </a:bodyPr>
          <a:lstStyle/>
          <a:p>
            <a:pPr algn="l">
              <a:lnSpc>
                <a:spcPts val="3658"/>
              </a:lnSpc>
              <a:spcBef>
                <a:spcPts val="0"/>
              </a:spcBef>
              <a:spcAft>
                <a:spcPts val="0"/>
              </a:spcAft>
              <a:defRPr sz="3100" b="1">
                <a:solidFill>
                  <a:srgbClr val="F4F7FB"/>
                </a:solidFill>
                <a:latin typeface="Arial"/>
              </a:defRPr>
            </a:pPr>
            <a:r>
              <a:t>30 products</a:t>
            </a:r>
          </a:p>
        </p:txBody>
      </p:sp>
      <p:sp>
        <p:nvSpPr>
          <p:cNvPr id="8" name="TextBox 7"/>
          <p:cNvSpPr txBox="1"/>
          <p:nvPr/>
        </p:nvSpPr>
        <p:spPr>
          <a:xfrm>
            <a:off x="736600" y="3162300"/>
            <a:ext cx="5003800" cy="31750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ACBED1"/>
                </a:solidFill>
                <a:latin typeface="Arial"/>
              </a:defRPr>
            </a:pPr>
            <a:r>
              <a:t>17.3% of all 173 products</a:t>
            </a:r>
          </a:p>
        </p:txBody>
      </p:sp>
      <p:sp>
        <p:nvSpPr>
          <p:cNvPr id="9" name="Rounded Rectangle 8"/>
          <p:cNvSpPr/>
          <p:nvPr/>
        </p:nvSpPr>
        <p:spPr>
          <a:xfrm>
            <a:off x="6223000" y="1739900"/>
            <a:ext cx="5461000" cy="1905000"/>
          </a:xfrm>
          <a:prstGeom prst="roundRect">
            <a:avLst>
              <a:gd name="adj" fmla="val 5333"/>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1600" y="1943100"/>
            <a:ext cx="5003800" cy="457200"/>
          </a:xfrm>
          <a:prstGeom prst="rect">
            <a:avLst/>
          </a:prstGeom>
          <a:noFill/>
        </p:spPr>
        <p:txBody>
          <a:bodyPr wrap="none" lIns="0" tIns="0" rIns="0" bIns="0" anchor="t">
            <a:spAutoFit/>
          </a:bodyPr>
          <a:lstStyle/>
          <a:p>
            <a:pPr algn="l">
              <a:lnSpc>
                <a:spcPts val="1534"/>
              </a:lnSpc>
              <a:spcBef>
                <a:spcPts val="0"/>
              </a:spcBef>
              <a:spcAft>
                <a:spcPts val="0"/>
              </a:spcAft>
              <a:defRPr sz="1300" b="1">
                <a:solidFill>
                  <a:srgbClr val="69DDD0"/>
                </a:solidFill>
                <a:latin typeface="Arial"/>
              </a:defRPr>
            </a:pPr>
            <a:r>
              <a:t>Vendor AI × Vendor cloud × Pilot/Active</a:t>
            </a:r>
          </a:p>
        </p:txBody>
      </p:sp>
      <p:sp>
        <p:nvSpPr>
          <p:cNvPr id="11" name="TextBox 10"/>
          <p:cNvSpPr txBox="1"/>
          <p:nvPr/>
        </p:nvSpPr>
        <p:spPr>
          <a:xfrm>
            <a:off x="6451600" y="2451100"/>
            <a:ext cx="5003800" cy="571500"/>
          </a:xfrm>
          <a:prstGeom prst="rect">
            <a:avLst/>
          </a:prstGeom>
          <a:noFill/>
        </p:spPr>
        <p:txBody>
          <a:bodyPr wrap="none" lIns="0" tIns="0" rIns="0" bIns="0" anchor="t">
            <a:spAutoFit/>
          </a:bodyPr>
          <a:lstStyle/>
          <a:p>
            <a:pPr algn="l">
              <a:lnSpc>
                <a:spcPts val="3658"/>
              </a:lnSpc>
              <a:spcBef>
                <a:spcPts val="0"/>
              </a:spcBef>
              <a:spcAft>
                <a:spcPts val="0"/>
              </a:spcAft>
              <a:defRPr sz="3100" b="1">
                <a:solidFill>
                  <a:srgbClr val="F4F7FB"/>
                </a:solidFill>
                <a:latin typeface="Arial"/>
              </a:defRPr>
            </a:pPr>
            <a:r>
              <a:t>29 products</a:t>
            </a:r>
          </a:p>
        </p:txBody>
      </p:sp>
      <p:sp>
        <p:nvSpPr>
          <p:cNvPr id="12" name="TextBox 11"/>
          <p:cNvSpPr txBox="1"/>
          <p:nvPr/>
        </p:nvSpPr>
        <p:spPr>
          <a:xfrm>
            <a:off x="6451600" y="3162300"/>
            <a:ext cx="5003800" cy="31750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ACBED1"/>
                </a:solidFill>
                <a:latin typeface="Arial"/>
              </a:defRPr>
            </a:pPr>
            <a:r>
              <a:t>16.8% of all 173 products</a:t>
            </a:r>
          </a:p>
        </p:txBody>
      </p:sp>
      <p:sp>
        <p:nvSpPr>
          <p:cNvPr id="13" name="Rounded Rectangle 12"/>
          <p:cNvSpPr/>
          <p:nvPr/>
        </p:nvSpPr>
        <p:spPr>
          <a:xfrm>
            <a:off x="508000" y="3911600"/>
            <a:ext cx="5461000" cy="1905000"/>
          </a:xfrm>
          <a:prstGeom prst="roundRect">
            <a:avLst>
              <a:gd name="adj" fmla="val 5333"/>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6600" y="4114800"/>
            <a:ext cx="5003800" cy="457200"/>
          </a:xfrm>
          <a:prstGeom prst="rect">
            <a:avLst/>
          </a:prstGeom>
          <a:noFill/>
        </p:spPr>
        <p:txBody>
          <a:bodyPr wrap="none" lIns="0" tIns="0" rIns="0" bIns="0" anchor="t">
            <a:spAutoFit/>
          </a:bodyPr>
          <a:lstStyle/>
          <a:p>
            <a:pPr algn="l">
              <a:lnSpc>
                <a:spcPts val="1534"/>
              </a:lnSpc>
              <a:spcBef>
                <a:spcPts val="0"/>
              </a:spcBef>
              <a:spcAft>
                <a:spcPts val="0"/>
              </a:spcAft>
              <a:defRPr sz="1300" b="1">
                <a:solidFill>
                  <a:srgbClr val="69DDD0"/>
                </a:solidFill>
                <a:latin typeface="Arial"/>
              </a:defRPr>
            </a:pPr>
            <a:r>
              <a:t>Unknown risk × Pilot/Active</a:t>
            </a:r>
          </a:p>
        </p:txBody>
      </p:sp>
      <p:sp>
        <p:nvSpPr>
          <p:cNvPr id="15" name="TextBox 14"/>
          <p:cNvSpPr txBox="1"/>
          <p:nvPr/>
        </p:nvSpPr>
        <p:spPr>
          <a:xfrm>
            <a:off x="736600" y="4622800"/>
            <a:ext cx="5003800" cy="571500"/>
          </a:xfrm>
          <a:prstGeom prst="rect">
            <a:avLst/>
          </a:prstGeom>
          <a:noFill/>
        </p:spPr>
        <p:txBody>
          <a:bodyPr wrap="none" lIns="0" tIns="0" rIns="0" bIns="0" anchor="t">
            <a:spAutoFit/>
          </a:bodyPr>
          <a:lstStyle/>
          <a:p>
            <a:pPr algn="l">
              <a:lnSpc>
                <a:spcPts val="3658"/>
              </a:lnSpc>
              <a:spcBef>
                <a:spcPts val="0"/>
              </a:spcBef>
              <a:spcAft>
                <a:spcPts val="0"/>
              </a:spcAft>
              <a:defRPr sz="3100" b="1">
                <a:solidFill>
                  <a:srgbClr val="F4F7FB"/>
                </a:solidFill>
                <a:latin typeface="Arial"/>
              </a:defRPr>
            </a:pPr>
            <a:r>
              <a:t>22 products</a:t>
            </a:r>
          </a:p>
        </p:txBody>
      </p:sp>
      <p:sp>
        <p:nvSpPr>
          <p:cNvPr id="16" name="TextBox 15"/>
          <p:cNvSpPr txBox="1"/>
          <p:nvPr/>
        </p:nvSpPr>
        <p:spPr>
          <a:xfrm>
            <a:off x="736600" y="5334000"/>
            <a:ext cx="5003800" cy="31750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ACBED1"/>
                </a:solidFill>
                <a:latin typeface="Arial"/>
              </a:defRPr>
            </a:pPr>
            <a:r>
              <a:t>12.7% of all 173 products</a:t>
            </a:r>
          </a:p>
        </p:txBody>
      </p:sp>
      <p:sp>
        <p:nvSpPr>
          <p:cNvPr id="17" name="Rounded Rectangle 16"/>
          <p:cNvSpPr/>
          <p:nvPr/>
        </p:nvSpPr>
        <p:spPr>
          <a:xfrm>
            <a:off x="6223000" y="3911600"/>
            <a:ext cx="5461000" cy="1905000"/>
          </a:xfrm>
          <a:prstGeom prst="roundRect">
            <a:avLst>
              <a:gd name="adj" fmla="val 5333"/>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1600" y="4114800"/>
            <a:ext cx="5003800" cy="457200"/>
          </a:xfrm>
          <a:prstGeom prst="rect">
            <a:avLst/>
          </a:prstGeom>
          <a:noFill/>
        </p:spPr>
        <p:txBody>
          <a:bodyPr wrap="none" lIns="0" tIns="0" rIns="0" bIns="0" anchor="t">
            <a:spAutoFit/>
          </a:bodyPr>
          <a:lstStyle/>
          <a:p>
            <a:pPr algn="l">
              <a:lnSpc>
                <a:spcPts val="1534"/>
              </a:lnSpc>
              <a:spcBef>
                <a:spcPts val="0"/>
              </a:spcBef>
              <a:spcAft>
                <a:spcPts val="0"/>
              </a:spcAft>
              <a:defRPr sz="1300" b="1">
                <a:solidFill>
                  <a:srgbClr val="69DDD0"/>
                </a:solidFill>
                <a:latin typeface="Arial"/>
              </a:defRPr>
            </a:pPr>
            <a:r>
              <a:t>Model-count error × Pilot/Active</a:t>
            </a:r>
          </a:p>
        </p:txBody>
      </p:sp>
      <p:sp>
        <p:nvSpPr>
          <p:cNvPr id="19" name="TextBox 18"/>
          <p:cNvSpPr txBox="1"/>
          <p:nvPr/>
        </p:nvSpPr>
        <p:spPr>
          <a:xfrm>
            <a:off x="6451600" y="4622800"/>
            <a:ext cx="5003800" cy="571500"/>
          </a:xfrm>
          <a:prstGeom prst="rect">
            <a:avLst/>
          </a:prstGeom>
          <a:noFill/>
        </p:spPr>
        <p:txBody>
          <a:bodyPr wrap="none" lIns="0" tIns="0" rIns="0" bIns="0" anchor="t">
            <a:spAutoFit/>
          </a:bodyPr>
          <a:lstStyle/>
          <a:p>
            <a:pPr algn="l">
              <a:lnSpc>
                <a:spcPts val="3658"/>
              </a:lnSpc>
              <a:spcBef>
                <a:spcPts val="0"/>
              </a:spcBef>
              <a:spcAft>
                <a:spcPts val="0"/>
              </a:spcAft>
              <a:defRPr sz="3100" b="1">
                <a:solidFill>
                  <a:srgbClr val="F4F7FB"/>
                </a:solidFill>
                <a:latin typeface="Arial"/>
              </a:defRPr>
            </a:pPr>
            <a:r>
              <a:t>58 products</a:t>
            </a:r>
          </a:p>
        </p:txBody>
      </p:sp>
      <p:sp>
        <p:nvSpPr>
          <p:cNvPr id="20" name="TextBox 19"/>
          <p:cNvSpPr txBox="1"/>
          <p:nvPr/>
        </p:nvSpPr>
        <p:spPr>
          <a:xfrm>
            <a:off x="6451600" y="5334000"/>
            <a:ext cx="5003800" cy="31750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ACBED1"/>
                </a:solidFill>
                <a:latin typeface="Arial"/>
              </a:defRPr>
            </a:pPr>
            <a:r>
              <a:t>33.5% of all 173 products</a:t>
            </a:r>
          </a:p>
        </p:txBody>
      </p:sp>
      <p:sp>
        <p:nvSpPr>
          <p:cNvPr id="25" name="TextBox 24"/>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Build and buy both need ongoing ownership</a:t>
            </a:r>
          </a:p>
        </p:txBody>
      </p:sp>
      <p:pic>
        <p:nvPicPr>
          <p:cNvPr id="6" name="Picture 5" descr="build-buy.png"/>
          <p:cNvPicPr>
            <a:picLocks noChangeAspect="1"/>
          </p:cNvPicPr>
          <p:nvPr/>
        </p:nvPicPr>
        <p:blipFill>
          <a:blip r:embed="rId3"/>
          <a:stretch>
            <a:fillRect/>
          </a:stretch>
        </p:blipFill>
        <p:spPr>
          <a:xfrm>
            <a:off x="609600" y="1748083"/>
            <a:ext cx="7672688" cy="3361834"/>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48 · 27.7%</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In-house + 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Match support to each sourcing path.</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48 · 27.7%</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Vendor AI + 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Read counts alongside cost, value and dependencies.</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BUSINESS LINE × 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Business lines share products as well as sourcing choices</a:t>
            </a:r>
          </a:p>
        </p:txBody>
      </p:sp>
      <p:pic>
        <p:nvPicPr>
          <p:cNvPr id="6" name="Picture 5" descr="medicaid-source-stage.png"/>
          <p:cNvPicPr>
            <a:picLocks noChangeAspect="1"/>
          </p:cNvPicPr>
          <p:nvPr/>
        </p:nvPicPr>
        <p:blipFill>
          <a:blip r:embed="rId3"/>
          <a:stretch>
            <a:fillRect/>
          </a:stretch>
        </p:blipFill>
        <p:spPr>
          <a:xfrm>
            <a:off x="546100" y="1841395"/>
            <a:ext cx="7569200" cy="3226010"/>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21 · 12.1%</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Medicaid / in-house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Some products also serve Medicare and Marketplace.</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13 · 7.5%</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Medicaid / vendor / 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Shared tools create opportunities for coordinated investment.</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BUSINESS LINE × 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Commercial’s vendor footprint includes related workflow tools</a:t>
            </a:r>
          </a:p>
        </p:txBody>
      </p:sp>
      <p:sp>
        <p:nvSpPr>
          <p:cNvPr id="5" name="Rounded Rectangle 4"/>
          <p:cNvSpPr/>
          <p:nvPr/>
        </p:nvSpPr>
        <p:spPr>
          <a:xfrm>
            <a:off x="469900" y="2146194"/>
            <a:ext cx="7645400" cy="3302210"/>
          </a:xfrm>
          <a:prstGeom prst="roundRect">
            <a:avLst>
              <a:gd name="adj" fmla="val 1153"/>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ommercial-source-stage.png"/>
          <p:cNvPicPr>
            <a:picLocks noChangeAspect="1"/>
          </p:cNvPicPr>
          <p:nvPr/>
        </p:nvPicPr>
        <p:blipFill>
          <a:blip r:embed="rId3"/>
          <a:stretch>
            <a:fillRect/>
          </a:stretch>
        </p:blipFill>
        <p:spPr>
          <a:xfrm>
            <a:off x="546100" y="1638300"/>
            <a:ext cx="7569200" cy="3226010"/>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14 · 8.1%</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Commercial / vendor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Five are Active Jira helpers with shared owners.</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10 · 5.8%</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Commercial / in-house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Verify test-like entries before interpreting this total.</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TECHNOLOGY × 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In-house Agentic AI includes everyday staff workflows</a:t>
            </a:r>
          </a:p>
        </p:txBody>
      </p:sp>
      <p:pic>
        <p:nvPicPr>
          <p:cNvPr id="6" name="Picture 5" descr="agentic-source-stage.png"/>
          <p:cNvPicPr>
            <a:picLocks noChangeAspect="1"/>
          </p:cNvPicPr>
          <p:nvPr/>
        </p:nvPicPr>
        <p:blipFill>
          <a:blip r:embed="rId3"/>
          <a:stretch>
            <a:fillRect/>
          </a:stretch>
        </p:blipFill>
        <p:spPr>
          <a:xfrm>
            <a:off x="508000" y="1720535"/>
            <a:ext cx="7569200" cy="3226010"/>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30 · 17.3%</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in-house / 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21 report no member impact; examples include staff support.</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14 · 8.1%</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vendor / 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Review actual actions and opportunities for reuse.</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TECHNOLOGY × RISK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Risk labels point to different follow-up questions</a:t>
            </a:r>
          </a:p>
        </p:txBody>
      </p:sp>
      <p:sp>
        <p:nvSpPr>
          <p:cNvPr id="5" name="Rounded Rectangle 4"/>
          <p:cNvSpPr/>
          <p:nvPr/>
        </p:nvSpPr>
        <p:spPr>
          <a:xfrm>
            <a:off x="469900" y="2077155"/>
            <a:ext cx="7645400" cy="3440288"/>
          </a:xfrm>
          <a:prstGeom prst="roundRect">
            <a:avLst>
              <a:gd name="adj" fmla="val 1107"/>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gentic-risk-stage.png"/>
          <p:cNvPicPr>
            <a:picLocks noChangeAspect="1"/>
          </p:cNvPicPr>
          <p:nvPr/>
        </p:nvPicPr>
        <p:blipFill>
          <a:blip r:embed="rId3"/>
          <a:stretch>
            <a:fillRect/>
          </a:stretch>
        </p:blipFill>
        <p:spPr>
          <a:xfrm>
            <a:off x="527050" y="1803400"/>
            <a:ext cx="7569200" cy="3364088"/>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10 · 5.8%</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Medium–High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Confirm how the declared risk was assessed.</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11 · 6.4%</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Unknown risk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Five Active entries have test-like names and purposes.</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TECHNOLOGY × OVERSIGHT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rPr dirty="0"/>
              <a:t>Oversight needs to be understood in the workflow</a:t>
            </a:r>
          </a:p>
        </p:txBody>
      </p:sp>
      <p:sp>
        <p:nvSpPr>
          <p:cNvPr id="5" name="Rounded Rectangle 4"/>
          <p:cNvSpPr/>
          <p:nvPr/>
        </p:nvSpPr>
        <p:spPr>
          <a:xfrm>
            <a:off x="469900" y="1913972"/>
            <a:ext cx="7645400" cy="3766655"/>
          </a:xfrm>
          <a:prstGeom prst="roundRect">
            <a:avLst>
              <a:gd name="adj" fmla="val 1011"/>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gentic-oversight-stage.png"/>
          <p:cNvPicPr>
            <a:picLocks noChangeAspect="1"/>
          </p:cNvPicPr>
          <p:nvPr/>
        </p:nvPicPr>
        <p:blipFill>
          <a:blip r:embed="rId3"/>
          <a:stretch>
            <a:fillRect/>
          </a:stretch>
        </p:blipFill>
        <p:spPr>
          <a:xfrm>
            <a:off x="508000" y="1776186"/>
            <a:ext cx="7569200" cy="3690455"/>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9 · 5.2%</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No oversight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Includes file checks, policy help and email recall.</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4 · 2.3%</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Agentic / Partial oversight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Clarify where people review outputs or approve actions.</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HOSTING × 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Hosting points to different support responsibilities</a:t>
            </a:r>
          </a:p>
        </p:txBody>
      </p:sp>
      <p:sp>
        <p:nvSpPr>
          <p:cNvPr id="5" name="Rounded Rectangle 4"/>
          <p:cNvSpPr/>
          <p:nvPr/>
        </p:nvSpPr>
        <p:spPr>
          <a:xfrm>
            <a:off x="469900" y="2146194"/>
            <a:ext cx="7645400" cy="3302210"/>
          </a:xfrm>
          <a:prstGeom prst="roundRect">
            <a:avLst>
              <a:gd name="adj" fmla="val 1153"/>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hosting-source-stage.png"/>
          <p:cNvPicPr>
            <a:picLocks noChangeAspect="1"/>
          </p:cNvPicPr>
          <p:nvPr/>
        </p:nvPicPr>
        <p:blipFill>
          <a:blip r:embed="rId3"/>
          <a:stretch>
            <a:fillRect/>
          </a:stretch>
        </p:blipFill>
        <p:spPr>
          <a:xfrm>
            <a:off x="508000" y="2184294"/>
            <a:ext cx="7569200" cy="3226010"/>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29 · 16.8%</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Vendor cloud / Vendor AI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Clarify external support and escalation ownership.</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8 · 4.6%</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Laptop / in-house / 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Check whether “laptop” means access or actual hosting.</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RISK × SOURCE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Unknown risk needs a registration check as well as assessment</a:t>
            </a:r>
          </a:p>
        </p:txBody>
      </p:sp>
      <p:sp>
        <p:nvSpPr>
          <p:cNvPr id="5" name="Rounded Rectangle 4"/>
          <p:cNvSpPr/>
          <p:nvPr/>
        </p:nvSpPr>
        <p:spPr>
          <a:xfrm>
            <a:off x="469900" y="2146194"/>
            <a:ext cx="7645400" cy="3302210"/>
          </a:xfrm>
          <a:prstGeom prst="roundRect">
            <a:avLst>
              <a:gd name="adj" fmla="val 1153"/>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risk-source-stage.png"/>
          <p:cNvPicPr>
            <a:picLocks noChangeAspect="1"/>
          </p:cNvPicPr>
          <p:nvPr/>
        </p:nvPicPr>
        <p:blipFill>
          <a:blip r:embed="rId3"/>
          <a:stretch>
            <a:fillRect/>
          </a:stretch>
        </p:blipFill>
        <p:spPr>
          <a:xfrm>
            <a:off x="508000" y="2184294"/>
            <a:ext cx="7569200" cy="3226010"/>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10 · 5.8%</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Unknown risk / in-house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Five Active entries have test-like names and purposes.</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8 · 4.6%</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Unknown risk / vendor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Confirm the classification with the product owner.</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MEMBER IMPACT × OVERSIGHT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The live oversight questions extend beyond Agentic AI</a:t>
            </a:r>
          </a:p>
        </p:txBody>
      </p:sp>
      <p:sp>
        <p:nvSpPr>
          <p:cNvPr id="5" name="Rounded Rectangle 4"/>
          <p:cNvSpPr/>
          <p:nvPr/>
        </p:nvSpPr>
        <p:spPr>
          <a:xfrm>
            <a:off x="469900" y="2240338"/>
            <a:ext cx="7645400" cy="3113922"/>
          </a:xfrm>
          <a:prstGeom prst="roundRect">
            <a:avLst>
              <a:gd name="adj" fmla="val 1223"/>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ember-oversight-stage.png"/>
          <p:cNvPicPr>
            <a:picLocks noChangeAspect="1"/>
          </p:cNvPicPr>
          <p:nvPr/>
        </p:nvPicPr>
        <p:blipFill>
          <a:blip r:embed="rId3"/>
          <a:stretch>
            <a:fillRect/>
          </a:stretch>
        </p:blipFill>
        <p:spPr>
          <a:xfrm>
            <a:off x="508000" y="2278438"/>
            <a:ext cx="7569200" cy="3037722"/>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3 · 1.7%</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Member impact / Partial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Includes an Active prior-authorization review product.</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2 · 1.2%</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Member impact / No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Includes an Active provider-directory cleansing product.</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VALIDATION STATUS × DEPLOYMENT × SOURCE</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Later-stage errors call for two kinds of follow-up</a:t>
            </a:r>
          </a:p>
        </p:txBody>
      </p:sp>
      <p:sp>
        <p:nvSpPr>
          <p:cNvPr id="5" name="Rounded Rectangle 4"/>
          <p:cNvSpPr/>
          <p:nvPr/>
        </p:nvSpPr>
        <p:spPr>
          <a:xfrm>
            <a:off x="469900" y="1713131"/>
            <a:ext cx="7645400" cy="4168337"/>
          </a:xfrm>
          <a:prstGeom prst="roundRect">
            <a:avLst>
              <a:gd name="adj" fmla="val 914"/>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errors-stage-source.png"/>
          <p:cNvPicPr>
            <a:picLocks noChangeAspect="1"/>
          </p:cNvPicPr>
          <p:nvPr/>
        </p:nvPicPr>
        <p:blipFill>
          <a:blip r:embed="rId3"/>
          <a:stretch>
            <a:fillRect/>
          </a:stretch>
        </p:blipFill>
        <p:spPr>
          <a:xfrm>
            <a:off x="508000" y="1751231"/>
            <a:ext cx="7569200" cy="4092137"/>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39 · 22.5%</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Active products with errors</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Operational status does not guarantee complete disclosures.</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35 · 20.2%</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Pilot products with errors</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Use the pilot to resolve missing product details.</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COUNT ERRORS × DEPLOYMENT × SOURCE</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A model-count error can mean two different problems</a:t>
            </a:r>
          </a:p>
        </p:txBody>
      </p:sp>
      <p:sp>
        <p:nvSpPr>
          <p:cNvPr id="5" name="Rounded Rectangle 4"/>
          <p:cNvSpPr/>
          <p:nvPr/>
        </p:nvSpPr>
        <p:spPr>
          <a:xfrm>
            <a:off x="469900" y="1713131"/>
            <a:ext cx="7645400" cy="4168337"/>
          </a:xfrm>
          <a:prstGeom prst="roundRect">
            <a:avLst>
              <a:gd name="adj" fmla="val 914"/>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lm-errors-stage-source.png"/>
          <p:cNvPicPr>
            <a:picLocks noChangeAspect="1"/>
          </p:cNvPicPr>
          <p:nvPr/>
        </p:nvPicPr>
        <p:blipFill>
          <a:blip r:embed="rId3"/>
          <a:stretch>
            <a:fillRect/>
          </a:stretch>
        </p:blipFill>
        <p:spPr>
          <a:xfrm>
            <a:off x="508000" y="1751231"/>
            <a:ext cx="7569200" cy="4092137"/>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84 · 48.6%</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Products with LLM-count errors</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Some responses give a count in prose.</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69DDD0"/>
                </a:solidFill>
                <a:latin typeface="Arial"/>
              </a:defRPr>
            </a:pPr>
            <a:r>
              <a:t>49 · 28.3%</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LLM-count error + 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Others require the vendor to confirm the count.</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VENDOR CONTACT × DEPLOYMENT × SOURCE</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Shared owners offer a starting point for vendor follow-up</a:t>
            </a:r>
          </a:p>
        </p:txBody>
      </p:sp>
      <p:sp>
        <p:nvSpPr>
          <p:cNvPr id="5" name="Rounded Rectangle 4"/>
          <p:cNvSpPr/>
          <p:nvPr/>
        </p:nvSpPr>
        <p:spPr>
          <a:xfrm>
            <a:off x="469900" y="2039497"/>
            <a:ext cx="7645400" cy="3515604"/>
          </a:xfrm>
          <a:prstGeom prst="roundRect">
            <a:avLst>
              <a:gd name="adj" fmla="val 1083"/>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vendor-errors-stage-source.png"/>
          <p:cNvPicPr>
            <a:picLocks noChangeAspect="1"/>
          </p:cNvPicPr>
          <p:nvPr/>
        </p:nvPicPr>
        <p:blipFill>
          <a:blip r:embed="rId3"/>
          <a:stretch>
            <a:fillRect/>
          </a:stretch>
        </p:blipFill>
        <p:spPr>
          <a:xfrm>
            <a:off x="508000" y="2077597"/>
            <a:ext cx="7569200" cy="3439404"/>
          </a:xfrm>
          <a:prstGeom prst="rect">
            <a:avLst/>
          </a:prstGeom>
        </p:spPr>
      </p:pic>
      <p:sp>
        <p:nvSpPr>
          <p:cNvPr id="7" name="TextBox 6"/>
          <p:cNvSpPr txBox="1"/>
          <p:nvPr/>
        </p:nvSpPr>
        <p:spPr>
          <a:xfrm>
            <a:off x="508000" y="1524000"/>
            <a:ext cx="75692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13 · 7.5%</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Vendor contact gap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Group related products for one owner-led review.</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10 · 5.8%</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Vendor contact gap + 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Five are Jira helpers with the same owner pair.</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ERROR MIX × PRODUCT OUTCOME</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Count-only findings create a focused cleanup opportunity</a:t>
            </a:r>
          </a:p>
        </p:txBody>
      </p:sp>
      <p:sp>
        <p:nvSpPr>
          <p:cNvPr id="5" name="Rounded Rectangle 4"/>
          <p:cNvSpPr/>
          <p:nvPr/>
        </p:nvSpPr>
        <p:spPr>
          <a:xfrm>
            <a:off x="508000" y="1778000"/>
            <a:ext cx="3505200" cy="2298700"/>
          </a:xfrm>
          <a:prstGeom prst="roundRect">
            <a:avLst>
              <a:gd name="adj" fmla="val 4419"/>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1200" y="1993900"/>
            <a:ext cx="3098800" cy="3175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ACBED1"/>
                </a:solidFill>
                <a:latin typeface="Arial"/>
              </a:defRPr>
            </a:pPr>
            <a:r>
              <a:t>CURRENTLY PASSING</a:t>
            </a:r>
          </a:p>
        </p:txBody>
      </p:sp>
      <p:sp>
        <p:nvSpPr>
          <p:cNvPr id="7" name="TextBox 6"/>
          <p:cNvSpPr txBox="1"/>
          <p:nvPr/>
        </p:nvSpPr>
        <p:spPr>
          <a:xfrm>
            <a:off x="711200" y="2476500"/>
            <a:ext cx="3098800" cy="6350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52 · 30.1%</a:t>
            </a:r>
          </a:p>
        </p:txBody>
      </p:sp>
      <p:sp>
        <p:nvSpPr>
          <p:cNvPr id="8" name="TextBox 7"/>
          <p:cNvSpPr txBox="1"/>
          <p:nvPr/>
        </p:nvSpPr>
        <p:spPr>
          <a:xfrm>
            <a:off x="711200" y="3289300"/>
            <a:ext cx="3098800" cy="609600"/>
          </a:xfrm>
          <a:prstGeom prst="rect">
            <a:avLst/>
          </a:prstGeom>
          <a:noFill/>
        </p:spPr>
        <p:txBody>
          <a:bodyPr wrap="square" lIns="0" tIns="0" rIns="0" bIns="0" anchor="t">
            <a:spAutoFit/>
          </a:bodyPr>
          <a:lstStyle/>
          <a:p>
            <a:pPr algn="l">
              <a:lnSpc>
                <a:spcPts val="1652"/>
              </a:lnSpc>
              <a:spcBef>
                <a:spcPts val="0"/>
              </a:spcBef>
              <a:spcAft>
                <a:spcPts val="0"/>
              </a:spcAft>
              <a:defRPr sz="1400" b="0">
                <a:solidFill>
                  <a:srgbClr val="ACBED1"/>
                </a:solidFill>
                <a:latin typeface="Arial"/>
              </a:defRPr>
            </a:pPr>
            <a:r>
              <a:t>Validation passes still need business context.</a:t>
            </a:r>
          </a:p>
        </p:txBody>
      </p:sp>
      <p:sp>
        <p:nvSpPr>
          <p:cNvPr id="9" name="Rounded Rectangle 8"/>
          <p:cNvSpPr/>
          <p:nvPr/>
        </p:nvSpPr>
        <p:spPr>
          <a:xfrm>
            <a:off x="4343400" y="1778000"/>
            <a:ext cx="3505200" cy="2298700"/>
          </a:xfrm>
          <a:prstGeom prst="roundRect">
            <a:avLst>
              <a:gd name="adj" fmla="val 4419"/>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46600" y="1993900"/>
            <a:ext cx="3098800" cy="3175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F3C779"/>
                </a:solidFill>
                <a:latin typeface="Arial"/>
              </a:defRPr>
            </a:pPr>
            <a:r>
              <a:t>COUNT-ONLY COHORT</a:t>
            </a:r>
          </a:p>
        </p:txBody>
      </p:sp>
      <p:sp>
        <p:nvSpPr>
          <p:cNvPr id="11" name="TextBox 10"/>
          <p:cNvSpPr txBox="1"/>
          <p:nvPr/>
        </p:nvSpPr>
        <p:spPr>
          <a:xfrm>
            <a:off x="4546600" y="2476500"/>
            <a:ext cx="3098800" cy="6350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76 · 43.9%</a:t>
            </a:r>
          </a:p>
        </p:txBody>
      </p:sp>
      <p:sp>
        <p:nvSpPr>
          <p:cNvPr id="12" name="TextBox 11"/>
          <p:cNvSpPr txBox="1"/>
          <p:nvPr/>
        </p:nvSpPr>
        <p:spPr>
          <a:xfrm>
            <a:off x="4546600" y="3289300"/>
            <a:ext cx="3098800" cy="609600"/>
          </a:xfrm>
          <a:prstGeom prst="rect">
            <a:avLst/>
          </a:prstGeom>
          <a:noFill/>
        </p:spPr>
        <p:txBody>
          <a:bodyPr wrap="square" lIns="0" tIns="0" rIns="0" bIns="0" anchor="t">
            <a:spAutoFit/>
          </a:bodyPr>
          <a:lstStyle/>
          <a:p>
            <a:pPr algn="l">
              <a:lnSpc>
                <a:spcPts val="1652"/>
              </a:lnSpc>
              <a:spcBef>
                <a:spcPts val="0"/>
              </a:spcBef>
              <a:spcAft>
                <a:spcPts val="0"/>
              </a:spcAft>
              <a:defRPr sz="1400" b="0">
                <a:solidFill>
                  <a:srgbClr val="ACBED1"/>
                </a:solidFill>
                <a:latin typeface="Arial"/>
              </a:defRPr>
            </a:pPr>
            <a:r>
              <a:t>Separate format corrections from unresolved model details.</a:t>
            </a:r>
          </a:p>
        </p:txBody>
      </p:sp>
      <p:sp>
        <p:nvSpPr>
          <p:cNvPr id="13" name="Rounded Rectangle 12"/>
          <p:cNvSpPr/>
          <p:nvPr/>
        </p:nvSpPr>
        <p:spPr>
          <a:xfrm>
            <a:off x="8178800" y="1778000"/>
            <a:ext cx="3505200" cy="2298700"/>
          </a:xfrm>
          <a:prstGeom prst="roundRect">
            <a:avLst>
              <a:gd name="adj" fmla="val 4419"/>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82000" y="1993900"/>
            <a:ext cx="3098800" cy="3175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CONDITIONAL SCENARIO</a:t>
            </a:r>
          </a:p>
        </p:txBody>
      </p:sp>
      <p:sp>
        <p:nvSpPr>
          <p:cNvPr id="15" name="TextBox 14"/>
          <p:cNvSpPr txBox="1"/>
          <p:nvPr/>
        </p:nvSpPr>
        <p:spPr>
          <a:xfrm>
            <a:off x="8382000" y="2476500"/>
            <a:ext cx="3098800" cy="6350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128 · 74.0%</a:t>
            </a:r>
          </a:p>
        </p:txBody>
      </p:sp>
      <p:sp>
        <p:nvSpPr>
          <p:cNvPr id="16" name="TextBox 15"/>
          <p:cNvSpPr txBox="1"/>
          <p:nvPr/>
        </p:nvSpPr>
        <p:spPr>
          <a:xfrm>
            <a:off x="8382000" y="3289300"/>
            <a:ext cx="3098800" cy="609600"/>
          </a:xfrm>
          <a:prstGeom prst="rect">
            <a:avLst/>
          </a:prstGeom>
          <a:noFill/>
        </p:spPr>
        <p:txBody>
          <a:bodyPr wrap="square" lIns="0" tIns="0" rIns="0" bIns="0" anchor="t">
            <a:spAutoFit/>
          </a:bodyPr>
          <a:lstStyle/>
          <a:p>
            <a:pPr algn="l">
              <a:lnSpc>
                <a:spcPts val="1652"/>
              </a:lnSpc>
              <a:spcBef>
                <a:spcPts val="0"/>
              </a:spcBef>
              <a:spcAft>
                <a:spcPts val="0"/>
              </a:spcAft>
              <a:defRPr sz="1400" b="0">
                <a:solidFill>
                  <a:srgbClr val="ACBED1"/>
                </a:solidFill>
                <a:latin typeface="Arial"/>
              </a:defRPr>
            </a:pPr>
            <a:r>
              <a:t>After owner confirmation and successful revalidation.</a:t>
            </a:r>
          </a:p>
        </p:txBody>
      </p:sp>
      <p:sp>
        <p:nvSpPr>
          <p:cNvPr id="17" name="Rounded Rectangle 16"/>
          <p:cNvSpPr/>
          <p:nvPr/>
        </p:nvSpPr>
        <p:spPr>
          <a:xfrm>
            <a:off x="1420733" y="4572000"/>
            <a:ext cx="9350533" cy="1270000"/>
          </a:xfrm>
          <a:prstGeom prst="roundRect">
            <a:avLst>
              <a:gd name="adj" fmla="val 3000"/>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count-example.png"/>
          <p:cNvPicPr>
            <a:picLocks noChangeAspect="1"/>
          </p:cNvPicPr>
          <p:nvPr/>
        </p:nvPicPr>
        <p:blipFill>
          <a:blip r:embed="rId3"/>
          <a:stretch>
            <a:fillRect/>
          </a:stretch>
        </p:blipFill>
        <p:spPr>
          <a:xfrm>
            <a:off x="1458833" y="4610100"/>
            <a:ext cx="9274333" cy="1193800"/>
          </a:xfrm>
          <a:prstGeom prst="rect">
            <a:avLst/>
          </a:prstGeom>
        </p:spPr>
      </p:pic>
      <p:sp>
        <p:nvSpPr>
          <p:cNvPr id="19" name="TextBox 18"/>
          <p:cNvSpPr txBox="1"/>
          <p:nvPr/>
        </p:nvSpPr>
        <p:spPr>
          <a:xfrm>
            <a:off x="508000" y="4394200"/>
            <a:ext cx="111760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24" name="TextBox 23"/>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TAXONOMY COVERAGE × DEPLOYMENT</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Unclassified can hide sensitive-data disclosures</a:t>
            </a:r>
          </a:p>
        </p:txBody>
      </p:sp>
      <p:sp>
        <p:nvSpPr>
          <p:cNvPr id="5" name="Rounded Rectangle 4"/>
          <p:cNvSpPr/>
          <p:nvPr/>
        </p:nvSpPr>
        <p:spPr>
          <a:xfrm>
            <a:off x="469900" y="2729889"/>
            <a:ext cx="7645400" cy="2134821"/>
          </a:xfrm>
          <a:prstGeom prst="roundRect">
            <a:avLst>
              <a:gd name="adj" fmla="val 1784"/>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axonomy-stage.png"/>
          <p:cNvPicPr>
            <a:picLocks noChangeAspect="1"/>
          </p:cNvPicPr>
          <p:nvPr/>
        </p:nvPicPr>
        <p:blipFill>
          <a:blip r:embed="rId3"/>
          <a:stretch>
            <a:fillRect/>
          </a:stretch>
        </p:blipFill>
        <p:spPr>
          <a:xfrm>
            <a:off x="546100" y="2106979"/>
            <a:ext cx="7569200" cy="2058621"/>
          </a:xfrm>
          <a:prstGeom prst="rect">
            <a:avLst/>
          </a:prstGeom>
        </p:spPr>
      </p:pic>
      <p:sp>
        <p:nvSpPr>
          <p:cNvPr id="8" name="TextBox 7"/>
          <p:cNvSpPr txBox="1"/>
          <p:nvPr/>
        </p:nvSpPr>
        <p:spPr>
          <a:xfrm>
            <a:off x="8534400" y="18034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F3C779"/>
                </a:solidFill>
                <a:latin typeface="Arial"/>
              </a:defRPr>
            </a:pPr>
            <a:r>
              <a:t>71 · 41.0%</a:t>
            </a:r>
          </a:p>
        </p:txBody>
      </p:sp>
      <p:sp>
        <p:nvSpPr>
          <p:cNvPr id="9" name="TextBox 8"/>
          <p:cNvSpPr txBox="1"/>
          <p:nvPr/>
        </p:nvSpPr>
        <p:spPr>
          <a:xfrm>
            <a:off x="8534400" y="25527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Data type Unclassified +</a:t>
            </a:r>
          </a:p>
          <a:p>
            <a:pPr algn="l">
              <a:lnSpc>
                <a:spcPts val="1829"/>
              </a:lnSpc>
              <a:spcBef>
                <a:spcPts val="0"/>
              </a:spcBef>
              <a:spcAft>
                <a:spcPts val="0"/>
              </a:spcAft>
              <a:defRPr sz="1550" b="1">
                <a:solidFill>
                  <a:srgbClr val="F4F7FB"/>
                </a:solidFill>
                <a:latin typeface="Arial"/>
              </a:defRPr>
            </a:pPr>
            <a:r>
              <a:t>Pilot/Active</a:t>
            </a:r>
          </a:p>
        </p:txBody>
      </p:sp>
      <p:sp>
        <p:nvSpPr>
          <p:cNvPr id="10" name="TextBox 9"/>
          <p:cNvSpPr txBox="1"/>
          <p:nvPr/>
        </p:nvSpPr>
        <p:spPr>
          <a:xfrm>
            <a:off x="8534400" y="31242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Nine explicitly select PHI/PII alongside unmapped terms.</a:t>
            </a:r>
          </a:p>
        </p:txBody>
      </p:sp>
      <p:sp>
        <p:nvSpPr>
          <p:cNvPr id="11" name="TextBox 10"/>
          <p:cNvSpPr txBox="1"/>
          <p:nvPr/>
        </p:nvSpPr>
        <p:spPr>
          <a:xfrm>
            <a:off x="8534400" y="3797300"/>
            <a:ext cx="3048000" cy="736600"/>
          </a:xfrm>
          <a:prstGeom prst="rect">
            <a:avLst/>
          </a:prstGeom>
          <a:noFill/>
        </p:spPr>
        <p:txBody>
          <a:bodyPr wrap="none" lIns="0" tIns="0" rIns="0" bIns="0" anchor="t">
            <a:spAutoFit/>
          </a:bodyPr>
          <a:lstStyle/>
          <a:p>
            <a:pPr algn="l">
              <a:lnSpc>
                <a:spcPts val="4011"/>
              </a:lnSpc>
              <a:spcBef>
                <a:spcPts val="0"/>
              </a:spcBef>
              <a:spcAft>
                <a:spcPts val="0"/>
              </a:spcAft>
              <a:defRPr sz="3400" b="1">
                <a:solidFill>
                  <a:srgbClr val="8BB9F4"/>
                </a:solidFill>
                <a:latin typeface="Arial"/>
              </a:defRPr>
            </a:pPr>
            <a:r>
              <a:t>26 · 15.0%</a:t>
            </a:r>
          </a:p>
        </p:txBody>
      </p:sp>
      <p:sp>
        <p:nvSpPr>
          <p:cNvPr id="12" name="TextBox 11"/>
          <p:cNvSpPr txBox="1"/>
          <p:nvPr/>
        </p:nvSpPr>
        <p:spPr>
          <a:xfrm>
            <a:off x="8534400" y="4546600"/>
            <a:ext cx="3048000" cy="533400"/>
          </a:xfrm>
          <a:prstGeom prst="rect">
            <a:avLst/>
          </a:prstGeom>
          <a:noFill/>
        </p:spPr>
        <p:txBody>
          <a:bodyPr wrap="none" lIns="0" tIns="0" rIns="0" bIns="0" anchor="t">
            <a:spAutoFit/>
          </a:bodyPr>
          <a:lstStyle/>
          <a:p>
            <a:pPr algn="l">
              <a:lnSpc>
                <a:spcPts val="1829"/>
              </a:lnSpc>
              <a:spcBef>
                <a:spcPts val="0"/>
              </a:spcBef>
              <a:spcAft>
                <a:spcPts val="0"/>
              </a:spcAft>
              <a:defRPr sz="1550" b="1">
                <a:solidFill>
                  <a:srgbClr val="F4F7FB"/>
                </a:solidFill>
                <a:latin typeface="Arial"/>
              </a:defRPr>
            </a:pPr>
            <a:r>
              <a:t>Environment Unclassified +</a:t>
            </a:r>
          </a:p>
          <a:p>
            <a:pPr algn="l">
              <a:lnSpc>
                <a:spcPts val="1829"/>
              </a:lnSpc>
              <a:spcBef>
                <a:spcPts val="0"/>
              </a:spcBef>
              <a:spcAft>
                <a:spcPts val="0"/>
              </a:spcAft>
              <a:defRPr sz="1550" b="1">
                <a:solidFill>
                  <a:srgbClr val="F4F7FB"/>
                </a:solidFill>
                <a:latin typeface="Arial"/>
              </a:defRPr>
            </a:pPr>
            <a:r>
              <a:t>Pilot/Active</a:t>
            </a:r>
          </a:p>
        </p:txBody>
      </p:sp>
      <p:sp>
        <p:nvSpPr>
          <p:cNvPr id="13" name="TextBox 12"/>
          <p:cNvSpPr txBox="1"/>
          <p:nvPr/>
        </p:nvSpPr>
        <p:spPr>
          <a:xfrm>
            <a:off x="8534400" y="5118100"/>
            <a:ext cx="3048000" cy="685800"/>
          </a:xfrm>
          <a:prstGeom prst="rect">
            <a:avLst/>
          </a:prstGeom>
          <a:noFill/>
        </p:spPr>
        <p:txBody>
          <a:bodyPr wrap="square" lIns="0" tIns="0" rIns="0" bIns="0" anchor="t">
            <a:spAutoFit/>
          </a:bodyPr>
          <a:lstStyle/>
          <a:p>
            <a:pPr algn="l">
              <a:lnSpc>
                <a:spcPts val="1416"/>
              </a:lnSpc>
              <a:spcBef>
                <a:spcPts val="0"/>
              </a:spcBef>
              <a:spcAft>
                <a:spcPts val="0"/>
              </a:spcAft>
              <a:defRPr sz="1200" b="0">
                <a:solidFill>
                  <a:srgbClr val="ACBED1"/>
                </a:solidFill>
                <a:latin typeface="Arial"/>
              </a:defRPr>
            </a:pPr>
            <a:r>
              <a:t>Clarify hosting before drawing infrastructure conclusions.</a:t>
            </a:r>
          </a:p>
        </p:txBody>
      </p:sp>
      <p:sp>
        <p:nvSpPr>
          <p:cNvPr id="18" name="TextBox 17"/>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PROPOSED NEXT STEPS</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Turn the patterns into coordinated owner reviews</a:t>
            </a:r>
          </a:p>
        </p:txBody>
      </p:sp>
      <p:sp>
        <p:nvSpPr>
          <p:cNvPr id="5" name="Rounded Rectangle 4"/>
          <p:cNvSpPr/>
          <p:nvPr/>
        </p:nvSpPr>
        <p:spPr>
          <a:xfrm>
            <a:off x="508000" y="1765300"/>
            <a:ext cx="3505200" cy="4038600"/>
          </a:xfrm>
          <a:prstGeom prst="roundRect">
            <a:avLst>
              <a:gd name="adj" fmla="val 2898"/>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6600" y="1993900"/>
            <a:ext cx="3048000" cy="34290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3C779"/>
                </a:solidFill>
                <a:latin typeface="Arial"/>
              </a:defRPr>
            </a:pPr>
            <a:r>
              <a:t>CORRECT INPUTS</a:t>
            </a:r>
          </a:p>
        </p:txBody>
      </p:sp>
      <p:sp>
        <p:nvSpPr>
          <p:cNvPr id="7" name="TextBox 6"/>
          <p:cNvSpPr txBox="1"/>
          <p:nvPr/>
        </p:nvSpPr>
        <p:spPr>
          <a:xfrm>
            <a:off x="736600" y="27051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Clarify model counts with owners</a:t>
            </a:r>
          </a:p>
        </p:txBody>
      </p:sp>
      <p:sp>
        <p:nvSpPr>
          <p:cNvPr id="8" name="TextBox 7"/>
          <p:cNvSpPr txBox="1"/>
          <p:nvPr/>
        </p:nvSpPr>
        <p:spPr>
          <a:xfrm>
            <a:off x="736600" y="36322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Resolve Jira vendor contacts together</a:t>
            </a:r>
          </a:p>
        </p:txBody>
      </p:sp>
      <p:sp>
        <p:nvSpPr>
          <p:cNvPr id="9" name="TextBox 8"/>
          <p:cNvSpPr txBox="1"/>
          <p:nvPr/>
        </p:nvSpPr>
        <p:spPr>
          <a:xfrm>
            <a:off x="736600" y="45593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Revalidate corrected products</a:t>
            </a:r>
          </a:p>
        </p:txBody>
      </p:sp>
      <p:sp>
        <p:nvSpPr>
          <p:cNvPr id="10" name="Rounded Rectangle 9"/>
          <p:cNvSpPr/>
          <p:nvPr/>
        </p:nvSpPr>
        <p:spPr>
          <a:xfrm>
            <a:off x="4343400" y="1765300"/>
            <a:ext cx="3505200" cy="4038600"/>
          </a:xfrm>
          <a:prstGeom prst="roundRect">
            <a:avLst>
              <a:gd name="adj" fmla="val 2898"/>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993900"/>
            <a:ext cx="3048000" cy="34290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8BB9F4"/>
                </a:solidFill>
                <a:latin typeface="Arial"/>
              </a:defRPr>
            </a:pPr>
            <a:r>
              <a:t>CLARIFY CONTEXT</a:t>
            </a:r>
          </a:p>
        </p:txBody>
      </p:sp>
      <p:sp>
        <p:nvSpPr>
          <p:cNvPr id="12" name="TextBox 11"/>
          <p:cNvSpPr txBox="1"/>
          <p:nvPr/>
        </p:nvSpPr>
        <p:spPr>
          <a:xfrm>
            <a:off x="4572000" y="27051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Verify five Active test-like entries</a:t>
            </a:r>
          </a:p>
        </p:txBody>
      </p:sp>
      <p:sp>
        <p:nvSpPr>
          <p:cNvPr id="13" name="TextBox 12"/>
          <p:cNvSpPr txBox="1"/>
          <p:nvPr/>
        </p:nvSpPr>
        <p:spPr>
          <a:xfrm>
            <a:off x="4572000" y="36322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Locate the human decision points</a:t>
            </a:r>
          </a:p>
        </p:txBody>
      </p:sp>
      <p:sp>
        <p:nvSpPr>
          <p:cNvPr id="14" name="TextBox 13"/>
          <p:cNvSpPr txBox="1"/>
          <p:nvPr/>
        </p:nvSpPr>
        <p:spPr>
          <a:xfrm>
            <a:off x="4572000" y="45593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Prioritize member-impacting workflows</a:t>
            </a:r>
          </a:p>
        </p:txBody>
      </p:sp>
      <p:sp>
        <p:nvSpPr>
          <p:cNvPr id="15" name="Rounded Rectangle 14"/>
          <p:cNvSpPr/>
          <p:nvPr/>
        </p:nvSpPr>
        <p:spPr>
          <a:xfrm>
            <a:off x="8178800" y="1765300"/>
            <a:ext cx="3505200" cy="4038600"/>
          </a:xfrm>
          <a:prstGeom prst="roundRect">
            <a:avLst>
              <a:gd name="adj" fmla="val 2898"/>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07400" y="1993900"/>
            <a:ext cx="3048000" cy="34290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69DDD0"/>
                </a:solidFill>
                <a:latin typeface="Arial"/>
              </a:defRPr>
            </a:pPr>
            <a:r>
              <a:t>IMPROVE REPORTING</a:t>
            </a:r>
          </a:p>
        </p:txBody>
      </p:sp>
      <p:sp>
        <p:nvSpPr>
          <p:cNvPr id="17" name="TextBox 16"/>
          <p:cNvSpPr txBox="1"/>
          <p:nvPr/>
        </p:nvSpPr>
        <p:spPr>
          <a:xfrm>
            <a:off x="8407400" y="27051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Preserve recognized PHI/PII selections</a:t>
            </a:r>
          </a:p>
        </p:txBody>
      </p:sp>
      <p:sp>
        <p:nvSpPr>
          <p:cNvPr id="18" name="TextBox 17"/>
          <p:cNvSpPr txBox="1"/>
          <p:nvPr/>
        </p:nvSpPr>
        <p:spPr>
          <a:xfrm>
            <a:off x="8407400" y="36322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Align hosting and business terminology</a:t>
            </a:r>
          </a:p>
        </p:txBody>
      </p:sp>
      <p:sp>
        <p:nvSpPr>
          <p:cNvPr id="19" name="TextBox 18"/>
          <p:cNvSpPr txBox="1"/>
          <p:nvPr/>
        </p:nvSpPr>
        <p:spPr>
          <a:xfrm>
            <a:off x="8407400" y="4559300"/>
            <a:ext cx="3048000" cy="774700"/>
          </a:xfrm>
          <a:prstGeom prst="rect">
            <a:avLst/>
          </a:prstGeom>
          <a:noFill/>
        </p:spPr>
        <p:txBody>
          <a:bodyPr wrap="square" lIns="0" tIns="0" rIns="0" bIns="0" anchor="t">
            <a:spAutoFit/>
          </a:bodyPr>
          <a:lstStyle/>
          <a:p>
            <a:pPr algn="l">
              <a:lnSpc>
                <a:spcPts val="1888"/>
              </a:lnSpc>
              <a:spcBef>
                <a:spcPts val="0"/>
              </a:spcBef>
              <a:spcAft>
                <a:spcPts val="0"/>
              </a:spcAft>
              <a:defRPr sz="1600" b="0">
                <a:solidFill>
                  <a:srgbClr val="F4F7FB"/>
                </a:solidFill>
                <a:latin typeface="Arial"/>
              </a:defRPr>
            </a:pPr>
            <a:r>
              <a:t>Coordinate shared business-line products</a:t>
            </a:r>
          </a:p>
        </p:txBody>
      </p:sp>
      <p:sp>
        <p:nvSpPr>
          <p:cNvPr id="24" name="TextBox 23"/>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APPENDIX A • PRODUCT COUNTS BY RULE</a:t>
            </a:r>
          </a:p>
        </p:txBody>
      </p:sp>
      <p:sp>
        <p:nvSpPr>
          <p:cNvPr id="4" name="TextBox 3"/>
          <p:cNvSpPr txBox="1"/>
          <p:nvPr/>
        </p:nvSpPr>
        <p:spPr>
          <a:xfrm>
            <a:off x="508000" y="609600"/>
            <a:ext cx="11176000" cy="9398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Count affected products—not repeated findings</a:t>
            </a:r>
          </a:p>
        </p:txBody>
      </p:sp>
      <p:sp>
        <p:nvSpPr>
          <p:cNvPr id="5" name="Rectangle 4"/>
          <p:cNvSpPr/>
          <p:nvPr/>
        </p:nvSpPr>
        <p:spPr>
          <a:xfrm>
            <a:off x="508000" y="1638300"/>
            <a:ext cx="11176000" cy="368300"/>
          </a:xfrm>
          <a:prstGeom prst="rect">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 y="17399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69DDD0"/>
                </a:solidFill>
                <a:latin typeface="Arial"/>
              </a:defRPr>
            </a:pPr>
            <a:r>
              <a:t>Rule</a:t>
            </a:r>
          </a:p>
        </p:txBody>
      </p:sp>
      <p:sp>
        <p:nvSpPr>
          <p:cNvPr id="7" name="TextBox 6"/>
          <p:cNvSpPr txBox="1"/>
          <p:nvPr/>
        </p:nvSpPr>
        <p:spPr>
          <a:xfrm>
            <a:off x="2095500" y="17399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69DDD0"/>
                </a:solidFill>
                <a:latin typeface="Arial"/>
              </a:defRPr>
            </a:pPr>
            <a:r>
              <a:t>Meaning</a:t>
            </a:r>
          </a:p>
        </p:txBody>
      </p:sp>
      <p:sp>
        <p:nvSpPr>
          <p:cNvPr id="8" name="TextBox 7"/>
          <p:cNvSpPr txBox="1"/>
          <p:nvPr/>
        </p:nvSpPr>
        <p:spPr>
          <a:xfrm>
            <a:off x="8255000" y="17399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69DDD0"/>
                </a:solidFill>
                <a:latin typeface="Arial"/>
              </a:defRPr>
            </a:pPr>
            <a:r>
              <a:t>Products</a:t>
            </a:r>
          </a:p>
        </p:txBody>
      </p:sp>
      <p:sp>
        <p:nvSpPr>
          <p:cNvPr id="9" name="TextBox 8"/>
          <p:cNvSpPr txBox="1"/>
          <p:nvPr/>
        </p:nvSpPr>
        <p:spPr>
          <a:xfrm>
            <a:off x="9969500" y="17399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69DDD0"/>
                </a:solidFill>
                <a:latin typeface="Arial"/>
              </a:defRPr>
            </a:pPr>
            <a:r>
              <a:t>% of all 173</a:t>
            </a:r>
          </a:p>
        </p:txBody>
      </p:sp>
      <p:sp>
        <p:nvSpPr>
          <p:cNvPr id="10" name="Rectangle 9"/>
          <p:cNvSpPr/>
          <p:nvPr/>
        </p:nvSpPr>
        <p:spPr>
          <a:xfrm>
            <a:off x="508000" y="20066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000" y="21082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COUNT-01</a:t>
            </a:r>
          </a:p>
        </p:txBody>
      </p:sp>
      <p:sp>
        <p:nvSpPr>
          <p:cNvPr id="12" name="TextBox 11"/>
          <p:cNvSpPr txBox="1"/>
          <p:nvPr/>
        </p:nvSpPr>
        <p:spPr>
          <a:xfrm>
            <a:off x="2095500" y="21082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Invalid model-count format</a:t>
            </a:r>
          </a:p>
        </p:txBody>
      </p:sp>
      <p:sp>
        <p:nvSpPr>
          <p:cNvPr id="13" name="TextBox 12"/>
          <p:cNvSpPr txBox="1"/>
          <p:nvPr/>
        </p:nvSpPr>
        <p:spPr>
          <a:xfrm>
            <a:off x="8255000" y="21082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79</a:t>
            </a:r>
          </a:p>
        </p:txBody>
      </p:sp>
      <p:sp>
        <p:nvSpPr>
          <p:cNvPr id="14" name="TextBox 13"/>
          <p:cNvSpPr txBox="1"/>
          <p:nvPr/>
        </p:nvSpPr>
        <p:spPr>
          <a:xfrm>
            <a:off x="9969500" y="21082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45.7%</a:t>
            </a:r>
          </a:p>
        </p:txBody>
      </p:sp>
      <p:sp>
        <p:nvSpPr>
          <p:cNvPr id="15" name="Rectangle 14"/>
          <p:cNvSpPr/>
          <p:nvPr/>
        </p:nvSpPr>
        <p:spPr>
          <a:xfrm>
            <a:off x="508000" y="23749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000" y="24765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COUNT-02</a:t>
            </a:r>
          </a:p>
        </p:txBody>
      </p:sp>
      <p:sp>
        <p:nvSpPr>
          <p:cNvPr id="17" name="TextBox 16"/>
          <p:cNvSpPr txBox="1"/>
          <p:nvPr/>
        </p:nvSpPr>
        <p:spPr>
          <a:xfrm>
            <a:off x="2095500" y="24765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Required LLM count</a:t>
            </a:r>
          </a:p>
        </p:txBody>
      </p:sp>
      <p:sp>
        <p:nvSpPr>
          <p:cNvPr id="18" name="TextBox 17"/>
          <p:cNvSpPr txBox="1"/>
          <p:nvPr/>
        </p:nvSpPr>
        <p:spPr>
          <a:xfrm>
            <a:off x="8255000" y="24765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15</a:t>
            </a:r>
          </a:p>
        </p:txBody>
      </p:sp>
      <p:sp>
        <p:nvSpPr>
          <p:cNvPr id="19" name="TextBox 18"/>
          <p:cNvSpPr txBox="1"/>
          <p:nvPr/>
        </p:nvSpPr>
        <p:spPr>
          <a:xfrm>
            <a:off x="9969500" y="24765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8.7%</a:t>
            </a:r>
          </a:p>
        </p:txBody>
      </p:sp>
      <p:sp>
        <p:nvSpPr>
          <p:cNvPr id="20" name="Rectangle 19"/>
          <p:cNvSpPr/>
          <p:nvPr/>
        </p:nvSpPr>
        <p:spPr>
          <a:xfrm>
            <a:off x="508000" y="27432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000" y="28448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COUNT-03</a:t>
            </a:r>
          </a:p>
        </p:txBody>
      </p:sp>
      <p:sp>
        <p:nvSpPr>
          <p:cNvPr id="22" name="TextBox 21"/>
          <p:cNvSpPr txBox="1"/>
          <p:nvPr/>
        </p:nvSpPr>
        <p:spPr>
          <a:xfrm>
            <a:off x="2095500" y="28448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Required ML/DL count</a:t>
            </a:r>
          </a:p>
        </p:txBody>
      </p:sp>
      <p:sp>
        <p:nvSpPr>
          <p:cNvPr id="23" name="TextBox 22"/>
          <p:cNvSpPr txBox="1"/>
          <p:nvPr/>
        </p:nvSpPr>
        <p:spPr>
          <a:xfrm>
            <a:off x="8255000" y="28448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6</a:t>
            </a:r>
          </a:p>
        </p:txBody>
      </p:sp>
      <p:sp>
        <p:nvSpPr>
          <p:cNvPr id="24" name="TextBox 23"/>
          <p:cNvSpPr txBox="1"/>
          <p:nvPr/>
        </p:nvSpPr>
        <p:spPr>
          <a:xfrm>
            <a:off x="9969500" y="28448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3.5%</a:t>
            </a:r>
          </a:p>
        </p:txBody>
      </p:sp>
      <p:sp>
        <p:nvSpPr>
          <p:cNvPr id="25" name="Rectangle 24"/>
          <p:cNvSpPr/>
          <p:nvPr/>
        </p:nvSpPr>
        <p:spPr>
          <a:xfrm>
            <a:off x="508000" y="31115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000" y="32131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VENDOR-01</a:t>
            </a:r>
          </a:p>
        </p:txBody>
      </p:sp>
      <p:sp>
        <p:nvSpPr>
          <p:cNvPr id="27" name="TextBox 26"/>
          <p:cNvSpPr txBox="1"/>
          <p:nvPr/>
        </p:nvSpPr>
        <p:spPr>
          <a:xfrm>
            <a:off x="2095500" y="32131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Vendor contact unavailable</a:t>
            </a:r>
          </a:p>
        </p:txBody>
      </p:sp>
      <p:sp>
        <p:nvSpPr>
          <p:cNvPr id="28" name="TextBox 27"/>
          <p:cNvSpPr txBox="1"/>
          <p:nvPr/>
        </p:nvSpPr>
        <p:spPr>
          <a:xfrm>
            <a:off x="8255000" y="32131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24</a:t>
            </a:r>
          </a:p>
        </p:txBody>
      </p:sp>
      <p:sp>
        <p:nvSpPr>
          <p:cNvPr id="29" name="TextBox 28"/>
          <p:cNvSpPr txBox="1"/>
          <p:nvPr/>
        </p:nvSpPr>
        <p:spPr>
          <a:xfrm>
            <a:off x="9969500" y="32131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13.9%</a:t>
            </a:r>
          </a:p>
        </p:txBody>
      </p:sp>
      <p:sp>
        <p:nvSpPr>
          <p:cNvPr id="30" name="Rectangle 29"/>
          <p:cNvSpPr/>
          <p:nvPr/>
        </p:nvSpPr>
        <p:spPr>
          <a:xfrm>
            <a:off x="508000" y="34798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5000" y="35814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SCOPE-01</a:t>
            </a:r>
          </a:p>
        </p:txBody>
      </p:sp>
      <p:sp>
        <p:nvSpPr>
          <p:cNvPr id="32" name="TextBox 31"/>
          <p:cNvSpPr txBox="1"/>
          <p:nvPr/>
        </p:nvSpPr>
        <p:spPr>
          <a:xfrm>
            <a:off x="2095500" y="35814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Exclusive scope selections</a:t>
            </a:r>
          </a:p>
        </p:txBody>
      </p:sp>
      <p:sp>
        <p:nvSpPr>
          <p:cNvPr id="33" name="TextBox 32"/>
          <p:cNvSpPr txBox="1"/>
          <p:nvPr/>
        </p:nvSpPr>
        <p:spPr>
          <a:xfrm>
            <a:off x="8255000" y="35814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14</a:t>
            </a:r>
          </a:p>
        </p:txBody>
      </p:sp>
      <p:sp>
        <p:nvSpPr>
          <p:cNvPr id="34" name="TextBox 33"/>
          <p:cNvSpPr txBox="1"/>
          <p:nvPr/>
        </p:nvSpPr>
        <p:spPr>
          <a:xfrm>
            <a:off x="9969500" y="35814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8.1%</a:t>
            </a:r>
          </a:p>
        </p:txBody>
      </p:sp>
      <p:sp>
        <p:nvSpPr>
          <p:cNvPr id="35" name="Rectangle 34"/>
          <p:cNvSpPr/>
          <p:nvPr/>
        </p:nvSpPr>
        <p:spPr>
          <a:xfrm>
            <a:off x="508000" y="38481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000" y="39497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ID-02</a:t>
            </a:r>
          </a:p>
        </p:txBody>
      </p:sp>
      <p:sp>
        <p:nvSpPr>
          <p:cNvPr id="37" name="TextBox 36"/>
          <p:cNvSpPr txBox="1"/>
          <p:nvPr/>
        </p:nvSpPr>
        <p:spPr>
          <a:xfrm>
            <a:off x="2095500" y="39497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Repeated ID flag</a:t>
            </a:r>
          </a:p>
        </p:txBody>
      </p:sp>
      <p:sp>
        <p:nvSpPr>
          <p:cNvPr id="38" name="TextBox 37"/>
          <p:cNvSpPr txBox="1"/>
          <p:nvPr/>
        </p:nvSpPr>
        <p:spPr>
          <a:xfrm>
            <a:off x="8255000" y="39497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7</a:t>
            </a:r>
          </a:p>
        </p:txBody>
      </p:sp>
      <p:sp>
        <p:nvSpPr>
          <p:cNvPr id="39" name="TextBox 38"/>
          <p:cNvSpPr txBox="1"/>
          <p:nvPr/>
        </p:nvSpPr>
        <p:spPr>
          <a:xfrm>
            <a:off x="9969500" y="39497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4.0%</a:t>
            </a:r>
          </a:p>
        </p:txBody>
      </p:sp>
      <p:sp>
        <p:nvSpPr>
          <p:cNvPr id="40" name="Rectangle 39"/>
          <p:cNvSpPr/>
          <p:nvPr/>
        </p:nvSpPr>
        <p:spPr>
          <a:xfrm>
            <a:off x="508000" y="42164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5000" y="43180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DATE-02</a:t>
            </a:r>
          </a:p>
        </p:txBody>
      </p:sp>
      <p:sp>
        <p:nvSpPr>
          <p:cNvPr id="42" name="TextBox 41"/>
          <p:cNvSpPr txBox="1"/>
          <p:nvPr/>
        </p:nvSpPr>
        <p:spPr>
          <a:xfrm>
            <a:off x="2095500" y="43180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Active without go-live date</a:t>
            </a:r>
          </a:p>
        </p:txBody>
      </p:sp>
      <p:sp>
        <p:nvSpPr>
          <p:cNvPr id="43" name="TextBox 42"/>
          <p:cNvSpPr txBox="1"/>
          <p:nvPr/>
        </p:nvSpPr>
        <p:spPr>
          <a:xfrm>
            <a:off x="8255000" y="43180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2</a:t>
            </a:r>
          </a:p>
        </p:txBody>
      </p:sp>
      <p:sp>
        <p:nvSpPr>
          <p:cNvPr id="44" name="TextBox 43"/>
          <p:cNvSpPr txBox="1"/>
          <p:nvPr/>
        </p:nvSpPr>
        <p:spPr>
          <a:xfrm>
            <a:off x="9969500" y="43180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1.2%</a:t>
            </a:r>
          </a:p>
        </p:txBody>
      </p:sp>
      <p:sp>
        <p:nvSpPr>
          <p:cNvPr id="45" name="Rectangle 44"/>
          <p:cNvSpPr/>
          <p:nvPr/>
        </p:nvSpPr>
        <p:spPr>
          <a:xfrm>
            <a:off x="508000" y="45847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5000" y="46863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REQ-01</a:t>
            </a:r>
          </a:p>
        </p:txBody>
      </p:sp>
      <p:sp>
        <p:nvSpPr>
          <p:cNvPr id="47" name="TextBox 46"/>
          <p:cNvSpPr txBox="1"/>
          <p:nvPr/>
        </p:nvSpPr>
        <p:spPr>
          <a:xfrm>
            <a:off x="2095500" y="46863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Required value missing</a:t>
            </a:r>
          </a:p>
        </p:txBody>
      </p:sp>
      <p:sp>
        <p:nvSpPr>
          <p:cNvPr id="48" name="TextBox 47"/>
          <p:cNvSpPr txBox="1"/>
          <p:nvPr/>
        </p:nvSpPr>
        <p:spPr>
          <a:xfrm>
            <a:off x="8255000" y="46863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a:t>
            </a:r>
          </a:p>
        </p:txBody>
      </p:sp>
      <p:sp>
        <p:nvSpPr>
          <p:cNvPr id="49" name="TextBox 48"/>
          <p:cNvSpPr txBox="1"/>
          <p:nvPr/>
        </p:nvSpPr>
        <p:spPr>
          <a:xfrm>
            <a:off x="9969500" y="46863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0.6%</a:t>
            </a:r>
          </a:p>
        </p:txBody>
      </p:sp>
      <p:sp>
        <p:nvSpPr>
          <p:cNvPr id="50" name="Rectangle 49"/>
          <p:cNvSpPr/>
          <p:nvPr/>
        </p:nvSpPr>
        <p:spPr>
          <a:xfrm>
            <a:off x="508000" y="49530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35000" y="50546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REQ-02</a:t>
            </a:r>
          </a:p>
        </p:txBody>
      </p:sp>
      <p:sp>
        <p:nvSpPr>
          <p:cNvPr id="52" name="TextBox 51"/>
          <p:cNvSpPr txBox="1"/>
          <p:nvPr/>
        </p:nvSpPr>
        <p:spPr>
          <a:xfrm>
            <a:off x="2095500" y="50546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Owner not identified</a:t>
            </a:r>
          </a:p>
        </p:txBody>
      </p:sp>
      <p:sp>
        <p:nvSpPr>
          <p:cNvPr id="53" name="TextBox 52"/>
          <p:cNvSpPr txBox="1"/>
          <p:nvPr/>
        </p:nvSpPr>
        <p:spPr>
          <a:xfrm>
            <a:off x="8255000" y="50546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a:t>
            </a:r>
          </a:p>
        </p:txBody>
      </p:sp>
      <p:sp>
        <p:nvSpPr>
          <p:cNvPr id="54" name="TextBox 53"/>
          <p:cNvSpPr txBox="1"/>
          <p:nvPr/>
        </p:nvSpPr>
        <p:spPr>
          <a:xfrm>
            <a:off x="9969500" y="50546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0.6%</a:t>
            </a:r>
          </a:p>
        </p:txBody>
      </p:sp>
      <p:sp>
        <p:nvSpPr>
          <p:cNvPr id="55" name="Rectangle 54"/>
          <p:cNvSpPr/>
          <p:nvPr/>
        </p:nvSpPr>
        <p:spPr>
          <a:xfrm>
            <a:off x="508000" y="53213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5000" y="5422900"/>
            <a:ext cx="1206500" cy="241300"/>
          </a:xfrm>
          <a:prstGeom prst="rect">
            <a:avLst/>
          </a:prstGeom>
          <a:noFill/>
        </p:spPr>
        <p:txBody>
          <a:bodyPr wrap="none" lIns="0" tIns="0" rIns="0" bIns="0" anchor="t">
            <a:spAutoFit/>
          </a:bodyPr>
          <a:lstStyle/>
          <a:p>
            <a:pPr algn="l">
              <a:lnSpc>
                <a:spcPts val="1297"/>
              </a:lnSpc>
              <a:spcBef>
                <a:spcPts val="0"/>
              </a:spcBef>
              <a:spcAft>
                <a:spcPts val="0"/>
              </a:spcAft>
              <a:defRPr sz="1100" b="1">
                <a:solidFill>
                  <a:srgbClr val="F4F7FB"/>
                </a:solidFill>
                <a:latin typeface="Arial"/>
              </a:defRPr>
            </a:pPr>
            <a:r>
              <a:t>EMAIL-01</a:t>
            </a:r>
          </a:p>
        </p:txBody>
      </p:sp>
      <p:sp>
        <p:nvSpPr>
          <p:cNvPr id="57" name="TextBox 56"/>
          <p:cNvSpPr txBox="1"/>
          <p:nvPr/>
        </p:nvSpPr>
        <p:spPr>
          <a:xfrm>
            <a:off x="2095500" y="5422900"/>
            <a:ext cx="5905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Owner email text invalid</a:t>
            </a:r>
          </a:p>
        </p:txBody>
      </p:sp>
      <p:sp>
        <p:nvSpPr>
          <p:cNvPr id="58" name="TextBox 57"/>
          <p:cNvSpPr txBox="1"/>
          <p:nvPr/>
        </p:nvSpPr>
        <p:spPr>
          <a:xfrm>
            <a:off x="8255000" y="5422900"/>
            <a:ext cx="1460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1</a:t>
            </a:r>
          </a:p>
        </p:txBody>
      </p:sp>
      <p:sp>
        <p:nvSpPr>
          <p:cNvPr id="59" name="TextBox 58"/>
          <p:cNvSpPr txBox="1"/>
          <p:nvPr/>
        </p:nvSpPr>
        <p:spPr>
          <a:xfrm>
            <a:off x="9969500" y="5422900"/>
            <a:ext cx="1587500" cy="241300"/>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ACBED1"/>
                </a:solidFill>
                <a:latin typeface="Arial"/>
              </a:defRPr>
            </a:pPr>
            <a:r>
              <a:t>0.6%</a:t>
            </a:r>
          </a:p>
        </p:txBody>
      </p:sp>
      <p:sp>
        <p:nvSpPr>
          <p:cNvPr id="64" name="TextBox 63"/>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APPENDIX B • INTERSECTIONS IN ONE VIEW</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Deeper combinations on the same 173-product base</a:t>
            </a:r>
          </a:p>
        </p:txBody>
      </p:sp>
      <p:sp>
        <p:nvSpPr>
          <p:cNvPr id="5" name="Rectangle 4"/>
          <p:cNvSpPr/>
          <p:nvPr/>
        </p:nvSpPr>
        <p:spPr>
          <a:xfrm>
            <a:off x="508000" y="1638300"/>
            <a:ext cx="11176000" cy="368300"/>
          </a:xfrm>
          <a:prstGeom prst="rect">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 y="1739900"/>
            <a:ext cx="7874000" cy="241300"/>
          </a:xfrm>
          <a:prstGeom prst="rect">
            <a:avLst/>
          </a:prstGeom>
          <a:noFill/>
        </p:spPr>
        <p:txBody>
          <a:bodyPr wrap="none" lIns="0" tIns="0" rIns="0" bIns="0" anchor="t">
            <a:spAutoFit/>
          </a:bodyPr>
          <a:lstStyle/>
          <a:p>
            <a:pPr algn="l">
              <a:lnSpc>
                <a:spcPts val="1262"/>
              </a:lnSpc>
              <a:spcBef>
                <a:spcPts val="0"/>
              </a:spcBef>
              <a:spcAft>
                <a:spcPts val="0"/>
              </a:spcAft>
              <a:defRPr sz="1070" b="1">
                <a:solidFill>
                  <a:srgbClr val="69DDD0"/>
                </a:solidFill>
                <a:latin typeface="Arial"/>
              </a:defRPr>
            </a:pPr>
            <a:r>
              <a:t>Combination</a:t>
            </a:r>
          </a:p>
        </p:txBody>
      </p:sp>
      <p:sp>
        <p:nvSpPr>
          <p:cNvPr id="7" name="TextBox 6"/>
          <p:cNvSpPr txBox="1"/>
          <p:nvPr/>
        </p:nvSpPr>
        <p:spPr>
          <a:xfrm>
            <a:off x="8763000" y="1739900"/>
            <a:ext cx="1016000" cy="241300"/>
          </a:xfrm>
          <a:prstGeom prst="rect">
            <a:avLst/>
          </a:prstGeom>
          <a:noFill/>
        </p:spPr>
        <p:txBody>
          <a:bodyPr wrap="none" lIns="0" tIns="0" rIns="0" bIns="0" anchor="t">
            <a:spAutoFit/>
          </a:bodyPr>
          <a:lstStyle/>
          <a:p>
            <a:pPr algn="l">
              <a:lnSpc>
                <a:spcPts val="1262"/>
              </a:lnSpc>
              <a:spcBef>
                <a:spcPts val="0"/>
              </a:spcBef>
              <a:spcAft>
                <a:spcPts val="0"/>
              </a:spcAft>
              <a:defRPr sz="1070" b="1">
                <a:solidFill>
                  <a:srgbClr val="69DDD0"/>
                </a:solidFill>
                <a:latin typeface="Arial"/>
              </a:defRPr>
            </a:pPr>
            <a:r>
              <a:t>Products</a:t>
            </a:r>
          </a:p>
        </p:txBody>
      </p:sp>
      <p:sp>
        <p:nvSpPr>
          <p:cNvPr id="8" name="TextBox 7"/>
          <p:cNvSpPr txBox="1"/>
          <p:nvPr/>
        </p:nvSpPr>
        <p:spPr>
          <a:xfrm>
            <a:off x="10033000" y="1739900"/>
            <a:ext cx="1524000" cy="241300"/>
          </a:xfrm>
          <a:prstGeom prst="rect">
            <a:avLst/>
          </a:prstGeom>
          <a:noFill/>
        </p:spPr>
        <p:txBody>
          <a:bodyPr wrap="none" lIns="0" tIns="0" rIns="0" bIns="0" anchor="t">
            <a:spAutoFit/>
          </a:bodyPr>
          <a:lstStyle/>
          <a:p>
            <a:pPr algn="l">
              <a:lnSpc>
                <a:spcPts val="1262"/>
              </a:lnSpc>
              <a:spcBef>
                <a:spcPts val="0"/>
              </a:spcBef>
              <a:spcAft>
                <a:spcPts val="0"/>
              </a:spcAft>
              <a:defRPr sz="1070" b="1">
                <a:solidFill>
                  <a:srgbClr val="69DDD0"/>
                </a:solidFill>
                <a:latin typeface="Arial"/>
              </a:defRPr>
            </a:pPr>
            <a:r>
              <a:t>% of all 173</a:t>
            </a:r>
          </a:p>
        </p:txBody>
      </p:sp>
      <p:sp>
        <p:nvSpPr>
          <p:cNvPr id="9" name="Rectangle 8"/>
          <p:cNvSpPr/>
          <p:nvPr/>
        </p:nvSpPr>
        <p:spPr>
          <a:xfrm>
            <a:off x="508000" y="20066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000" y="21082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Medicaid + Medicare + Marketplace + Pilot/Active</a:t>
            </a:r>
          </a:p>
        </p:txBody>
      </p:sp>
      <p:sp>
        <p:nvSpPr>
          <p:cNvPr id="11" name="TextBox 10"/>
          <p:cNvSpPr txBox="1"/>
          <p:nvPr/>
        </p:nvSpPr>
        <p:spPr>
          <a:xfrm>
            <a:off x="8763000" y="21082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26</a:t>
            </a:r>
          </a:p>
        </p:txBody>
      </p:sp>
      <p:sp>
        <p:nvSpPr>
          <p:cNvPr id="12" name="TextBox 11"/>
          <p:cNvSpPr txBox="1"/>
          <p:nvPr/>
        </p:nvSpPr>
        <p:spPr>
          <a:xfrm>
            <a:off x="10033000" y="21082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15.0%</a:t>
            </a:r>
          </a:p>
        </p:txBody>
      </p:sp>
      <p:sp>
        <p:nvSpPr>
          <p:cNvPr id="13" name="Rectangle 12"/>
          <p:cNvSpPr/>
          <p:nvPr/>
        </p:nvSpPr>
        <p:spPr>
          <a:xfrm>
            <a:off x="508000" y="23749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000" y="24765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Commercial + Vendor AI + Active + Jira helpers</a:t>
            </a:r>
          </a:p>
        </p:txBody>
      </p:sp>
      <p:sp>
        <p:nvSpPr>
          <p:cNvPr id="15" name="TextBox 14"/>
          <p:cNvSpPr txBox="1"/>
          <p:nvPr/>
        </p:nvSpPr>
        <p:spPr>
          <a:xfrm>
            <a:off x="8763000" y="24765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5</a:t>
            </a:r>
          </a:p>
        </p:txBody>
      </p:sp>
      <p:sp>
        <p:nvSpPr>
          <p:cNvPr id="16" name="TextBox 15"/>
          <p:cNvSpPr txBox="1"/>
          <p:nvPr/>
        </p:nvSpPr>
        <p:spPr>
          <a:xfrm>
            <a:off x="10033000" y="24765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2.9%</a:t>
            </a:r>
          </a:p>
        </p:txBody>
      </p:sp>
      <p:sp>
        <p:nvSpPr>
          <p:cNvPr id="17" name="Rectangle 16"/>
          <p:cNvSpPr/>
          <p:nvPr/>
        </p:nvSpPr>
        <p:spPr>
          <a:xfrm>
            <a:off x="508000" y="27432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000" y="28448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Agentic + In-house + Pilot/Active + No member impact</a:t>
            </a:r>
          </a:p>
        </p:txBody>
      </p:sp>
      <p:sp>
        <p:nvSpPr>
          <p:cNvPr id="19" name="TextBox 18"/>
          <p:cNvSpPr txBox="1"/>
          <p:nvPr/>
        </p:nvSpPr>
        <p:spPr>
          <a:xfrm>
            <a:off x="8763000" y="28448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21</a:t>
            </a:r>
          </a:p>
        </p:txBody>
      </p:sp>
      <p:sp>
        <p:nvSpPr>
          <p:cNvPr id="20" name="TextBox 19"/>
          <p:cNvSpPr txBox="1"/>
          <p:nvPr/>
        </p:nvSpPr>
        <p:spPr>
          <a:xfrm>
            <a:off x="10033000" y="28448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12.1%</a:t>
            </a:r>
          </a:p>
        </p:txBody>
      </p:sp>
      <p:sp>
        <p:nvSpPr>
          <p:cNvPr id="21" name="Rectangle 20"/>
          <p:cNvSpPr/>
          <p:nvPr/>
        </p:nvSpPr>
        <p:spPr>
          <a:xfrm>
            <a:off x="508000" y="31115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000" y="32131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Member impact + Limited oversight + Active + ML</a:t>
            </a:r>
          </a:p>
        </p:txBody>
      </p:sp>
      <p:sp>
        <p:nvSpPr>
          <p:cNvPr id="23" name="TextBox 22"/>
          <p:cNvSpPr txBox="1"/>
          <p:nvPr/>
        </p:nvSpPr>
        <p:spPr>
          <a:xfrm>
            <a:off x="8763000" y="32131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a:t>
            </a:r>
          </a:p>
        </p:txBody>
      </p:sp>
      <p:sp>
        <p:nvSpPr>
          <p:cNvPr id="24" name="TextBox 23"/>
          <p:cNvSpPr txBox="1"/>
          <p:nvPr/>
        </p:nvSpPr>
        <p:spPr>
          <a:xfrm>
            <a:off x="10033000" y="32131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1.2%</a:t>
            </a:r>
          </a:p>
        </p:txBody>
      </p:sp>
      <p:sp>
        <p:nvSpPr>
          <p:cNvPr id="25" name="Rectangle 24"/>
          <p:cNvSpPr/>
          <p:nvPr/>
        </p:nvSpPr>
        <p:spPr>
          <a:xfrm>
            <a:off x="508000" y="34798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000" y="35814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Count-only findings + Pilot/Active</a:t>
            </a:r>
          </a:p>
        </p:txBody>
      </p:sp>
      <p:sp>
        <p:nvSpPr>
          <p:cNvPr id="27" name="TextBox 26"/>
          <p:cNvSpPr txBox="1"/>
          <p:nvPr/>
        </p:nvSpPr>
        <p:spPr>
          <a:xfrm>
            <a:off x="8763000" y="35814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46</a:t>
            </a:r>
          </a:p>
        </p:txBody>
      </p:sp>
      <p:sp>
        <p:nvSpPr>
          <p:cNvPr id="28" name="TextBox 27"/>
          <p:cNvSpPr txBox="1"/>
          <p:nvPr/>
        </p:nvSpPr>
        <p:spPr>
          <a:xfrm>
            <a:off x="10033000" y="35814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26.6%</a:t>
            </a:r>
          </a:p>
        </p:txBody>
      </p:sp>
      <p:sp>
        <p:nvSpPr>
          <p:cNvPr id="29" name="Rectangle 28"/>
          <p:cNvSpPr/>
          <p:nvPr/>
        </p:nvSpPr>
        <p:spPr>
          <a:xfrm>
            <a:off x="508000" y="38481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000" y="39497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PHI/PII selected + Unclassified data + Pilot/Active</a:t>
            </a:r>
          </a:p>
        </p:txBody>
      </p:sp>
      <p:sp>
        <p:nvSpPr>
          <p:cNvPr id="31" name="TextBox 30"/>
          <p:cNvSpPr txBox="1"/>
          <p:nvPr/>
        </p:nvSpPr>
        <p:spPr>
          <a:xfrm>
            <a:off x="8763000" y="39497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9</a:t>
            </a:r>
          </a:p>
        </p:txBody>
      </p:sp>
      <p:sp>
        <p:nvSpPr>
          <p:cNvPr id="32" name="TextBox 31"/>
          <p:cNvSpPr txBox="1"/>
          <p:nvPr/>
        </p:nvSpPr>
        <p:spPr>
          <a:xfrm>
            <a:off x="10033000" y="39497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5.2%</a:t>
            </a:r>
          </a:p>
        </p:txBody>
      </p:sp>
      <p:sp>
        <p:nvSpPr>
          <p:cNvPr id="33" name="Rectangle 32"/>
          <p:cNvSpPr/>
          <p:nvPr/>
        </p:nvSpPr>
        <p:spPr>
          <a:xfrm>
            <a:off x="508000" y="42164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000" y="43180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Test-like name + Active + Agentic + Unknown risk</a:t>
            </a:r>
          </a:p>
        </p:txBody>
      </p:sp>
      <p:sp>
        <p:nvSpPr>
          <p:cNvPr id="35" name="TextBox 34"/>
          <p:cNvSpPr txBox="1"/>
          <p:nvPr/>
        </p:nvSpPr>
        <p:spPr>
          <a:xfrm>
            <a:off x="8763000" y="43180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5</a:t>
            </a:r>
          </a:p>
        </p:txBody>
      </p:sp>
      <p:sp>
        <p:nvSpPr>
          <p:cNvPr id="36" name="TextBox 35"/>
          <p:cNvSpPr txBox="1"/>
          <p:nvPr/>
        </p:nvSpPr>
        <p:spPr>
          <a:xfrm>
            <a:off x="10033000" y="43180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2.9%</a:t>
            </a:r>
          </a:p>
        </p:txBody>
      </p:sp>
      <p:sp>
        <p:nvSpPr>
          <p:cNvPr id="37" name="Rectangle 36"/>
          <p:cNvSpPr/>
          <p:nvPr/>
        </p:nvSpPr>
        <p:spPr>
          <a:xfrm>
            <a:off x="508000" y="45847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000" y="46863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Active + BTS Comms Copilot + Required LLM-count finding</a:t>
            </a:r>
          </a:p>
        </p:txBody>
      </p:sp>
      <p:sp>
        <p:nvSpPr>
          <p:cNvPr id="39" name="TextBox 38"/>
          <p:cNvSpPr txBox="1"/>
          <p:nvPr/>
        </p:nvSpPr>
        <p:spPr>
          <a:xfrm>
            <a:off x="8763000" y="46863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4</a:t>
            </a:r>
          </a:p>
        </p:txBody>
      </p:sp>
      <p:sp>
        <p:nvSpPr>
          <p:cNvPr id="40" name="TextBox 39"/>
          <p:cNvSpPr txBox="1"/>
          <p:nvPr/>
        </p:nvSpPr>
        <p:spPr>
          <a:xfrm>
            <a:off x="10033000" y="46863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2.3%</a:t>
            </a:r>
          </a:p>
        </p:txBody>
      </p:sp>
      <p:sp>
        <p:nvSpPr>
          <p:cNvPr id="41" name="Rectangle 40"/>
          <p:cNvSpPr/>
          <p:nvPr/>
        </p:nvSpPr>
        <p:spPr>
          <a:xfrm>
            <a:off x="508000" y="4953000"/>
            <a:ext cx="11176000" cy="3683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5000" y="50546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LLM Count error + Pilot/Active</a:t>
            </a:r>
          </a:p>
        </p:txBody>
      </p:sp>
      <p:sp>
        <p:nvSpPr>
          <p:cNvPr id="43" name="TextBox 42"/>
          <p:cNvSpPr txBox="1"/>
          <p:nvPr/>
        </p:nvSpPr>
        <p:spPr>
          <a:xfrm>
            <a:off x="8763000" y="50546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49</a:t>
            </a:r>
          </a:p>
        </p:txBody>
      </p:sp>
      <p:sp>
        <p:nvSpPr>
          <p:cNvPr id="44" name="TextBox 43"/>
          <p:cNvSpPr txBox="1"/>
          <p:nvPr/>
        </p:nvSpPr>
        <p:spPr>
          <a:xfrm>
            <a:off x="10033000" y="50546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28.3%</a:t>
            </a:r>
          </a:p>
        </p:txBody>
      </p:sp>
      <p:sp>
        <p:nvSpPr>
          <p:cNvPr id="45" name="Rectangle 44"/>
          <p:cNvSpPr/>
          <p:nvPr/>
        </p:nvSpPr>
        <p:spPr>
          <a:xfrm>
            <a:off x="508000" y="5321300"/>
            <a:ext cx="11176000" cy="3683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5000" y="5422900"/>
            <a:ext cx="7874000" cy="241300"/>
          </a:xfrm>
          <a:prstGeom prst="rect">
            <a:avLst/>
          </a:prstGeom>
          <a:noFill/>
        </p:spPr>
        <p:txBody>
          <a:bodyPr wrap="square" lIns="0" tIns="0" rIns="0" bIns="0" anchor="t">
            <a:spAutoFit/>
          </a:bodyPr>
          <a:lstStyle/>
          <a:p>
            <a:pPr algn="l">
              <a:lnSpc>
                <a:spcPts val="1262"/>
              </a:lnSpc>
              <a:spcBef>
                <a:spcPts val="0"/>
              </a:spcBef>
              <a:spcAft>
                <a:spcPts val="0"/>
              </a:spcAft>
              <a:defRPr sz="1070" b="1">
                <a:solidFill>
                  <a:srgbClr val="F4F7FB"/>
                </a:solidFill>
                <a:latin typeface="Arial"/>
              </a:defRPr>
            </a:pPr>
            <a:r>
              <a:t>Vendor contact gap + Pilot/Active</a:t>
            </a:r>
          </a:p>
        </p:txBody>
      </p:sp>
      <p:sp>
        <p:nvSpPr>
          <p:cNvPr id="47" name="TextBox 46"/>
          <p:cNvSpPr txBox="1"/>
          <p:nvPr/>
        </p:nvSpPr>
        <p:spPr>
          <a:xfrm>
            <a:off x="8763000" y="5422900"/>
            <a:ext cx="1016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13</a:t>
            </a:r>
          </a:p>
        </p:txBody>
      </p:sp>
      <p:sp>
        <p:nvSpPr>
          <p:cNvPr id="48" name="TextBox 47"/>
          <p:cNvSpPr txBox="1"/>
          <p:nvPr/>
        </p:nvSpPr>
        <p:spPr>
          <a:xfrm>
            <a:off x="10033000" y="5422900"/>
            <a:ext cx="1524000" cy="241300"/>
          </a:xfrm>
          <a:prstGeom prst="rect">
            <a:avLst/>
          </a:prstGeom>
          <a:noFill/>
        </p:spPr>
        <p:txBody>
          <a:bodyPr wrap="square" lIns="0" tIns="0" rIns="0" bIns="0" anchor="t">
            <a:spAutoFit/>
          </a:bodyPr>
          <a:lstStyle/>
          <a:p>
            <a:pPr algn="l">
              <a:lnSpc>
                <a:spcPts val="1262"/>
              </a:lnSpc>
              <a:spcBef>
                <a:spcPts val="0"/>
              </a:spcBef>
              <a:spcAft>
                <a:spcPts val="0"/>
              </a:spcAft>
              <a:defRPr sz="1070" b="0">
                <a:solidFill>
                  <a:srgbClr val="ACBED1"/>
                </a:solidFill>
                <a:latin typeface="Arial"/>
              </a:defRPr>
            </a:pPr>
            <a:r>
              <a:t>7.5%</a:t>
            </a:r>
          </a:p>
        </p:txBody>
      </p:sp>
      <p:sp>
        <p:nvSpPr>
          <p:cNvPr id="53" name="TextBox 52"/>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APPENDIX C • BUSINESS LINE AND SOURCE</a:t>
            </a:r>
          </a:p>
        </p:txBody>
      </p:sp>
      <p:sp>
        <p:nvSpPr>
          <p:cNvPr id="4" name="TextBox 3"/>
          <p:cNvSpPr txBox="1"/>
          <p:nvPr/>
        </p:nvSpPr>
        <p:spPr>
          <a:xfrm>
            <a:off x="508000" y="609600"/>
            <a:ext cx="11176000" cy="9398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Business-line source counts as shares of all products</a:t>
            </a:r>
          </a:p>
        </p:txBody>
      </p:sp>
      <p:sp>
        <p:nvSpPr>
          <p:cNvPr id="5" name="Rectangle 4"/>
          <p:cNvSpPr/>
          <p:nvPr/>
        </p:nvSpPr>
        <p:spPr>
          <a:xfrm>
            <a:off x="508000" y="1739900"/>
            <a:ext cx="11176000" cy="393700"/>
          </a:xfrm>
          <a:prstGeom prst="rect">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 y="18415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69DDD0"/>
                </a:solidFill>
                <a:latin typeface="Arial"/>
              </a:defRPr>
            </a:pPr>
            <a:r>
              <a:t>Business line</a:t>
            </a:r>
          </a:p>
        </p:txBody>
      </p:sp>
      <p:sp>
        <p:nvSpPr>
          <p:cNvPr id="7" name="TextBox 6"/>
          <p:cNvSpPr txBox="1"/>
          <p:nvPr/>
        </p:nvSpPr>
        <p:spPr>
          <a:xfrm>
            <a:off x="3492500" y="18415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69DDD0"/>
                </a:solidFill>
                <a:latin typeface="Arial"/>
              </a:defRPr>
            </a:pPr>
            <a:r>
              <a:t>Products</a:t>
            </a:r>
          </a:p>
        </p:txBody>
      </p:sp>
      <p:sp>
        <p:nvSpPr>
          <p:cNvPr id="8" name="TextBox 7"/>
          <p:cNvSpPr txBox="1"/>
          <p:nvPr/>
        </p:nvSpPr>
        <p:spPr>
          <a:xfrm>
            <a:off x="4826000" y="18415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69DDD0"/>
                </a:solidFill>
                <a:latin typeface="Arial"/>
              </a:defRPr>
            </a:pPr>
            <a:r>
              <a:t>In-house</a:t>
            </a:r>
          </a:p>
        </p:txBody>
      </p:sp>
      <p:sp>
        <p:nvSpPr>
          <p:cNvPr id="9" name="TextBox 8"/>
          <p:cNvSpPr txBox="1"/>
          <p:nvPr/>
        </p:nvSpPr>
        <p:spPr>
          <a:xfrm>
            <a:off x="7112000" y="18415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69DDD0"/>
                </a:solidFill>
                <a:latin typeface="Arial"/>
              </a:defRPr>
            </a:pPr>
            <a:r>
              <a:t>Vendor AI</a:t>
            </a:r>
          </a:p>
        </p:txBody>
      </p:sp>
      <p:sp>
        <p:nvSpPr>
          <p:cNvPr id="10" name="TextBox 9"/>
          <p:cNvSpPr txBox="1"/>
          <p:nvPr/>
        </p:nvSpPr>
        <p:spPr>
          <a:xfrm>
            <a:off x="9398000" y="18415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69DDD0"/>
                </a:solidFill>
                <a:latin typeface="Arial"/>
              </a:defRPr>
            </a:pPr>
            <a:r>
              <a:t>Unclassified</a:t>
            </a:r>
          </a:p>
        </p:txBody>
      </p:sp>
      <p:sp>
        <p:nvSpPr>
          <p:cNvPr id="11" name="Rectangle 10"/>
          <p:cNvSpPr/>
          <p:nvPr/>
        </p:nvSpPr>
        <p:spPr>
          <a:xfrm>
            <a:off x="508000" y="2133600"/>
            <a:ext cx="11176000" cy="3937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5000" y="22352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Medicaid</a:t>
            </a:r>
          </a:p>
        </p:txBody>
      </p:sp>
      <p:sp>
        <p:nvSpPr>
          <p:cNvPr id="13" name="TextBox 12"/>
          <p:cNvSpPr txBox="1"/>
          <p:nvPr/>
        </p:nvSpPr>
        <p:spPr>
          <a:xfrm>
            <a:off x="3492500" y="22352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60</a:t>
            </a:r>
          </a:p>
        </p:txBody>
      </p:sp>
      <p:sp>
        <p:nvSpPr>
          <p:cNvPr id="14" name="TextBox 13"/>
          <p:cNvSpPr txBox="1"/>
          <p:nvPr/>
        </p:nvSpPr>
        <p:spPr>
          <a:xfrm>
            <a:off x="4826000" y="22352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31 (17.9%)</a:t>
            </a:r>
          </a:p>
        </p:txBody>
      </p:sp>
      <p:sp>
        <p:nvSpPr>
          <p:cNvPr id="15" name="TextBox 14"/>
          <p:cNvSpPr txBox="1"/>
          <p:nvPr/>
        </p:nvSpPr>
        <p:spPr>
          <a:xfrm>
            <a:off x="7112000" y="22352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25 (14.5%)</a:t>
            </a:r>
          </a:p>
        </p:txBody>
      </p:sp>
      <p:sp>
        <p:nvSpPr>
          <p:cNvPr id="16" name="TextBox 15"/>
          <p:cNvSpPr txBox="1"/>
          <p:nvPr/>
        </p:nvSpPr>
        <p:spPr>
          <a:xfrm>
            <a:off x="9398000" y="22352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4 (2.3%)</a:t>
            </a:r>
          </a:p>
        </p:txBody>
      </p:sp>
      <p:sp>
        <p:nvSpPr>
          <p:cNvPr id="17" name="Rectangle 16"/>
          <p:cNvSpPr/>
          <p:nvPr/>
        </p:nvSpPr>
        <p:spPr>
          <a:xfrm>
            <a:off x="508000" y="2527300"/>
            <a:ext cx="11176000" cy="3937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000" y="26289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Medicare</a:t>
            </a:r>
          </a:p>
        </p:txBody>
      </p:sp>
      <p:sp>
        <p:nvSpPr>
          <p:cNvPr id="19" name="TextBox 18"/>
          <p:cNvSpPr txBox="1"/>
          <p:nvPr/>
        </p:nvSpPr>
        <p:spPr>
          <a:xfrm>
            <a:off x="3492500" y="26289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68</a:t>
            </a:r>
          </a:p>
        </p:txBody>
      </p:sp>
      <p:sp>
        <p:nvSpPr>
          <p:cNvPr id="20" name="TextBox 19"/>
          <p:cNvSpPr txBox="1"/>
          <p:nvPr/>
        </p:nvSpPr>
        <p:spPr>
          <a:xfrm>
            <a:off x="4826000" y="26289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32 (18.5%)</a:t>
            </a:r>
          </a:p>
        </p:txBody>
      </p:sp>
      <p:sp>
        <p:nvSpPr>
          <p:cNvPr id="21" name="TextBox 20"/>
          <p:cNvSpPr txBox="1"/>
          <p:nvPr/>
        </p:nvSpPr>
        <p:spPr>
          <a:xfrm>
            <a:off x="7112000" y="26289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32 (18.5%)</a:t>
            </a:r>
          </a:p>
        </p:txBody>
      </p:sp>
      <p:sp>
        <p:nvSpPr>
          <p:cNvPr id="22" name="TextBox 21"/>
          <p:cNvSpPr txBox="1"/>
          <p:nvPr/>
        </p:nvSpPr>
        <p:spPr>
          <a:xfrm>
            <a:off x="9398000" y="26289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4 (2.3%)</a:t>
            </a:r>
          </a:p>
        </p:txBody>
      </p:sp>
      <p:sp>
        <p:nvSpPr>
          <p:cNvPr id="23" name="Rectangle 22"/>
          <p:cNvSpPr/>
          <p:nvPr/>
        </p:nvSpPr>
        <p:spPr>
          <a:xfrm>
            <a:off x="508000" y="2921000"/>
            <a:ext cx="11176000" cy="3937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5000" y="30226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Marketplace</a:t>
            </a:r>
          </a:p>
        </p:txBody>
      </p:sp>
      <p:sp>
        <p:nvSpPr>
          <p:cNvPr id="25" name="TextBox 24"/>
          <p:cNvSpPr txBox="1"/>
          <p:nvPr/>
        </p:nvSpPr>
        <p:spPr>
          <a:xfrm>
            <a:off x="3492500" y="30226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50</a:t>
            </a:r>
          </a:p>
        </p:txBody>
      </p:sp>
      <p:sp>
        <p:nvSpPr>
          <p:cNvPr id="26" name="TextBox 25"/>
          <p:cNvSpPr txBox="1"/>
          <p:nvPr/>
        </p:nvSpPr>
        <p:spPr>
          <a:xfrm>
            <a:off x="4826000" y="30226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24 (13.9%)</a:t>
            </a:r>
          </a:p>
        </p:txBody>
      </p:sp>
      <p:sp>
        <p:nvSpPr>
          <p:cNvPr id="27" name="TextBox 26"/>
          <p:cNvSpPr txBox="1"/>
          <p:nvPr/>
        </p:nvSpPr>
        <p:spPr>
          <a:xfrm>
            <a:off x="7112000" y="30226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22 (12.7%)</a:t>
            </a:r>
          </a:p>
        </p:txBody>
      </p:sp>
      <p:sp>
        <p:nvSpPr>
          <p:cNvPr id="28" name="TextBox 27"/>
          <p:cNvSpPr txBox="1"/>
          <p:nvPr/>
        </p:nvSpPr>
        <p:spPr>
          <a:xfrm>
            <a:off x="9398000" y="30226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4 (2.3%)</a:t>
            </a:r>
          </a:p>
        </p:txBody>
      </p:sp>
      <p:sp>
        <p:nvSpPr>
          <p:cNvPr id="29" name="Rectangle 28"/>
          <p:cNvSpPr/>
          <p:nvPr/>
        </p:nvSpPr>
        <p:spPr>
          <a:xfrm>
            <a:off x="508000" y="3314700"/>
            <a:ext cx="11176000" cy="3937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000" y="34163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Commercial</a:t>
            </a:r>
          </a:p>
        </p:txBody>
      </p:sp>
      <p:sp>
        <p:nvSpPr>
          <p:cNvPr id="31" name="TextBox 30"/>
          <p:cNvSpPr txBox="1"/>
          <p:nvPr/>
        </p:nvSpPr>
        <p:spPr>
          <a:xfrm>
            <a:off x="3492500" y="34163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40</a:t>
            </a:r>
          </a:p>
        </p:txBody>
      </p:sp>
      <p:sp>
        <p:nvSpPr>
          <p:cNvPr id="32" name="TextBox 31"/>
          <p:cNvSpPr txBox="1"/>
          <p:nvPr/>
        </p:nvSpPr>
        <p:spPr>
          <a:xfrm>
            <a:off x="4826000" y="34163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15 (8.7%)</a:t>
            </a:r>
          </a:p>
        </p:txBody>
      </p:sp>
      <p:sp>
        <p:nvSpPr>
          <p:cNvPr id="33" name="TextBox 32"/>
          <p:cNvSpPr txBox="1"/>
          <p:nvPr/>
        </p:nvSpPr>
        <p:spPr>
          <a:xfrm>
            <a:off x="7112000" y="34163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24 (13.9%)</a:t>
            </a:r>
          </a:p>
        </p:txBody>
      </p:sp>
      <p:sp>
        <p:nvSpPr>
          <p:cNvPr id="34" name="TextBox 33"/>
          <p:cNvSpPr txBox="1"/>
          <p:nvPr/>
        </p:nvSpPr>
        <p:spPr>
          <a:xfrm>
            <a:off x="9398000" y="34163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 (0.6%)</a:t>
            </a:r>
          </a:p>
        </p:txBody>
      </p:sp>
      <p:sp>
        <p:nvSpPr>
          <p:cNvPr id="35" name="Rectangle 34"/>
          <p:cNvSpPr/>
          <p:nvPr/>
        </p:nvSpPr>
        <p:spPr>
          <a:xfrm>
            <a:off x="508000" y="3708400"/>
            <a:ext cx="11176000" cy="3937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5000" y="38100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Employer Groups</a:t>
            </a:r>
          </a:p>
        </p:txBody>
      </p:sp>
      <p:sp>
        <p:nvSpPr>
          <p:cNvPr id="37" name="TextBox 36"/>
          <p:cNvSpPr txBox="1"/>
          <p:nvPr/>
        </p:nvSpPr>
        <p:spPr>
          <a:xfrm>
            <a:off x="3492500" y="38100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15</a:t>
            </a:r>
          </a:p>
        </p:txBody>
      </p:sp>
      <p:sp>
        <p:nvSpPr>
          <p:cNvPr id="38" name="TextBox 37"/>
          <p:cNvSpPr txBox="1"/>
          <p:nvPr/>
        </p:nvSpPr>
        <p:spPr>
          <a:xfrm>
            <a:off x="4826000" y="38100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6 (3.5%)</a:t>
            </a:r>
          </a:p>
        </p:txBody>
      </p:sp>
      <p:sp>
        <p:nvSpPr>
          <p:cNvPr id="39" name="TextBox 38"/>
          <p:cNvSpPr txBox="1"/>
          <p:nvPr/>
        </p:nvSpPr>
        <p:spPr>
          <a:xfrm>
            <a:off x="7112000" y="38100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8 (4.6%)</a:t>
            </a:r>
          </a:p>
        </p:txBody>
      </p:sp>
      <p:sp>
        <p:nvSpPr>
          <p:cNvPr id="40" name="TextBox 39"/>
          <p:cNvSpPr txBox="1"/>
          <p:nvPr/>
        </p:nvSpPr>
        <p:spPr>
          <a:xfrm>
            <a:off x="9398000" y="38100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 (0.6%)</a:t>
            </a:r>
          </a:p>
        </p:txBody>
      </p:sp>
      <p:sp>
        <p:nvSpPr>
          <p:cNvPr id="41" name="Rectangle 40"/>
          <p:cNvSpPr/>
          <p:nvPr/>
        </p:nvSpPr>
        <p:spPr>
          <a:xfrm>
            <a:off x="508000" y="4102100"/>
            <a:ext cx="11176000" cy="3937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5000" y="42037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Pharmacy</a:t>
            </a:r>
          </a:p>
        </p:txBody>
      </p:sp>
      <p:sp>
        <p:nvSpPr>
          <p:cNvPr id="43" name="TextBox 42"/>
          <p:cNvSpPr txBox="1"/>
          <p:nvPr/>
        </p:nvSpPr>
        <p:spPr>
          <a:xfrm>
            <a:off x="3492500" y="42037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13</a:t>
            </a:r>
          </a:p>
        </p:txBody>
      </p:sp>
      <p:sp>
        <p:nvSpPr>
          <p:cNvPr id="44" name="TextBox 43"/>
          <p:cNvSpPr txBox="1"/>
          <p:nvPr/>
        </p:nvSpPr>
        <p:spPr>
          <a:xfrm>
            <a:off x="4826000" y="42037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4 (2.3%)</a:t>
            </a:r>
          </a:p>
        </p:txBody>
      </p:sp>
      <p:sp>
        <p:nvSpPr>
          <p:cNvPr id="45" name="TextBox 44"/>
          <p:cNvSpPr txBox="1"/>
          <p:nvPr/>
        </p:nvSpPr>
        <p:spPr>
          <a:xfrm>
            <a:off x="7112000" y="42037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8 (4.6%)</a:t>
            </a:r>
          </a:p>
        </p:txBody>
      </p:sp>
      <p:sp>
        <p:nvSpPr>
          <p:cNvPr id="46" name="TextBox 45"/>
          <p:cNvSpPr txBox="1"/>
          <p:nvPr/>
        </p:nvSpPr>
        <p:spPr>
          <a:xfrm>
            <a:off x="9398000" y="42037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 (0.6%)</a:t>
            </a:r>
          </a:p>
        </p:txBody>
      </p:sp>
      <p:sp>
        <p:nvSpPr>
          <p:cNvPr id="47" name="Rectangle 46"/>
          <p:cNvSpPr/>
          <p:nvPr/>
        </p:nvSpPr>
        <p:spPr>
          <a:xfrm>
            <a:off x="508000" y="4495800"/>
            <a:ext cx="11176000" cy="3937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5000" y="45974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None</a:t>
            </a:r>
          </a:p>
        </p:txBody>
      </p:sp>
      <p:sp>
        <p:nvSpPr>
          <p:cNvPr id="49" name="TextBox 48"/>
          <p:cNvSpPr txBox="1"/>
          <p:nvPr/>
        </p:nvSpPr>
        <p:spPr>
          <a:xfrm>
            <a:off x="3492500" y="45974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31</a:t>
            </a:r>
          </a:p>
        </p:txBody>
      </p:sp>
      <p:sp>
        <p:nvSpPr>
          <p:cNvPr id="50" name="TextBox 49"/>
          <p:cNvSpPr txBox="1"/>
          <p:nvPr/>
        </p:nvSpPr>
        <p:spPr>
          <a:xfrm>
            <a:off x="4826000" y="45974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17 (9.8%)</a:t>
            </a:r>
          </a:p>
        </p:txBody>
      </p:sp>
      <p:sp>
        <p:nvSpPr>
          <p:cNvPr id="51" name="TextBox 50"/>
          <p:cNvSpPr txBox="1"/>
          <p:nvPr/>
        </p:nvSpPr>
        <p:spPr>
          <a:xfrm>
            <a:off x="7112000" y="45974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11 (6.4%)</a:t>
            </a:r>
          </a:p>
        </p:txBody>
      </p:sp>
      <p:sp>
        <p:nvSpPr>
          <p:cNvPr id="52" name="TextBox 51"/>
          <p:cNvSpPr txBox="1"/>
          <p:nvPr/>
        </p:nvSpPr>
        <p:spPr>
          <a:xfrm>
            <a:off x="9398000" y="45974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 (1.7%)</a:t>
            </a:r>
          </a:p>
        </p:txBody>
      </p:sp>
      <p:sp>
        <p:nvSpPr>
          <p:cNvPr id="53" name="Rectangle 52"/>
          <p:cNvSpPr/>
          <p:nvPr/>
        </p:nvSpPr>
        <p:spPr>
          <a:xfrm>
            <a:off x="508000" y="4889500"/>
            <a:ext cx="11176000" cy="3937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5000" y="49911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Invalid</a:t>
            </a:r>
          </a:p>
        </p:txBody>
      </p:sp>
      <p:sp>
        <p:nvSpPr>
          <p:cNvPr id="55" name="TextBox 54"/>
          <p:cNvSpPr txBox="1"/>
          <p:nvPr/>
        </p:nvSpPr>
        <p:spPr>
          <a:xfrm>
            <a:off x="3492500" y="49911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5</a:t>
            </a:r>
          </a:p>
        </p:txBody>
      </p:sp>
      <p:sp>
        <p:nvSpPr>
          <p:cNvPr id="56" name="TextBox 55"/>
          <p:cNvSpPr txBox="1"/>
          <p:nvPr/>
        </p:nvSpPr>
        <p:spPr>
          <a:xfrm>
            <a:off x="4826000" y="49911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 (0.6%)</a:t>
            </a:r>
          </a:p>
        </p:txBody>
      </p:sp>
      <p:sp>
        <p:nvSpPr>
          <p:cNvPr id="57" name="TextBox 56"/>
          <p:cNvSpPr txBox="1"/>
          <p:nvPr/>
        </p:nvSpPr>
        <p:spPr>
          <a:xfrm>
            <a:off x="7112000" y="49911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 (1.7%)</a:t>
            </a:r>
          </a:p>
        </p:txBody>
      </p:sp>
      <p:sp>
        <p:nvSpPr>
          <p:cNvPr id="58" name="TextBox 57"/>
          <p:cNvSpPr txBox="1"/>
          <p:nvPr/>
        </p:nvSpPr>
        <p:spPr>
          <a:xfrm>
            <a:off x="9398000" y="49911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 (0.6%)</a:t>
            </a:r>
          </a:p>
        </p:txBody>
      </p:sp>
      <p:sp>
        <p:nvSpPr>
          <p:cNvPr id="59" name="Rectangle 58"/>
          <p:cNvSpPr/>
          <p:nvPr/>
        </p:nvSpPr>
        <p:spPr>
          <a:xfrm>
            <a:off x="508000" y="5283200"/>
            <a:ext cx="11176000" cy="3937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35000" y="5384800"/>
            <a:ext cx="2603500" cy="266700"/>
          </a:xfrm>
          <a:prstGeom prst="rect">
            <a:avLst/>
          </a:prstGeom>
          <a:noFill/>
        </p:spPr>
        <p:txBody>
          <a:bodyPr wrap="none" lIns="0" tIns="0" rIns="0" bIns="0" anchor="t">
            <a:spAutoFit/>
          </a:bodyPr>
          <a:lstStyle/>
          <a:p>
            <a:pPr algn="l">
              <a:lnSpc>
                <a:spcPts val="1321"/>
              </a:lnSpc>
              <a:spcBef>
                <a:spcPts val="0"/>
              </a:spcBef>
              <a:spcAft>
                <a:spcPts val="0"/>
              </a:spcAft>
              <a:defRPr sz="1120" b="1">
                <a:solidFill>
                  <a:srgbClr val="F4F7FB"/>
                </a:solidFill>
                <a:latin typeface="Arial"/>
              </a:defRPr>
            </a:pPr>
            <a:r>
              <a:t>Unclassified</a:t>
            </a:r>
          </a:p>
        </p:txBody>
      </p:sp>
      <p:sp>
        <p:nvSpPr>
          <p:cNvPr id="61" name="TextBox 60"/>
          <p:cNvSpPr txBox="1"/>
          <p:nvPr/>
        </p:nvSpPr>
        <p:spPr>
          <a:xfrm>
            <a:off x="3492500" y="5384800"/>
            <a:ext cx="10795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36</a:t>
            </a:r>
          </a:p>
        </p:txBody>
      </p:sp>
      <p:sp>
        <p:nvSpPr>
          <p:cNvPr id="62" name="TextBox 61"/>
          <p:cNvSpPr txBox="1"/>
          <p:nvPr/>
        </p:nvSpPr>
        <p:spPr>
          <a:xfrm>
            <a:off x="4826000" y="53848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13 (7.5%)</a:t>
            </a:r>
          </a:p>
        </p:txBody>
      </p:sp>
      <p:sp>
        <p:nvSpPr>
          <p:cNvPr id="63" name="TextBox 62"/>
          <p:cNvSpPr txBox="1"/>
          <p:nvPr/>
        </p:nvSpPr>
        <p:spPr>
          <a:xfrm>
            <a:off x="7112000" y="5384800"/>
            <a:ext cx="2032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18 (10.4%)</a:t>
            </a:r>
          </a:p>
        </p:txBody>
      </p:sp>
      <p:sp>
        <p:nvSpPr>
          <p:cNvPr id="64" name="TextBox 63"/>
          <p:cNvSpPr txBox="1"/>
          <p:nvPr/>
        </p:nvSpPr>
        <p:spPr>
          <a:xfrm>
            <a:off x="9398000" y="5384800"/>
            <a:ext cx="2159000" cy="266700"/>
          </a:xfrm>
          <a:prstGeom prst="rect">
            <a:avLst/>
          </a:prstGeom>
          <a:noFill/>
        </p:spPr>
        <p:txBody>
          <a:bodyPr wrap="none" lIns="0" tIns="0" rIns="0" bIns="0" anchor="t">
            <a:spAutoFit/>
          </a:bodyPr>
          <a:lstStyle/>
          <a:p>
            <a:pPr algn="l">
              <a:lnSpc>
                <a:spcPts val="1321"/>
              </a:lnSpc>
              <a:spcBef>
                <a:spcPts val="0"/>
              </a:spcBef>
              <a:spcAft>
                <a:spcPts val="0"/>
              </a:spcAft>
              <a:defRPr sz="1120" b="0">
                <a:solidFill>
                  <a:srgbClr val="ACBED1"/>
                </a:solidFill>
                <a:latin typeface="Arial"/>
              </a:defRPr>
            </a:pPr>
            <a:r>
              <a:t>5 (2.9%)</a:t>
            </a:r>
          </a:p>
        </p:txBody>
      </p:sp>
      <p:sp>
        <p:nvSpPr>
          <p:cNvPr id="69" name="TextBox 68"/>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APPENDIX D • INTERPRETING DATA-QUALITY SIGNALS</a:t>
            </a:r>
          </a:p>
        </p:txBody>
      </p:sp>
      <p:sp>
        <p:nvSpPr>
          <p:cNvPr id="4" name="TextBox 3"/>
          <p:cNvSpPr txBox="1"/>
          <p:nvPr/>
        </p:nvSpPr>
        <p:spPr>
          <a:xfrm>
            <a:off x="508000" y="609600"/>
            <a:ext cx="11176000" cy="939800"/>
          </a:xfrm>
          <a:prstGeom prst="rect">
            <a:avLst/>
          </a:prstGeom>
          <a:noFill/>
        </p:spPr>
        <p:txBody>
          <a:bodyPr wrap="square" lIns="0" tIns="0" rIns="0" bIns="0" anchor="t">
            <a:spAutoFit/>
          </a:bodyPr>
          <a:lstStyle/>
          <a:p>
            <a:pPr algn="l">
              <a:lnSpc>
                <a:spcPts val="3422"/>
              </a:lnSpc>
              <a:spcBef>
                <a:spcPts val="0"/>
              </a:spcBef>
              <a:spcAft>
                <a:spcPts val="0"/>
              </a:spcAft>
              <a:defRPr sz="2900" b="1">
                <a:solidFill>
                  <a:srgbClr val="F4F7FB"/>
                </a:solidFill>
                <a:latin typeface="Arial"/>
              </a:defRPr>
            </a:pPr>
            <a:r>
              <a:t>A clean form still needs a credible product record</a:t>
            </a:r>
          </a:p>
        </p:txBody>
      </p:sp>
      <p:sp>
        <p:nvSpPr>
          <p:cNvPr id="5" name="Rounded Rectangle 4"/>
          <p:cNvSpPr/>
          <p:nvPr/>
        </p:nvSpPr>
        <p:spPr>
          <a:xfrm>
            <a:off x="508000" y="1765300"/>
            <a:ext cx="5334000" cy="2451100"/>
          </a:xfrm>
          <a:prstGeom prst="roundRect">
            <a:avLst>
              <a:gd name="adj" fmla="val 4145"/>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6600" y="1981200"/>
            <a:ext cx="4876800" cy="3810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F3C779"/>
                </a:solidFill>
                <a:latin typeface="Arial"/>
              </a:defRPr>
            </a:pPr>
            <a:r>
              <a:t>PLACEHOLDER ID FLAGS</a:t>
            </a:r>
          </a:p>
        </p:txBody>
      </p:sp>
      <p:sp>
        <p:nvSpPr>
          <p:cNvPr id="7" name="TextBox 6"/>
          <p:cNvSpPr txBox="1"/>
          <p:nvPr/>
        </p:nvSpPr>
        <p:spPr>
          <a:xfrm>
            <a:off x="736600" y="2425700"/>
            <a:ext cx="4876800" cy="838200"/>
          </a:xfrm>
          <a:prstGeom prst="rect">
            <a:avLst/>
          </a:prstGeom>
          <a:noFill/>
        </p:spPr>
        <p:txBody>
          <a:bodyPr wrap="none" lIns="0" tIns="0" rIns="0" bIns="0" anchor="t">
            <a:spAutoFit/>
          </a:bodyPr>
          <a:lstStyle/>
          <a:p>
            <a:pPr algn="l">
              <a:lnSpc>
                <a:spcPts val="5073"/>
              </a:lnSpc>
              <a:spcBef>
                <a:spcPts val="0"/>
              </a:spcBef>
              <a:spcAft>
                <a:spcPts val="0"/>
              </a:spcAft>
              <a:defRPr sz="4300" b="1">
                <a:solidFill>
                  <a:srgbClr val="F4F7FB"/>
                </a:solidFill>
                <a:latin typeface="Arial"/>
              </a:defRPr>
            </a:pPr>
            <a:r>
              <a:t>5 · 2.9%</a:t>
            </a:r>
          </a:p>
        </p:txBody>
      </p:sp>
      <p:sp>
        <p:nvSpPr>
          <p:cNvPr id="8" name="TextBox 7"/>
          <p:cNvSpPr txBox="1"/>
          <p:nvPr/>
        </p:nvSpPr>
        <p:spPr>
          <a:xfrm>
            <a:off x="736600" y="3327400"/>
            <a:ext cx="4876800" cy="711200"/>
          </a:xfrm>
          <a:prstGeom prst="rect">
            <a:avLst/>
          </a:prstGeom>
          <a:noFill/>
        </p:spPr>
        <p:txBody>
          <a:bodyPr wrap="square" lIns="0" tIns="0" rIns="0" bIns="0" anchor="t">
            <a:spAutoFit/>
          </a:bodyPr>
          <a:lstStyle/>
          <a:p>
            <a:pPr algn="l">
              <a:lnSpc>
                <a:spcPts val="1770"/>
              </a:lnSpc>
              <a:spcBef>
                <a:spcPts val="0"/>
              </a:spcBef>
              <a:spcAft>
                <a:spcPts val="0"/>
              </a:spcAft>
              <a:defRPr sz="1500" b="0">
                <a:solidFill>
                  <a:srgbClr val="ACBED1"/>
                </a:solidFill>
                <a:latin typeface="Arial"/>
              </a:defRPr>
            </a:pPr>
            <a:r>
              <a:t>Confirm placeholder meaning before merging products.</a:t>
            </a:r>
          </a:p>
        </p:txBody>
      </p:sp>
      <p:sp>
        <p:nvSpPr>
          <p:cNvPr id="9" name="Rounded Rectangle 8"/>
          <p:cNvSpPr/>
          <p:nvPr/>
        </p:nvSpPr>
        <p:spPr>
          <a:xfrm>
            <a:off x="6146800" y="1765300"/>
            <a:ext cx="5537200" cy="2451100"/>
          </a:xfrm>
          <a:prstGeom prst="roundRect">
            <a:avLst>
              <a:gd name="adj" fmla="val 4145"/>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5400" y="1981200"/>
            <a:ext cx="5080000" cy="3810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8BB9F4"/>
                </a:solidFill>
                <a:latin typeface="Arial"/>
              </a:defRPr>
            </a:pPr>
            <a:r>
              <a:t>OTHER REPEATED IDENTIFIER</a:t>
            </a:r>
          </a:p>
        </p:txBody>
      </p:sp>
      <p:sp>
        <p:nvSpPr>
          <p:cNvPr id="11" name="TextBox 10"/>
          <p:cNvSpPr txBox="1"/>
          <p:nvPr/>
        </p:nvSpPr>
        <p:spPr>
          <a:xfrm>
            <a:off x="6375400" y="2425700"/>
            <a:ext cx="5080000" cy="838200"/>
          </a:xfrm>
          <a:prstGeom prst="rect">
            <a:avLst/>
          </a:prstGeom>
          <a:noFill/>
        </p:spPr>
        <p:txBody>
          <a:bodyPr wrap="none" lIns="0" tIns="0" rIns="0" bIns="0" anchor="t">
            <a:spAutoFit/>
          </a:bodyPr>
          <a:lstStyle/>
          <a:p>
            <a:pPr algn="l">
              <a:lnSpc>
                <a:spcPts val="5073"/>
              </a:lnSpc>
              <a:spcBef>
                <a:spcPts val="0"/>
              </a:spcBef>
              <a:spcAft>
                <a:spcPts val="0"/>
              </a:spcAft>
              <a:defRPr sz="4300" b="1">
                <a:solidFill>
                  <a:srgbClr val="F4F7FB"/>
                </a:solidFill>
                <a:latin typeface="Arial"/>
              </a:defRPr>
            </a:pPr>
            <a:r>
              <a:t>2 · 1.2%</a:t>
            </a:r>
          </a:p>
        </p:txBody>
      </p:sp>
      <p:sp>
        <p:nvSpPr>
          <p:cNvPr id="12" name="TextBox 11"/>
          <p:cNvSpPr txBox="1"/>
          <p:nvPr/>
        </p:nvSpPr>
        <p:spPr>
          <a:xfrm>
            <a:off x="6375400" y="3327400"/>
            <a:ext cx="5080000" cy="711200"/>
          </a:xfrm>
          <a:prstGeom prst="rect">
            <a:avLst/>
          </a:prstGeom>
          <a:noFill/>
        </p:spPr>
        <p:txBody>
          <a:bodyPr wrap="square" lIns="0" tIns="0" rIns="0" bIns="0" anchor="t">
            <a:spAutoFit/>
          </a:bodyPr>
          <a:lstStyle/>
          <a:p>
            <a:pPr algn="l">
              <a:lnSpc>
                <a:spcPts val="1770"/>
              </a:lnSpc>
              <a:spcBef>
                <a:spcPts val="0"/>
              </a:spcBef>
              <a:spcAft>
                <a:spcPts val="0"/>
              </a:spcAft>
              <a:defRPr sz="1500" b="0">
                <a:solidFill>
                  <a:srgbClr val="ACBED1"/>
                </a:solidFill>
                <a:latin typeface="Arial"/>
              </a:defRPr>
            </a:pPr>
            <a:r>
              <a:t>Reconcile IDs before assuming duplicate products.</a:t>
            </a:r>
          </a:p>
        </p:txBody>
      </p:sp>
      <p:sp>
        <p:nvSpPr>
          <p:cNvPr id="13" name="Rounded Rectangle 12"/>
          <p:cNvSpPr/>
          <p:nvPr/>
        </p:nvSpPr>
        <p:spPr>
          <a:xfrm>
            <a:off x="1547585" y="4597400"/>
            <a:ext cx="9096828" cy="1244600"/>
          </a:xfrm>
          <a:prstGeom prst="roundRect">
            <a:avLst>
              <a:gd name="adj" fmla="val 3061"/>
            </a:avLst>
          </a:prstGeom>
          <a:solidFill>
            <a:srgbClr val="0F1928"/>
          </a:solidFill>
          <a:ln w="7620">
            <a:solidFill>
              <a:srgbClr val="2A40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d-placeholder-example.png"/>
          <p:cNvPicPr>
            <a:picLocks noChangeAspect="1"/>
          </p:cNvPicPr>
          <p:nvPr/>
        </p:nvPicPr>
        <p:blipFill>
          <a:blip r:embed="rId3"/>
          <a:stretch>
            <a:fillRect/>
          </a:stretch>
        </p:blipFill>
        <p:spPr>
          <a:xfrm>
            <a:off x="1585685" y="4635500"/>
            <a:ext cx="9020628" cy="1168400"/>
          </a:xfrm>
          <a:prstGeom prst="rect">
            <a:avLst/>
          </a:prstGeom>
        </p:spPr>
      </p:pic>
      <p:sp>
        <p:nvSpPr>
          <p:cNvPr id="15" name="TextBox 14"/>
          <p:cNvSpPr txBox="1"/>
          <p:nvPr/>
        </p:nvSpPr>
        <p:spPr>
          <a:xfrm>
            <a:off x="508000" y="4419600"/>
            <a:ext cx="11176000" cy="165100"/>
          </a:xfrm>
          <a:prstGeom prst="rect">
            <a:avLst/>
          </a:prstGeom>
          <a:noFill/>
        </p:spPr>
        <p:txBody>
          <a:bodyPr wrap="none" lIns="0" tIns="0" rIns="0" bIns="0" anchor="t">
            <a:spAutoFit/>
          </a:bodyPr>
          <a:lstStyle/>
          <a:p>
            <a:pPr algn="l">
              <a:lnSpc>
                <a:spcPts val="1002"/>
              </a:lnSpc>
              <a:spcBef>
                <a:spcPts val="0"/>
              </a:spcBef>
              <a:spcAft>
                <a:spcPts val="0"/>
              </a:spcAft>
              <a:defRPr sz="850" b="1">
                <a:solidFill>
                  <a:srgbClr val="ACBED1"/>
                </a:solidFill>
                <a:latin typeface="Arial"/>
              </a:defRPr>
            </a:pPr>
            <a:r>
              <a:t>ACTUAL APP CAPTURE</a:t>
            </a:r>
          </a:p>
        </p:txBody>
      </p:sp>
      <p:sp>
        <p:nvSpPr>
          <p:cNvPr id="20" name="TextBox 19"/>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C1524"/>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0800"/>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8000" y="292100"/>
            <a:ext cx="10541000" cy="228600"/>
          </a:xfrm>
          <a:prstGeom prst="rect">
            <a:avLst/>
          </a:prstGeom>
          <a:noFill/>
        </p:spPr>
        <p:txBody>
          <a:bodyPr wrap="none" lIns="0" tIns="0" rIns="0" bIns="0" anchor="t">
            <a:spAutoFit/>
          </a:bodyPr>
          <a:lstStyle/>
          <a:p>
            <a:pPr algn="l">
              <a:lnSpc>
                <a:spcPts val="1180"/>
              </a:lnSpc>
              <a:spcBef>
                <a:spcPts val="0"/>
              </a:spcBef>
              <a:spcAft>
                <a:spcPts val="0"/>
              </a:spcAft>
              <a:defRPr sz="1000" b="1">
                <a:solidFill>
                  <a:srgbClr val="69DDD0"/>
                </a:solidFill>
                <a:latin typeface="Arial"/>
              </a:defRPr>
            </a:pPr>
            <a:r>
              <a:t>APPENDIX E • EVIDENCE AND REPRODUCTION</a:t>
            </a:r>
          </a:p>
        </p:txBody>
      </p:sp>
      <p:sp>
        <p:nvSpPr>
          <p:cNvPr id="4" name="TextBox 3"/>
          <p:cNvSpPr txBox="1"/>
          <p:nvPr/>
        </p:nvSpPr>
        <p:spPr>
          <a:xfrm>
            <a:off x="508000" y="609600"/>
            <a:ext cx="11176000" cy="93980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F4F7FB"/>
                </a:solidFill>
                <a:latin typeface="Arial"/>
              </a:defRPr>
            </a:pPr>
            <a:r>
              <a:t>Reproduce the product intersections in the app</a:t>
            </a:r>
          </a:p>
        </p:txBody>
      </p:sp>
      <p:sp>
        <p:nvSpPr>
          <p:cNvPr id="5" name="Rectangle 4"/>
          <p:cNvSpPr/>
          <p:nvPr/>
        </p:nvSpPr>
        <p:spPr>
          <a:xfrm>
            <a:off x="508000" y="1739900"/>
            <a:ext cx="11176000" cy="457200"/>
          </a:xfrm>
          <a:prstGeom prst="rect">
            <a:avLst/>
          </a:prstGeom>
          <a:solidFill>
            <a:srgbClr val="1C3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 y="18415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69DDD0"/>
                </a:solidFill>
                <a:latin typeface="Arial"/>
              </a:defRPr>
            </a:pPr>
            <a:r>
              <a:t>View</a:t>
            </a:r>
          </a:p>
        </p:txBody>
      </p:sp>
      <p:sp>
        <p:nvSpPr>
          <p:cNvPr id="7" name="TextBox 6"/>
          <p:cNvSpPr txBox="1"/>
          <p:nvPr/>
        </p:nvSpPr>
        <p:spPr>
          <a:xfrm>
            <a:off x="2984500" y="18415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69DDD0"/>
                </a:solidFill>
                <a:latin typeface="Arial"/>
              </a:defRPr>
            </a:pPr>
            <a:r>
              <a:t>Ordered fields</a:t>
            </a:r>
          </a:p>
        </p:txBody>
      </p:sp>
      <p:sp>
        <p:nvSpPr>
          <p:cNvPr id="8" name="TextBox 7"/>
          <p:cNvSpPr txBox="1"/>
          <p:nvPr/>
        </p:nvSpPr>
        <p:spPr>
          <a:xfrm>
            <a:off x="9334500" y="18415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69DDD0"/>
                </a:solidFill>
                <a:latin typeface="Arial"/>
              </a:defRPr>
            </a:pPr>
            <a:r>
              <a:t>Category / filter</a:t>
            </a:r>
          </a:p>
        </p:txBody>
      </p:sp>
      <p:sp>
        <p:nvSpPr>
          <p:cNvPr id="9" name="Rectangle 8"/>
          <p:cNvSpPr/>
          <p:nvPr/>
        </p:nvSpPr>
        <p:spPr>
          <a:xfrm>
            <a:off x="508000" y="2197100"/>
            <a:ext cx="11176000" cy="4572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000" y="22987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Business-line patterns</a:t>
            </a:r>
          </a:p>
        </p:txBody>
      </p:sp>
      <p:sp>
        <p:nvSpPr>
          <p:cNvPr id="11" name="TextBox 10"/>
          <p:cNvSpPr txBox="1"/>
          <p:nvPr/>
        </p:nvSpPr>
        <p:spPr>
          <a:xfrm>
            <a:off x="2984500" y="22987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LOB → AI source group → Deployment status</a:t>
            </a:r>
          </a:p>
        </p:txBody>
      </p:sp>
      <p:sp>
        <p:nvSpPr>
          <p:cNvPr id="12" name="TextBox 11"/>
          <p:cNvSpPr txBox="1"/>
          <p:nvPr/>
        </p:nvSpPr>
        <p:spPr>
          <a:xfrm>
            <a:off x="9334500" y="22987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Medicaid / Commercial</a:t>
            </a:r>
          </a:p>
        </p:txBody>
      </p:sp>
      <p:sp>
        <p:nvSpPr>
          <p:cNvPr id="13" name="Rectangle 12"/>
          <p:cNvSpPr/>
          <p:nvPr/>
        </p:nvSpPr>
        <p:spPr>
          <a:xfrm>
            <a:off x="508000" y="2654300"/>
            <a:ext cx="11176000" cy="4572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000" y="27559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Agentic sourcing</a:t>
            </a:r>
          </a:p>
        </p:txBody>
      </p:sp>
      <p:sp>
        <p:nvSpPr>
          <p:cNvPr id="15" name="TextBox 14"/>
          <p:cNvSpPr txBox="1"/>
          <p:nvPr/>
        </p:nvSpPr>
        <p:spPr>
          <a:xfrm>
            <a:off x="2984500" y="27559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AI technologies → AI source group → Deployment status</a:t>
            </a:r>
          </a:p>
        </p:txBody>
      </p:sp>
      <p:sp>
        <p:nvSpPr>
          <p:cNvPr id="16" name="TextBox 15"/>
          <p:cNvSpPr txBox="1"/>
          <p:nvPr/>
        </p:nvSpPr>
        <p:spPr>
          <a:xfrm>
            <a:off x="9334500" y="27559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Agentic AI</a:t>
            </a:r>
          </a:p>
        </p:txBody>
      </p:sp>
      <p:sp>
        <p:nvSpPr>
          <p:cNvPr id="17" name="Rectangle 16"/>
          <p:cNvSpPr/>
          <p:nvPr/>
        </p:nvSpPr>
        <p:spPr>
          <a:xfrm>
            <a:off x="508000" y="3111500"/>
            <a:ext cx="11176000" cy="4572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000" y="32131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Agentic classification</a:t>
            </a:r>
          </a:p>
        </p:txBody>
      </p:sp>
      <p:sp>
        <p:nvSpPr>
          <p:cNvPr id="19" name="TextBox 18"/>
          <p:cNvSpPr txBox="1"/>
          <p:nvPr/>
        </p:nvSpPr>
        <p:spPr>
          <a:xfrm>
            <a:off x="2984500" y="32131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AI technologies → Risk tier → Deployment status</a:t>
            </a:r>
          </a:p>
        </p:txBody>
      </p:sp>
      <p:sp>
        <p:nvSpPr>
          <p:cNvPr id="20" name="TextBox 19"/>
          <p:cNvSpPr txBox="1"/>
          <p:nvPr/>
        </p:nvSpPr>
        <p:spPr>
          <a:xfrm>
            <a:off x="9334500" y="32131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Agentic AI</a:t>
            </a:r>
          </a:p>
        </p:txBody>
      </p:sp>
      <p:sp>
        <p:nvSpPr>
          <p:cNvPr id="21" name="Rectangle 20"/>
          <p:cNvSpPr/>
          <p:nvPr/>
        </p:nvSpPr>
        <p:spPr>
          <a:xfrm>
            <a:off x="508000" y="3568700"/>
            <a:ext cx="11176000" cy="4572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000" y="36703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Agentic oversight</a:t>
            </a:r>
          </a:p>
        </p:txBody>
      </p:sp>
      <p:sp>
        <p:nvSpPr>
          <p:cNvPr id="23" name="TextBox 22"/>
          <p:cNvSpPr txBox="1"/>
          <p:nvPr/>
        </p:nvSpPr>
        <p:spPr>
          <a:xfrm>
            <a:off x="2984500" y="36703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AI technologies → Human oversight → Deployment status</a:t>
            </a:r>
          </a:p>
        </p:txBody>
      </p:sp>
      <p:sp>
        <p:nvSpPr>
          <p:cNvPr id="24" name="TextBox 23"/>
          <p:cNvSpPr txBox="1"/>
          <p:nvPr/>
        </p:nvSpPr>
        <p:spPr>
          <a:xfrm>
            <a:off x="9334500" y="36703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Agentic AI</a:t>
            </a:r>
          </a:p>
        </p:txBody>
      </p:sp>
      <p:sp>
        <p:nvSpPr>
          <p:cNvPr id="25" name="Rectangle 24"/>
          <p:cNvSpPr/>
          <p:nvPr/>
        </p:nvSpPr>
        <p:spPr>
          <a:xfrm>
            <a:off x="508000" y="4025900"/>
            <a:ext cx="11176000" cy="4572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000" y="41275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Hosting / sourcing</a:t>
            </a:r>
          </a:p>
        </p:txBody>
      </p:sp>
      <p:sp>
        <p:nvSpPr>
          <p:cNvPr id="27" name="TextBox 26"/>
          <p:cNvSpPr txBox="1"/>
          <p:nvPr/>
        </p:nvSpPr>
        <p:spPr>
          <a:xfrm>
            <a:off x="2984500" y="41275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Deployment environment → AI source group → Deployment status</a:t>
            </a:r>
          </a:p>
        </p:txBody>
      </p:sp>
      <p:sp>
        <p:nvSpPr>
          <p:cNvPr id="28" name="TextBox 27"/>
          <p:cNvSpPr txBox="1"/>
          <p:nvPr/>
        </p:nvSpPr>
        <p:spPr>
          <a:xfrm>
            <a:off x="9334500" y="41275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External vendor cloud</a:t>
            </a:r>
          </a:p>
        </p:txBody>
      </p:sp>
      <p:sp>
        <p:nvSpPr>
          <p:cNvPr id="29" name="Rectangle 28"/>
          <p:cNvSpPr/>
          <p:nvPr/>
        </p:nvSpPr>
        <p:spPr>
          <a:xfrm>
            <a:off x="508000" y="4483100"/>
            <a:ext cx="11176000" cy="4572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5000" y="45847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Unknown risk</a:t>
            </a:r>
          </a:p>
        </p:txBody>
      </p:sp>
      <p:sp>
        <p:nvSpPr>
          <p:cNvPr id="31" name="TextBox 30"/>
          <p:cNvSpPr txBox="1"/>
          <p:nvPr/>
        </p:nvSpPr>
        <p:spPr>
          <a:xfrm>
            <a:off x="2984500" y="45847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Risk tier → AI source group → Deployment status</a:t>
            </a:r>
          </a:p>
        </p:txBody>
      </p:sp>
      <p:sp>
        <p:nvSpPr>
          <p:cNvPr id="32" name="TextBox 31"/>
          <p:cNvSpPr txBox="1"/>
          <p:nvPr/>
        </p:nvSpPr>
        <p:spPr>
          <a:xfrm>
            <a:off x="9334500" y="45847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Unknown</a:t>
            </a:r>
          </a:p>
        </p:txBody>
      </p:sp>
      <p:sp>
        <p:nvSpPr>
          <p:cNvPr id="33" name="Rectangle 32"/>
          <p:cNvSpPr/>
          <p:nvPr/>
        </p:nvSpPr>
        <p:spPr>
          <a:xfrm>
            <a:off x="508000" y="4940300"/>
            <a:ext cx="11176000" cy="457200"/>
          </a:xfrm>
          <a:prstGeom prst="rect">
            <a:avLst/>
          </a:prstGeom>
          <a:solidFill>
            <a:srgbClr val="14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000" y="50419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Member impact</a:t>
            </a:r>
          </a:p>
        </p:txBody>
      </p:sp>
      <p:sp>
        <p:nvSpPr>
          <p:cNvPr id="35" name="TextBox 34"/>
          <p:cNvSpPr txBox="1"/>
          <p:nvPr/>
        </p:nvSpPr>
        <p:spPr>
          <a:xfrm>
            <a:off x="2984500" y="50419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Member impact → Human oversight → Deployment status</a:t>
            </a:r>
          </a:p>
        </p:txBody>
      </p:sp>
      <p:sp>
        <p:nvSpPr>
          <p:cNvPr id="36" name="TextBox 35"/>
          <p:cNvSpPr txBox="1"/>
          <p:nvPr/>
        </p:nvSpPr>
        <p:spPr>
          <a:xfrm>
            <a:off x="9334500" y="50419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Yes</a:t>
            </a:r>
          </a:p>
        </p:txBody>
      </p:sp>
      <p:sp>
        <p:nvSpPr>
          <p:cNvPr id="37" name="Rectangle 36"/>
          <p:cNvSpPr/>
          <p:nvPr/>
        </p:nvSpPr>
        <p:spPr>
          <a:xfrm>
            <a:off x="508000" y="5397500"/>
            <a:ext cx="11176000" cy="457200"/>
          </a:xfrm>
          <a:prstGeom prst="rect">
            <a:avLst/>
          </a:prstGeom>
          <a:solidFill>
            <a:srgbClr val="0C15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000" y="5499100"/>
            <a:ext cx="2095500" cy="330200"/>
          </a:xfrm>
          <a:prstGeom prst="rect">
            <a:avLst/>
          </a:prstGeom>
          <a:noFill/>
        </p:spPr>
        <p:txBody>
          <a:bodyPr wrap="none" lIns="0" tIns="0" rIns="0" bIns="0" anchor="t">
            <a:spAutoFit/>
          </a:bodyPr>
          <a:lstStyle/>
          <a:p>
            <a:pPr algn="l">
              <a:lnSpc>
                <a:spcPts val="1191"/>
              </a:lnSpc>
              <a:spcBef>
                <a:spcPts val="0"/>
              </a:spcBef>
              <a:spcAft>
                <a:spcPts val="0"/>
              </a:spcAft>
              <a:defRPr sz="1010" b="1">
                <a:solidFill>
                  <a:srgbClr val="F4F7FB"/>
                </a:solidFill>
                <a:latin typeface="Arial"/>
              </a:defRPr>
            </a:pPr>
            <a:r>
              <a:t>Validation intersections</a:t>
            </a:r>
          </a:p>
        </p:txBody>
      </p:sp>
      <p:sp>
        <p:nvSpPr>
          <p:cNvPr id="39" name="TextBox 38"/>
          <p:cNvSpPr txBox="1"/>
          <p:nvPr/>
        </p:nvSpPr>
        <p:spPr>
          <a:xfrm>
            <a:off x="2984500" y="5499100"/>
            <a:ext cx="60960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Deployment status → AI source group</a:t>
            </a:r>
          </a:p>
        </p:txBody>
      </p:sp>
      <p:sp>
        <p:nvSpPr>
          <p:cNvPr id="40" name="TextBox 39"/>
          <p:cNvSpPr txBox="1"/>
          <p:nvPr/>
        </p:nvSpPr>
        <p:spPr>
          <a:xfrm>
            <a:off x="9334500" y="5499100"/>
            <a:ext cx="2222500" cy="330200"/>
          </a:xfrm>
          <a:prstGeom prst="rect">
            <a:avLst/>
          </a:prstGeom>
          <a:noFill/>
        </p:spPr>
        <p:txBody>
          <a:bodyPr wrap="none" lIns="0" tIns="0" rIns="0" bIns="0" anchor="t">
            <a:spAutoFit/>
          </a:bodyPr>
          <a:lstStyle/>
          <a:p>
            <a:pPr algn="l">
              <a:lnSpc>
                <a:spcPts val="1191"/>
              </a:lnSpc>
              <a:spcBef>
                <a:spcPts val="0"/>
              </a:spcBef>
              <a:spcAft>
                <a:spcPts val="0"/>
              </a:spcAft>
              <a:defRPr sz="1010" b="0">
                <a:solidFill>
                  <a:srgbClr val="ACBED1"/>
                </a:solidFill>
                <a:latin typeface="Arial"/>
              </a:defRPr>
            </a:pPr>
            <a:r>
              <a:t>Errors / selected field</a:t>
            </a:r>
          </a:p>
        </p:txBody>
      </p:sp>
      <p:sp>
        <p:nvSpPr>
          <p:cNvPr id="45" name="TextBox 44"/>
          <p:cNvSpPr txBox="1"/>
          <p:nvPr/>
        </p:nvSpPr>
        <p:spPr>
          <a:xfrm>
            <a:off x="11087100" y="6642100"/>
            <a:ext cx="596900" cy="190500"/>
          </a:xfrm>
          <a:prstGeom prst="rect">
            <a:avLst/>
          </a:prstGeom>
          <a:noFill/>
        </p:spPr>
        <p:txBody>
          <a:bodyPr wrap="square" lIns="0" tIns="0" rIns="0" bIns="0" anchor="t">
            <a:spAutoFit/>
          </a:bodyPr>
          <a:lstStyle/>
          <a:p>
            <a:pPr algn="r">
              <a:lnSpc>
                <a:spcPts val="1180"/>
              </a:lnSpc>
              <a:spcBef>
                <a:spcPts val="0"/>
              </a:spcBef>
              <a:spcAft>
                <a:spcPts val="0"/>
              </a:spcAft>
              <a:defRPr sz="1000" b="1">
                <a:solidFill>
                  <a:srgbClr val="69DDD0"/>
                </a:solidFill>
                <a:latin typeface="Arial"/>
              </a:defRPr>
            </a:pPr>
            <a: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5109</Words>
  <Application>Microsoft Macintosh PowerPoint</Application>
  <PresentationFormat>Widescreen</PresentationFormat>
  <Paragraphs>639</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Inventory | Product Patterns Across Columns</dc:title>
  <dc:subject>Executive briefing: 173 products, one consistent denominator</dc:subject>
  <dc:creator>AI Inventory Analysis</dc:creator>
  <cp:keywords/>
  <dc:description>generated using python-pptx</dc:description>
  <cp:lastModifiedBy>kanchinadamt@gmail.com</cp:lastModifiedBy>
  <cp:revision>8</cp:revision>
  <dcterms:created xsi:type="dcterms:W3CDTF">2013-01-27T09:14:16Z</dcterms:created>
  <dcterms:modified xsi:type="dcterms:W3CDTF">2026-10-28T12:18:51Z</dcterms:modified>
  <cp:category/>
</cp:coreProperties>
</file>