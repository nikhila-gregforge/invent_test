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Inventory validation: 173 records</a:t>
            </a:r>
          </a:p>
          <a:p/>
          <a:p>
            <a:r>
              <a:t>Suggested timing: 45 seconds</a:t>
            </a:r>
          </a:p>
          <a:p/>
          <a:p>
            <a:r>
              <a:t>WHY THIS MATTERS</a:t>
            </a:r>
          </a:p>
          <a:p>
            <a:r>
              <a:t>The goal is to make the inventory reliable enough to interpret and maintain, starting with evidence from the app.</a:t>
            </a:r>
          </a:p>
          <a:p/>
          <a:p>
            <a:r>
              <a:t>PRESENTER NOTES</a:t>
            </a:r>
          </a:p>
          <a:p>
            <a:r>
              <a:t>This deck focuses on validation and the records behind the findings. Existing checks, source corrections, reporting gaps and proposed semantic follow-ups are labeled separately. One source row remains one record even when an ID is repeated or a registration looks test-like. The source CSV matches the saved review byte-for-byte. This is a 24–25 minute core discussion; the three appendix slides support questions.</a:t>
            </a:r>
          </a:p>
          <a:p/>
          <a:p>
            <a:r>
              <a:t>AI INVENTORY COLUMNS</a:t>
            </a:r>
          </a:p>
          <a:p>
            <a:r>
              <a:t>LLM Count; ML/DL Models Count; Vendor Owner; Source of AI System; Deployment Status</a:t>
            </a:r>
          </a:p>
          <a:p/>
          <a:p>
            <a:r>
              <a:t>DISCUSSION QUESTION</a:t>
            </a:r>
          </a:p>
          <a:p>
            <a:r>
              <a:t>Which validation changes would make the next inventory review easier to resolve?</a:t>
            </a:r>
          </a:p>
          <a:p/>
          <a:p>
            <a:r>
              <a:t>EVIDENCE</a:t>
            </a:r>
          </a:p>
          <a:p>
            <a:r>
              <a:t>Input SHA-256: fcc16d891b2a69ee8b88f0e2ddd0fa4584439ae1f96855b757d5decf9046dd36</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Model-count checks affect most records with findings</a:t>
            </a:r>
          </a:p>
          <a:p/>
          <a:p>
            <a:r>
              <a:t>Suggested timing: 90 seconds</a:t>
            </a:r>
          </a:p>
          <a:p/>
          <a:p>
            <a:r>
              <a:t>WHY THIS MATTERS</a:t>
            </a:r>
          </a:p>
          <a:p>
            <a:r>
              <a:t>Focus the team on the kind of information that is failing, rather than treating every finding as an empty form field.</a:t>
            </a:r>
          </a:p>
          <a:p/>
          <a:p>
            <a:r>
              <a:t>PRESENTER NOTES</a:t>
            </a:r>
          </a:p>
          <a:p>
            <a:r>
              <a:t>The 173-record snapshot has 52 Passed records and 121 Errors records, with 183 finding instances. The count-rule union affects 100 records. A finding can involve more than one field and a record can have several findings, so finding instances and records are different units. The screenshot is the actual saved app summary. Basic date/contact/source-detail issues remain important but are smaller, more specific queues.</a:t>
            </a:r>
          </a:p>
          <a:p/>
          <a:p>
            <a:r>
              <a:t>AI INVENTORY COLUMNS</a:t>
            </a:r>
          </a:p>
          <a:p>
            <a:r>
              <a:t>LLM Count; ML/DL Models Count; Vendor Owner; State; LOB</a:t>
            </a:r>
          </a:p>
          <a:p/>
          <a:p>
            <a:r>
              <a:t>DISCUSSION QUESTION</a:t>
            </a:r>
          </a:p>
          <a:p>
            <a:r>
              <a:t>Are correction requests explaining what the owner must establish, or only repeating the error message?</a:t>
            </a:r>
          </a:p>
          <a:p/>
          <a:p>
            <a:r>
              <a:t>EVIDENCE</a:t>
            </a:r>
          </a:p>
          <a:p>
            <a:r>
              <a:t>errors: 121 records (69.9% of 173); source rows 3, 4, 5, 6, 10, 11, 13, 14, 19, 21, 22, 23, 26, 27, 28, 29, 30, 31, 32, 33, 35, 36, 37, 38, 39, 40, 41, 43, 44, 45, 46, 47, 48, 49, 50, 51, 52, 53, 55, 57, 58, 60, 61, 62, 63, 64, 65, 66, 67, 68, 69, 70, 71, 72, 74, 77, 78, 81, 85, 86, 87, 88, 89, 90, 91, 92, 93, 94, 95, 97, 98, 99, 100, 101, 102, 103, 104, 105, 106, 108, 112, 115, 116, 117, 118, 119, 121, 123, 125, 126, 127, 129, 130, 133, 134, 135, 136, 137, 138, 139, 140, 142, 143, 145, 146, 147, 150, 151, 154, 155, 156, 159, 161, 162, 163, 164, 166, 168, 170, 171, 172.</a:t>
            </a:r>
          </a:p>
          <a:p>
            <a:r>
              <a:t>passed: 52 records (30.1% of 173); source rows 2, 7, 8, 9, 12, 15, 16, 17, 18, 20, 24, 25, 34, 42, 54, 56, 59, 73, 75, 76, 79, 80, 82, 83, 84, 96, 107, 109, 110, 111, 113, 114, 120, 122, 124, 128, 131, 132, 141, 144, 148, 149, 152, 153, 157, 158, 160, 165, 167, 169, 173, 174.</a:t>
            </a:r>
          </a:p>
          <a:p>
            <a:r>
              <a:t>count_any: 100 records (57.8% of 173); source rows 3, 4, 6, 10, 11, 13, 19, 21, 22, 26, 29, 30, 31, 32, 35, 37, 38, 39, 40, 41, 43, 45, 46, 47, 48, 49, 50, 51, 52, 53, 57, 58, 64, 66, 67, 68, 69, 70, 71, 72, 74, 77, 78, 85, 86, 87, 88, 89, 90, 91, 92, 93, 94, 95, 97, 98, 99, 100, 101, 102, 103, 104, 105, 108, 115, 116, 117, 118, 119, 121, 123, 125, 126, 127, 129, 130, 133, 134, 136, 137, 138, 140, 142, 143, 145, 146, 147, 150, 151, 154, 155, 156, 159, 161, 163, 166, 168, 170, 171, 172.</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each condition and the required response</a:t>
            </a:r>
          </a:p>
          <a:p/>
          <a:p>
            <a:r>
              <a:t>Suggested timing: 120 seconds</a:t>
            </a:r>
          </a:p>
          <a:p/>
          <a:p>
            <a:r>
              <a:t>WHY THIS MATTERS</a:t>
            </a:r>
          </a:p>
          <a:p>
            <a:r>
              <a:t>An error is easier to resolve when the owner can see the triggering column and the required response together.</a:t>
            </a:r>
          </a:p>
          <a:p/>
          <a:p>
            <a:r>
              <a:t>PRESENTER NOTES</a:t>
            </a:r>
          </a:p>
          <a:p>
            <a:r>
              <a:t>These are current implemented rules, not new proposals. Counts may be blank or Unknown when not required by the selected technology. The required LLM minimum is zero, not one. A vendor-related source requires a contact; a platform name alone does not establish vendor involvement. Future go-live dates remain accepted under the confirmed app behavior. Business and technical owners can be names or any syntactically valid email domain, including mhplan.com; the app does not verify identity or delivery. The screenshot comes from the app’s current rule catalogue, which reflects executable rules rather than older wording in the reference file.</a:t>
            </a:r>
          </a:p>
          <a:p/>
          <a:p>
            <a:r>
              <a:t>AI INVENTORY COLUMNS</a:t>
            </a:r>
          </a:p>
          <a:p>
            <a:r>
              <a:t>Type(s) of AI Used; LLM Count; ML/DL Models Count; Source of AI System; Vendor Owner; Deployment Status; Go-Live Date; Business Owner; Technical Owner</a:t>
            </a:r>
          </a:p>
          <a:p/>
          <a:p>
            <a:r>
              <a:t>DISCUSSION QUESTION</a:t>
            </a:r>
          </a:p>
          <a:p>
            <a:r>
              <a:t>Can an owner understand why a field became required from the error shown?</a:t>
            </a:r>
          </a:p>
          <a:p/>
          <a:p>
            <a:r>
              <a:t>EVIDENCE</a:t>
            </a:r>
          </a:p>
          <a:p>
            <a:r>
              <a:t>Current rule IDs: COUNT-01/02/03, VENDOR-01, DATE-02, REQ-02, EMAIL-01.</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model-count fields have findings in 33 records</a:t>
            </a:r>
          </a:p>
          <a:p/>
          <a:p>
            <a:r>
              <a:t>Suggested timing: 90 seconds</a:t>
            </a:r>
          </a:p>
          <a:p/>
          <a:p>
            <a:r>
              <a:t>WHY THIS MATTERS</a:t>
            </a:r>
          </a:p>
          <a:p>
            <a:r>
              <a:t>A correction plan should count records once while recognizing that the same owner may need to resolve both count fields.</a:t>
            </a:r>
          </a:p>
          <a:p/>
          <a:p>
            <a:r>
              <a:t>PRESENTER NOTES</a:t>
            </a:r>
          </a:p>
          <a:p>
            <a:r>
              <a:t>84 records have at least one finding involving LLM Count, 49 involve ML/DL Models Count, and 33 appear in both. Their union is 100 records. This is field-level affected-record accounting, not a sum of repeated messages. COUNT-01 alone has 112 finding instances across 79 records; COUNT-02 and COUNT-03 add conditional requirements. The exact technology selections matter when deciding whether a numeric response is required.</a:t>
            </a:r>
          </a:p>
          <a:p/>
          <a:p>
            <a:r>
              <a:t>AI INVENTORY COLUMNS</a:t>
            </a:r>
          </a:p>
          <a:p>
            <a:r>
              <a:t>Type(s) of AI Used; LLM Count; ML/DL Models Count</a:t>
            </a:r>
          </a:p>
          <a:p/>
          <a:p>
            <a:r>
              <a:t>DISCUSSION QUESTION</a:t>
            </a:r>
          </a:p>
          <a:p>
            <a:r>
              <a:t>Can both count questions be resolved in the same owner conversation?</a:t>
            </a:r>
          </a:p>
          <a:p/>
          <a:p>
            <a:r>
              <a:t>EVIDENCE</a:t>
            </a:r>
          </a:p>
          <a:p>
            <a:r>
              <a:t>field_llm_count: 84 records (48.6% of 173); source rows 4, 6, 10, 13, 19, 21, 22, 26, 29, 31, 32, 37, 38, 39, 40, 41, 45, 46, 47, 48, 49, 50, 51, 52, 53, 57, 58, 64, 66, 67, 68, 69, 70, 71, 74, 77, 78, 85, 86, 87, 90, 91, 92, 93, 94, 95, 97, 98, 99, 100, 101, 102, 103, 104, 105, 108, 116, 117, 118, 119, 123, 126, 127, 129, 130, 133, 134, 136, 137, 138, 140, 142, 145, 146, 150, 151, 154, 155, 156, 159, 161, 163, 168, 170.</a:t>
            </a:r>
          </a:p>
          <a:p>
            <a:r>
              <a:t>field_ml_dl_count: 49 records (28.3% of 173); source rows 3, 6, 10, 11, 19, 21, 22, 26, 29, 30, 35, 43, 68, 72, 77, 88, 89, 94, 97, 98, 99, 100, 101, 104, 115, 116, 119, 121, 125, 127, 130, 134, 136, 137, 138, 140, 142, 143, 146, 147, 150, 154, 155, 161, 163, 166, 168, 171, 172.</a:t>
            </a:r>
          </a:p>
          <a:p>
            <a:r>
              <a:t>both_count_fields: 33 records (19.1% of 173); source rows 6, 10, 19, 21, 22, 26, 29, 68, 77, 94, 97, 98, 99, 100, 101, 104, 116, 119, 127, 130, 134, 136, 137, 138, 140, 142, 146, 150, 154, 155, 161, 163, 168.</a:t>
            </a:r>
          </a:p>
          <a:p>
            <a:r>
              <a:t>count_any: 100 records (57.8% of 173); source rows 3, 4, 6, 10, 11, 13, 19, 21, 22, 26, 29, 30, 31, 32, 35, 37, 38, 39, 40, 41, 43, 45, 46, 47, 48, 49, 50, 51, 52, 53, 57, 58, 64, 66, 67, 68, 69, 70, 71, 72, 74, 77, 78, 85, 86, 87, 88, 89, 90, 91, 92, 93, 94, 95, 97, 98, 99, 100, 101, 102, 103, 104, 105, 108, 115, 116, 117, 118, 119, 121, 123, 125, 126, 127, 129, 130, 133, 134, 136, 137, 138, 140, 142, 143, 145, 146, 147, 150, 151, 154, 155, 156, 159, 161, 163, 166, 168, 170, 171, 172.</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different actions for known and unknown counts</a:t>
            </a:r>
          </a:p>
          <a:p/>
          <a:p>
            <a:r>
              <a:t>Suggested timing: 120 seconds</a:t>
            </a:r>
          </a:p>
          <a:p/>
          <a:p>
            <a:r>
              <a:t>WHY THIS MATTERS</a:t>
            </a:r>
          </a:p>
          <a:p>
            <a:r>
              <a:t>Resolve whether the owner knows the count before asking them to reformat the source response.</a:t>
            </a:r>
          </a:p>
          <a:p/>
          <a:p>
            <a:r>
              <a:t>PRESENTER NOTES</a:t>
            </a:r>
          </a:p>
          <a:p>
            <a:r>
              <a:t>The upper screenshot is source row161, Principles Prince AI: LLM Count explicitly says LLM = 1, but fails the current format. Row126 also describes two models in prose. The lower screenshot is row98, H1/Veda: the answer explicitly states the owner lacks vendor visibility; it cannot be fixed responsibly by merely choosing a number. Six reviewed vendor Pilot/Active examples across both model-count fields are rows10,29,88,98,121,127; these are reviewed examples, not an exhaustive automatically inferred cohort. Do not invent a count or enter zero just to clear a finding. Proposed improvement: provide a clearer numeric response convention and a route for obtaining unresolved information.</a:t>
            </a:r>
          </a:p>
          <a:p/>
          <a:p>
            <a:r>
              <a:t>AI INVENTORY COLUMNS</a:t>
            </a:r>
          </a:p>
          <a:p>
            <a:r>
              <a:t>LLM Count; ML/DL Models Count; Type(s) of AI Used</a:t>
            </a:r>
          </a:p>
          <a:p/>
          <a:p>
            <a:r>
              <a:t>DISCUSSION QUESTION</a:t>
            </a:r>
          </a:p>
          <a:p>
            <a:r>
              <a:t>Is this a formatting correction or a request for information the owner does not yet have?</a:t>
            </a:r>
          </a:p>
          <a:p/>
          <a:p>
            <a:r>
              <a:t>EVIDENCE</a:t>
            </a:r>
          </a:p>
          <a:p>
            <a:r>
              <a:t>Source rows161 and98 shown. Row126 offers another explicit-count narrative; no source values were corrected.</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records need the same count clarification</a:t>
            </a:r>
          </a:p>
          <a:p/>
          <a:p>
            <a:r>
              <a:t>Suggested timing: 75 seconds</a:t>
            </a:r>
          </a:p>
          <a:p/>
          <a:p>
            <a:r>
              <a:t>WHY THIS MATTERS</a:t>
            </a:r>
          </a:p>
          <a:p>
            <a:r>
              <a:t>Repeated patterns can reveal a shared interpretation problem in the intake guidance.</a:t>
            </a:r>
          </a:p>
          <a:p/>
          <a:p>
            <a:r>
              <a:t>PRESENTER NOTES</a:t>
            </a:r>
          </a:p>
          <a:p>
            <a:r>
              <a:t>Four Active BTS Communications Copilot records select Generative AI and answer N/A for LLM Count. Each has only COUNT-02. Their source is Hybrid, grouped as Vendor AI in the screenshot. Ask the platform and record owners how the underlying models should be counted for each record. The inventory does not prove that the four records share the same model, nor that they are duplicate registrations. Keep them as four records. Proposed improvement: add a worked GenAI/Copilot example to the field help and have the owner confirm each count.</a:t>
            </a:r>
          </a:p>
          <a:p/>
          <a:p>
            <a:r>
              <a:t>AI INVENTORY COLUMNS</a:t>
            </a:r>
          </a:p>
          <a:p>
            <a:r>
              <a:t>Type(s) of AI Used; LLM Count; Deployment Status; Source of AI System</a:t>
            </a:r>
          </a:p>
          <a:p/>
          <a:p>
            <a:r>
              <a:t>DISCUSSION QUESTION</a:t>
            </a:r>
          </a:p>
          <a:p>
            <a:r>
              <a:t>What example would prevent the same interpretation problem across this family?</a:t>
            </a:r>
          </a:p>
          <a:p/>
          <a:p>
            <a:r>
              <a:t>EVIDENCE</a:t>
            </a:r>
          </a:p>
          <a:p>
            <a:r>
              <a:t>bts_count_family: 4 records (2.3% of 173); source rows 32, 37, 38, 39.</a:t>
            </a:r>
          </a:p>
          <a:p>
            <a:r>
              <a:t>The app PNG includes validation concentration and total/flagged record counts. Flagged means at least one saved finding. Red bars show flagged records; teal bars show records with no findings. The sidebar uses the scope printed in the image. Its family counts are distinct records and can overlap. These are the same data in the app and its PNG export.</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74 Pilot or Active records have validation findings</a:t>
            </a:r>
          </a:p>
          <a:p/>
          <a:p>
            <a:r>
              <a:t>Suggested timing: 90 seconds</a:t>
            </a:r>
          </a:p>
          <a:p/>
          <a:p>
            <a:r>
              <a:t>WHY THIS MATTERS</a:t>
            </a:r>
          </a:p>
          <a:p>
            <a:r>
              <a:t>An operational status does not establish that the inventory record is complete.</a:t>
            </a:r>
          </a:p>
          <a:p/>
          <a:p>
            <a:r>
              <a:t>PRESENTER NOTES</a:t>
            </a:r>
          </a:p>
          <a:p>
            <a:r>
              <a:t>The saved review has 39 Active and 35 Pilot records with findings: 74 distinct records, 42.8% of all173. Of this combined group,46 have only model-count findings and28 have at least one non-count finding. These are mutually exclusive routing groups and sum to74. The visible caption gives the work split:46 count-only records and28 with other findings. The screenshot is explicitly labeled as all121 flagged records, with one19-record example path highlighted. It uses Status Errors, Current filters and the full173-record percentage denominator. It shows deployment, source and risk together; the displayed highlighted path is one subset, not the total74. These outcomes are inventory-validation findings, not evidence that the systems are unsafe or noncompliant.</a:t>
            </a:r>
          </a:p>
          <a:p/>
          <a:p>
            <a:r>
              <a:t>AI INVENTORY COLUMNS</a:t>
            </a:r>
          </a:p>
          <a:p>
            <a:r>
              <a:t>Deployment Status; Source of AI System; Risk Tier; LLM Count; ML/DL Models Count</a:t>
            </a:r>
          </a:p>
          <a:p/>
          <a:p>
            <a:r>
              <a:t>DISCUSSION QUESTION</a:t>
            </a:r>
          </a:p>
          <a:p>
            <a:r>
              <a:t>Can the correction queue be split by who can supply the missing fact?</a:t>
            </a:r>
          </a:p>
          <a:p/>
          <a:p>
            <a:r>
              <a:t>EVIDENCE</a:t>
            </a:r>
          </a:p>
          <a:p>
            <a:r>
              <a:t>errors_Active: 39 records (22.5% of 173); source rows 3, 22, 23, 26, 28, 32, 37, 38, 39, 41, 45, 46, 48, 49, 50, 51, 52, 55, 57, 60, 61, 62, 63, 65, 72, 74, 77, 81, 89, 95, 98, 112, 117, 139, 154, 155, 163, 171, 172.</a:t>
            </a:r>
          </a:p>
          <a:p>
            <a:r>
              <a:t>errors_Pilot: 35 records (20.2% of 173); source rows 4, 10, 14, 19, 29, 30, 31, 36, 43, 44, 53, 64, 66, 67, 68, 71, 78, 88, 94, 101, 106, 116, 121, 123, 126, 127, 129, 133, 136, 145, 146, 150, 159, 161, 162.</a:t>
            </a:r>
          </a:p>
          <a:p>
            <a:r>
              <a:t>errors_later: 74 records (42.8% of 173); source rows 3, 4, 10, 14, 19, 22, 23, 26, 28, 29, 30, 31, 32, 36, 37, 38, 39, 41, 43, 44, 45, 46, 48, 49, 50, 51, 52, 53, 55, 57, 60, 61, 62, 63, 64, 65, 66, 67, 68, 71, 72, 74, 77, 78, 81, 88, 89, 94, 95, 98, 101, 106, 112, 116, 117, 121, 123, 126, 127, 129, 133, 136, 139, 145, 146, 150, 154, 155, 159, 161, 162, 163, 171, 172.</a:t>
            </a:r>
          </a:p>
          <a:p>
            <a:r>
              <a:t>count_only_later: 46 records (26.6% of 173); source rows 3, 10, 26, 29, 30, 31, 32, 37, 38, 39, 43, 45, 46, 50, 51, 52, 53, 64, 66, 67, 68, 71, 72, 74, 77, 88, 89, 94, 101, 116, 117, 121, 123, 126, 127, 129, 133, 145, 146, 150, 154, 155, 161, 163, 171, 172.</a:t>
            </a:r>
          </a:p>
          <a:p>
            <a:r>
              <a:t>non_count_later: 28 records (16.2% of 173); source rows 4, 14, 19, 22, 23, 28, 36, 41, 44, 48, 49, 55, 57, 60, 61, 62, 63, 65, 78, 81, 95, 98, 106, 112, 136, 139, 159, 162.</a:t>
            </a:r>
          </a:p>
          <a:p>
            <a:r>
              <a:t>The app PNG includes validation concentration and total/flagged record counts. Flagged means at least one saved finding. Red bars show flagged records; teal bars show records with no findings. The sidebar uses the scope printed in the image. Its family counts are distinct records and can overlap. These are the same data in the app and its PNG export.</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Jira records need a vendor contact</a:t>
            </a:r>
          </a:p>
          <a:p/>
          <a:p>
            <a:r>
              <a:t>Suggested timing: 90 seconds</a:t>
            </a:r>
          </a:p>
          <a:p/>
          <a:p>
            <a:r>
              <a:t>WHY THIS MATTERS</a:t>
            </a:r>
          </a:p>
          <a:p>
            <a:r>
              <a:t>Grouping related records by workflow and owner gives a concrete starting point for correction.</a:t>
            </a:r>
          </a:p>
          <a:p/>
          <a:p>
            <a:r>
              <a:t>PRESENTER NOTES</a:t>
            </a:r>
          </a:p>
          <a:p>
            <a:r>
              <a:t>24 records have VENDOR-01, including13 in Pilot/Active and10 Active. Five Active Commercial records form the highlighted path in the screenshot. They are Jira workflow helpers with the same business/technical-owner pair and only vendor-contact findings: backlog themes, work-item surfacing, estimation, security classification and release checks. This is five records, not evidence of five vendors, one contract or duplicated systems. A common owner discussion may help, while the correct escalation contact still needs confirmation for each record.</a:t>
            </a:r>
          </a:p>
          <a:p/>
          <a:p>
            <a:r>
              <a:t>AI INVENTORY COLUMNS</a:t>
            </a:r>
          </a:p>
          <a:p>
            <a:r>
              <a:t>Vendor Owner; Source of AI System; Deployment Status; LOB; Business Owner; Technical Owner</a:t>
            </a:r>
          </a:p>
          <a:p/>
          <a:p>
            <a:r>
              <a:t>DISCUSSION QUESTION</a:t>
            </a:r>
          </a:p>
          <a:p>
            <a:r>
              <a:t>Who can confirm the appropriate escalation contact for these five records?</a:t>
            </a:r>
          </a:p>
          <a:p/>
          <a:p>
            <a:r>
              <a:t>EVIDENCE</a:t>
            </a:r>
          </a:p>
          <a:p>
            <a:r>
              <a:t>rule_VENDOR-01: 24 records (13.9% of 173); source rows 5, 14, 33, 35, 36, 41, 48, 49, 55, 57, 60, 61, 62, 63, 81, 87, 102, 103, 108, 135, 136, 143, 156, 164.</a:t>
            </a:r>
          </a:p>
          <a:p>
            <a:r>
              <a:t>VENDOR-01_later: 13 records (7.5% of 173); source rows 14, 36, 41, 48, 49, 55, 57, 60, 61, 62, 63, 81, 136.</a:t>
            </a:r>
          </a:p>
          <a:p>
            <a:r>
              <a:t>vendor_active_commercial: 5 records (2.9% of 173); source rows 55, 60, 61, 62, 63.</a:t>
            </a:r>
          </a:p>
          <a:p>
            <a:r>
              <a:t>jira_vendor_contact_family: 5 records (2.9% of 173); source rows 55, 60, 61, 62, 63.</a:t>
            </a:r>
          </a:p>
          <a:p>
            <a:r>
              <a:t>The app PNG includes validation concentration and total/flagged record counts. Flagged means at least one saved finding. Red bars show flagged records; teal bars show records with no findings. The sidebar uses the scope printed in the image. Its family counts are distinct records and can overlap. These are the same data in the app and its PNG export.</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 the checks before you compare the finding totals</a:t>
            </a:r>
          </a:p>
          <a:p/>
          <a:p>
            <a:r>
              <a:t>Suggested timing: 90 seconds</a:t>
            </a:r>
          </a:p>
          <a:p/>
          <a:p>
            <a:r>
              <a:t>WHY THIS MATTERS</a:t>
            </a:r>
          </a:p>
          <a:p>
            <a:r>
              <a:t>Compare the applicability of checks before interpreting a higher finding count as a quality difference.</a:t>
            </a:r>
          </a:p>
          <a:p/>
          <a:p>
            <a:r>
              <a:t>PRESENTER NOTES</a:t>
            </a:r>
          </a:p>
          <a:p>
            <a:r>
              <a:t>In-house and Vendor AI each contain48 Pilot/Active records. Vendor AI has16 with non-count findings versus8 in-house.13 vendor records trigger VENDOR-01. If the question is limited to non-count findings other than that contact rule, the counts are6 vendor versus8 in-house. Records may trigger both vendor and another rule, so16−13 is not the correct residual. Every displayed percentage still uses173, not48. This is descriptive segmentation of the current rules; it does not measure vendor performance or validate the adequacy of any control.</a:t>
            </a:r>
          </a:p>
          <a:p/>
          <a:p>
            <a:r>
              <a:t>AI INVENTORY COLUMNS</a:t>
            </a:r>
          </a:p>
          <a:p>
            <a:r>
              <a:t>Source of AI System; Vendor Owner; Deployment Status</a:t>
            </a:r>
          </a:p>
          <a:p/>
          <a:p>
            <a:r>
              <a:t>DISCUSSION QUESTION</a:t>
            </a:r>
          </a:p>
          <a:p>
            <a:r>
              <a:t>Are we comparing the same requirements across the sourcing groups?</a:t>
            </a:r>
          </a:p>
          <a:p/>
          <a:p>
            <a:r>
              <a:t>EVIDENCE</a:t>
            </a:r>
          </a:p>
          <a:p>
            <a:r>
              <a:t>Developed in-house_later: 48 records (27.7% of 173); source rows 3, 7, 8, 9, 22, 23, 24, 25, 26, 28, 30, 31, 34, 43, 44, 45, 46, 51, 52, 53, 54, 59, 64, 65, 66, 67, 71, 73, 74, 75, 76, 77, 78, 80, 84, 94, 96, 106, 122, 126, 133, 148, 153, 154, 155, 159, 160, 172.</a:t>
            </a:r>
          </a:p>
          <a:p>
            <a:r>
              <a:t>Vendor AI_later: 48 records (27.7% of 173); source rows 2, 10, 14, 15, 17, 18, 19, 20, 29, 32, 36, 37, 38, 39, 41, 48, 49, 55, 57, 60, 61, 62, 63, 68, 72, 79, 81, 82, 88, 89, 98, 109, 112, 116, 117, 121, 123, 127, 132, 136, 144, 145, 146, 152, 161, 163, 165, 171.</a:t>
            </a:r>
          </a:p>
          <a:p>
            <a:r>
              <a:t>Developed in-house_non_count_later: 8 records (4.6% of 173); source rows 22, 23, 28, 44, 65, 78, 106, 159.</a:t>
            </a:r>
          </a:p>
          <a:p>
            <a:r>
              <a:t>Vendor AI_non_count_later: 16 records (9.2% of 173); source rows 14, 19, 36, 41, 48, 49, 55, 57, 60, 61, 62, 63, 81, 98, 112, 136.</a:t>
            </a:r>
          </a:p>
          <a:p>
            <a:r>
              <a:t>Developed in-house_non_count_except_vendor_later: 8 records (4.6% of 173); source rows 22, 23, 28, 44, 65, 78, 106, 159.</a:t>
            </a:r>
          </a:p>
          <a:p>
            <a:r>
              <a:t>Vendor AI_non_count_except_vendor_later: 6 records (3.5% of 173); source rows 14, 19, 36, 57, 98, 112.</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 the intended scope before you remove selections</a:t>
            </a:r>
          </a:p>
          <a:p/>
          <a:p>
            <a:r>
              <a:t>Suggested timing: 75 seconds</a:t>
            </a:r>
          </a:p>
          <a:p/>
          <a:p>
            <a:r>
              <a:t>WHY THIS MATTERS</a:t>
            </a:r>
          </a:p>
          <a:p>
            <a:r>
              <a:t>The contradiction is about the intended usage scope, so correction should preserve meaning rather than delete a token mechanically.</a:t>
            </a:r>
          </a:p>
          <a:p/>
          <a:p>
            <a:r>
              <a:t>PRESENTER NOTES</a:t>
            </a:r>
          </a:p>
          <a:p>
            <a:r>
              <a:t>Current SCOPE-01 flags14 records: nine in State and five in LOB, with no overlap between these field cohorts. Nine are Pilot/Active. The upper screenshot is row4, which combines Florida and All States; the lower is row35, which combines None with a specific internal scope response. None must stand alone; All States must stand alone. Six of the State-error records are later-stage; the remaining later-stage scope cases are in LOB. Proposed improvement: make exclusive choices clearer in intake guidance or the source form, then ask owners to retain the correct selection.</a:t>
            </a:r>
          </a:p>
          <a:p/>
          <a:p>
            <a:r>
              <a:t>AI INVENTORY COLUMNS</a:t>
            </a:r>
          </a:p>
          <a:p>
            <a:r>
              <a:t>State; LOB; Deployment Status</a:t>
            </a:r>
          </a:p>
          <a:p/>
          <a:p>
            <a:r>
              <a:t>DISCUSSION QUESTION</a:t>
            </a:r>
          </a:p>
          <a:p>
            <a:r>
              <a:t>Which selection represents the actual intended scope?</a:t>
            </a:r>
          </a:p>
          <a:p/>
          <a:p>
            <a:r>
              <a:t>EVIDENCE</a:t>
            </a:r>
          </a:p>
          <a:p>
            <a:r>
              <a:t>rule_SCOPE-01: 14 records (8.1% of 173); source rows 4, 14, 19, 21, 22, 23, 27, 28, 35, 36, 65, 95, 135, 138.</a:t>
            </a:r>
          </a:p>
          <a:p>
            <a:r>
              <a:t>field_states: 9 records (5.2% of 173); source rows 4, 14, 19, 21, 22, 23, 27, 28, 138.</a:t>
            </a:r>
          </a:p>
          <a:p>
            <a:r>
              <a:t>field_lines_of_business: 5 records (2.9% of 173); source rows 35, 36, 65, 95, 135.</a:t>
            </a:r>
          </a:p>
          <a:p>
            <a:r>
              <a:t>SCOPE-01_later: 9 records (5.2% of 173); source rows 4, 14, 19, 22, 23, 28, 36, 65, 95.</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the dates, owners and source details in five records</a:t>
            </a:r>
          </a:p>
          <a:p/>
          <a:p>
            <a:r>
              <a:t>Suggested timing: 75 seconds</a:t>
            </a:r>
          </a:p>
          <a:p/>
          <a:p>
            <a:r>
              <a:t>WHY THIS MATTERS</a:t>
            </a:r>
          </a:p>
          <a:p>
            <a:r>
              <a:t>These findings have direct source-field corrections and can be routed to the responsible record owner.</a:t>
            </a:r>
          </a:p>
          <a:p/>
          <a:p>
            <a:r>
              <a:t>PRESENTER NOTES</a:t>
            </a:r>
          </a:p>
          <a:p>
            <a:r>
              <a:t>The five distinct source rows are58,97,98,139,162. Active records98 and139 lack Go-Live Date. Row97 has a space after the @ in Business Owner email text; this is a syntax issue, not a restriction to Centene domains. Row162 says Unknown for Technical Owner. Row58 leaves Data Environment blank. Names and any valid email domain remain accepted; no directory or delivery verification is performed. Future go-live dates remain allowed. These examples do not imply that all other fields were independently verified as true.</a:t>
            </a:r>
          </a:p>
          <a:p/>
          <a:p>
            <a:r>
              <a:t>AI INVENTORY COLUMNS</a:t>
            </a:r>
          </a:p>
          <a:p>
            <a:r>
              <a:t>Deployment Status; Go-Live Date; Business Owner; Technical Owner; Data Environment</a:t>
            </a:r>
          </a:p>
          <a:p/>
          <a:p>
            <a:r>
              <a:t>DISCUSSION QUESTION</a:t>
            </a:r>
          </a:p>
          <a:p>
            <a:r>
              <a:t>Can each request name the exact missing or malformed source value?</a:t>
            </a:r>
          </a:p>
          <a:p/>
          <a:p>
            <a:r>
              <a:t>EVIDENCE</a:t>
            </a:r>
          </a:p>
          <a:p>
            <a:r>
              <a:t>small_specific_fixes: 5 records (2.9% of 173); source rows 58, 97, 98, 139, 162.</a:t>
            </a:r>
          </a:p>
          <a:p>
            <a:r>
              <a:t>rule_DATE-02: 2 records (1.2% of 173); source rows 98, 139.</a:t>
            </a:r>
          </a:p>
          <a:p>
            <a:r>
              <a:t>rule_EMAIL-01: 1 records (0.6% of 173); source rows 97.</a:t>
            </a:r>
          </a:p>
          <a:p>
            <a:r>
              <a:t>rule_REQ-02: 1 records (0.6% of 173); source rows 162.</a:t>
            </a:r>
          </a:p>
          <a:p>
            <a:r>
              <a:t>rule_REQ-01: 1 records (0.6% of 173); source rows 58.</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the ID meaning before you merge records</a:t>
            </a:r>
          </a:p>
          <a:p/>
          <a:p>
            <a:r>
              <a:t>Suggested timing: 90 seconds</a:t>
            </a:r>
          </a:p>
          <a:p/>
          <a:p>
            <a:r>
              <a:t>WHY THIS MATTERS</a:t>
            </a:r>
          </a:p>
          <a:p>
            <a:r>
              <a:t>A repeated identifier can be an unavailable-ID placeholder or a shared identifier; neither automatically proves duplicate records.</a:t>
            </a:r>
          </a:p>
          <a:p/>
          <a:p>
            <a:r>
              <a:t>PRESENTER NOTES</a:t>
            </a:r>
          </a:p>
          <a:p>
            <a:r>
              <a:t>The saved ID-02 findings affect seven records. Five use Not Applicable: rows44,57,106,112,119. The current placeholder grouping does not exempt that exact phrase even though the rule’s intent allows unavailable-ID placeholders. The two other records are78, WFM_BCT_AI_CHATBOT, and159, Care Lens, with Trucare Cloud/TruCare Cloud IDs after case normalization. Ask owners whether these are distinct systems sharing a platform identifier or registrations needing correction. Proposed improvement: align the placeholder list and ID help, and review actual collisions. Keep the173-record baseline; do not merge or drop rows automatically.</a:t>
            </a:r>
          </a:p>
          <a:p/>
          <a:p>
            <a:r>
              <a:t>AI INVENTORY COLUMNS</a:t>
            </a:r>
          </a:p>
          <a:p>
            <a:r>
              <a:t>Application / System ID; AI System / Solution Name</a:t>
            </a:r>
          </a:p>
          <a:p/>
          <a:p>
            <a:r>
              <a:t>DISCUSSION QUESTION</a:t>
            </a:r>
          </a:p>
          <a:p>
            <a:r>
              <a:t>Does the ID identify this record’s system, a shared platform or an unavailable value?</a:t>
            </a:r>
          </a:p>
          <a:p/>
          <a:p>
            <a:r>
              <a:t>EVIDENCE</a:t>
            </a:r>
          </a:p>
          <a:p>
            <a:r>
              <a:t>rule_ID-02: 7 records (4.0% of 173); source rows 44, 57, 78, 106, 112, 119, 159.</a:t>
            </a:r>
          </a:p>
          <a:p>
            <a:r>
              <a:t>Placeholder rows44,57,106,112,119; other normalized-ID pair78,159.</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passing check does not confirm the operating status</a:t>
            </a:r>
          </a:p>
          <a:p/>
          <a:p>
            <a:r>
              <a:t>Suggested timing: 120 seconds</a:t>
            </a:r>
          </a:p>
          <a:p/>
          <a:p>
            <a:r>
              <a:t>WHY THIS MATTERS</a:t>
            </a:r>
          </a:p>
          <a:p>
            <a:r>
              <a:t>These records show two distinct questions: whether a number was parsed correctly and whether the registration describes an operating system.</a:t>
            </a:r>
          </a:p>
          <a:p/>
          <a:p>
            <a:r>
              <a:t>PRESENTER NOTES</a:t>
            </a:r>
          </a:p>
          <a:p>
            <a:r>
              <a:t>Rows22–26 are five manually reviewed candidates with test-like names and repeated test wording in their purposes. All are Active, in-house, Agentic and Unknown risk, with the same19 July2026 submission and go-live date. Rows24 and25 pass. In row24 both count fields contain 19-Jul-Henry-Test-4, which the leading-number-with-notes parser accepts as19. Proposed parser check: reject date-like or identifier-like strings as counts. Proposed semantic follow-up: ask owners to confirm the registration and status. These are not confirmed test data and are not excluded. A broad search for test also finds a legitimate test-case-generator use case (row41), so a keyword-only rejection would be too blunt.</a:t>
            </a:r>
          </a:p>
          <a:p/>
          <a:p>
            <a:r>
              <a:t>AI INVENTORY COLUMNS</a:t>
            </a:r>
          </a:p>
          <a:p>
            <a:r>
              <a:t>AI System / Solution Name; Business Purpose / Intended Use; Deployment Status; Risk Tier; LLM Count; ML/DL Models Count; Date Submitted</a:t>
            </a:r>
          </a:p>
          <a:p/>
          <a:p>
            <a:r>
              <a:t>DISCUSSION QUESTION</a:t>
            </a:r>
          </a:p>
          <a:p>
            <a:r>
              <a:t>What should be rejected as an invalid count, and what should go to owner review?</a:t>
            </a:r>
          </a:p>
          <a:p/>
          <a:p>
            <a:r>
              <a:t>EVIDENCE</a:t>
            </a:r>
          </a:p>
          <a:p>
            <a:r>
              <a:t>candidate_test_active: 5 records (2.9% of 173); source rows 22, 23, 24, 25, 26.</a:t>
            </a:r>
          </a:p>
          <a:p>
            <a:r>
              <a:t>candidate_test_pass: 2 records (1.2% of 173); source rows 24, 25.</a:t>
            </a:r>
          </a:p>
          <a:p>
            <a:r>
              <a:t>Row24 current normalized llm_count=19 and ml_dl_count=19; source values unchanged.</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Unmapped text can hide PHI or PII in the charts</a:t>
            </a:r>
          </a:p>
          <a:p/>
          <a:p>
            <a:r>
              <a:t>Suggested timing: 90 seconds</a:t>
            </a:r>
          </a:p>
          <a:p/>
          <a:p>
            <a:r>
              <a:t>WHY THIS MATTERS</a:t>
            </a:r>
          </a:p>
          <a:p>
            <a:r>
              <a:t>The chart catalogue can lose recognized information when a multi-select response also contains a term it cannot map.</a:t>
            </a:r>
          </a:p>
          <a:p/>
          <a:p>
            <a:r>
              <a:t>PRESENTER NOTES</a:t>
            </a:r>
          </a:p>
          <a:p>
            <a:r>
              <a:t>18 records explicitly select Contains PHI or Contains PII and are charted as Unclassified. Nine are Pilot/Active. Business Confidential Data appears with14 of the18. Exact PHI selection appears on33 records versus19 charted; PII appears on36 versus18 charted. The PHI and PII groups overlap. The app currently treats an entire multi-select answer as Unclassified if any term is unmapped. The screenshot is row160, a Passed record that explicitly includes Contains PII alongside Business Confidential Data and Employee Data. Proposed reporting improvement: preserve each recognized selection and retain the unmapped terms for review. Do not hard-fail detailed free-text answers solely because of chart taxonomy coverage.</a:t>
            </a:r>
          </a:p>
          <a:p/>
          <a:p>
            <a:r>
              <a:t>AI INVENTORY COLUMNS</a:t>
            </a:r>
          </a:p>
          <a:p>
            <a:r>
              <a:t>Data Input to or Processed by AI Tool; Deployment Status</a:t>
            </a:r>
          </a:p>
          <a:p/>
          <a:p>
            <a:r>
              <a:t>DISCUSSION QUESTION</a:t>
            </a:r>
          </a:p>
          <a:p>
            <a:r>
              <a:t>Can reporting retain known sensitive-data selections while showing what still needs mapping?</a:t>
            </a:r>
          </a:p>
          <a:p/>
          <a:p>
            <a:r>
              <a:t>EVIDENCE</a:t>
            </a:r>
          </a:p>
          <a:p>
            <a:r>
              <a:t>hidden_phi_pii: 18 records (10.4% of 173); source rows 4, 10, 12, 15, 33, 35, 90, 94, 104, 120, 121, 127, 132, 134, 160, 162, 166, 173.</a:t>
            </a:r>
          </a:p>
          <a:p>
            <a:r>
              <a:t>hidden_phi_pii_later: 9 records (5.2% of 173); source rows 4, 10, 15, 94, 121, 127, 132, 160, 162.</a:t>
            </a:r>
          </a:p>
          <a:p>
            <a:r>
              <a:t>Raw and charted exact PHI:33/19; PII:36/18. Hidden-sensitive records with Business Confidential Data=14.</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owners to review Unknown risk tiers</a:t>
            </a:r>
          </a:p>
          <a:p/>
          <a:p>
            <a:r>
              <a:t>Suggested timing: 90 seconds</a:t>
            </a:r>
          </a:p>
          <a:p/>
          <a:p>
            <a:r>
              <a:t>WHY THIS MATTERS</a:t>
            </a:r>
          </a:p>
          <a:p>
            <a:r>
              <a:t>Unknown and High answer different questions; owner clarification is more appropriate than substituting one for the other.</a:t>
            </a:r>
          </a:p>
          <a:p/>
          <a:p>
            <a:r>
              <a:t>PRESENTER NOTES</a:t>
            </a:r>
          </a:p>
          <a:p>
            <a:r>
              <a:t>22 records are Pilot/Active with Unknown risk:13 Pilot and9 Active. The highlighted app path is Unknown→Active→Developed in-house, containing seven records. Five are the test-like candidates on the earlier slide; two others are separate use cases. Keep all173 records and ask owners to confirm classification and operating context. This is a proposed follow-up queue. Unknown is accepted by the current rules and does not mean High risk. Within the seven-record path, four records have current findings: three involve model counts and two involve scope; those groups overlap. The red bars show these other findings, not an Unknown-risk validation error.</a:t>
            </a:r>
          </a:p>
          <a:p/>
          <a:p>
            <a:r>
              <a:t>AI INVENTORY COLUMNS</a:t>
            </a:r>
          </a:p>
          <a:p>
            <a:r>
              <a:t>Risk Tier; Deployment Status; Source of AI System; AI System / Solution Name; Business Purpose / Intended Use</a:t>
            </a:r>
          </a:p>
          <a:p/>
          <a:p>
            <a:r>
              <a:t>DISCUSSION QUESTION</a:t>
            </a:r>
          </a:p>
          <a:p>
            <a:r>
              <a:t>Is the missing fact the risk assessment, the operating context or the status of the registration?</a:t>
            </a:r>
          </a:p>
          <a:p/>
          <a:p>
            <a:r>
              <a:t>EVIDENCE</a:t>
            </a:r>
          </a:p>
          <a:p>
            <a:r>
              <a:t>unknown_risk_later: 22 records (12.7% of 173); source rows 4, 15, 17, 18, 22, 23, 24, 25, 26, 29, 51, 75, 78, 82, 84, 95, 106, 116, 127, 145, 150, 162.</a:t>
            </a:r>
          </a:p>
          <a:p>
            <a:r>
              <a:t>unknown_risk_active: 9 records (5.2% of 173); source rows 22, 23, 24, 25, 26, 51, 82, 84, 95.</a:t>
            </a:r>
          </a:p>
          <a:p>
            <a:r>
              <a:t>risk_unknown_active_inhouse: 7 records (4.0% of 173); source rows 22, 23, 24, 25, 26, 51, 84.</a:t>
            </a:r>
          </a:p>
          <a:p>
            <a:r>
              <a:t>candidate_test_active: 5 records (2.9% of 173); source rows 22, 23, 24, 25, 26.</a:t>
            </a:r>
          </a:p>
          <a:p>
            <a:r>
              <a:t>The app PNG includes validation concentration and total/flagged record counts. Flagged means at least one saved finding. Red bars show flagged records; teal bars show records with no findings. The sidebar uses the scope printed in the image. Its family counts are distinct records and can overlap. These are the same data in the app and its PNG export.</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Agree the checks. Then validate the corrected source.</a:t>
            </a:r>
          </a:p>
          <a:p/>
          <a:p>
            <a:r>
              <a:t>Suggested timing: 120 seconds</a:t>
            </a:r>
          </a:p>
          <a:p/>
          <a:p>
            <a:r>
              <a:t>WHY THIS MATTERS</a:t>
            </a:r>
          </a:p>
          <a:p>
            <a:r>
              <a:t>Use the current evidence to agree a small set of correction and precision improvements, then measure the result through revalidation.</a:t>
            </a:r>
          </a:p>
          <a:p/>
          <a:p>
            <a:r>
              <a:t>PRESENTER NOTES</a:t>
            </a:r>
          </a:p>
          <a:p>
            <a:r>
              <a:t>76 records have count findings and no other current finding family. Resolving them without introducing other findings would conditionally raise passing records from52 to128, or74.0% of173. This is a scenario, not a new validation result.24 other records have both count and non-count findings, while21 have only non-count findings. Keep source correction, validation-code precision and reporting improvements distinct in delivery. The visible cards separate responsibilities. Record and platform owners confirm facts and correct source values. The inventory team clarifies guidance and review expectations. The app team addresses parsing, placeholder handling and chart mapping. These are proposed responsibilities, not assigned commitments or policy changes. After correction, upload the source again, confirm the same 173 records, and compare findings. The final review should confirm field wording and expected behavior before applying new checks to the inventory.</a:t>
            </a:r>
          </a:p>
          <a:p/>
          <a:p>
            <a:r>
              <a:t>AI INVENTORY COLUMNS</a:t>
            </a:r>
          </a:p>
          <a:p>
            <a:r>
              <a:t>LLM Count; ML/DL Models Count; Vendor Owner; Application / System ID; Data Input to or Processed by AI Tool; Risk Tier; Deployment Status</a:t>
            </a:r>
          </a:p>
          <a:p/>
          <a:p>
            <a:r>
              <a:t>DISCUSSION QUESTION</a:t>
            </a:r>
          </a:p>
          <a:p>
            <a:r>
              <a:t>Which proposed checks should be implemented first, and how will owners verify the corrections?</a:t>
            </a:r>
          </a:p>
          <a:p/>
          <a:p>
            <a:r>
              <a:t>EVIDENCE</a:t>
            </a:r>
          </a:p>
          <a:p>
            <a:r>
              <a:t>count_only: 76 records (43.9% of 173); source rows 3, 6, 10, 11, 13, 26, 29, 30, 31, 32, 37, 38, 39, 40, 43, 45, 46, 47, 50, 51, 52, 53, 64, 66, 67, 68, 69, 70, 71, 72, 74, 77, 85, 86, 88, 89, 90, 91, 92, 93, 94, 99, 100, 101, 104, 105, 115, 116, 117, 118, 121, 123, 125, 126, 127, 129, 130, 133, 134, 137, 140, 142, 145, 146, 147, 150, 151, 154, 155, 161, 163, 166, 168, 170, 171, 172.</a:t>
            </a:r>
          </a:p>
          <a:p>
            <a:r>
              <a:t>countplusother: 24 records (13.9% of 173); source rows 4, 19, 21, 22, 35, 41, 48, 49, 57, 58, 78, 87, 95, 97, 98, 102, 103, 108, 119, 136, 138, 143, 156, 159.</a:t>
            </a:r>
          </a:p>
          <a:p>
            <a:r>
              <a:t>otheronly: 21 records (12.1% of 173); source rows 5, 14, 23, 27, 28, 33, 36, 44, 55, 60, 61, 62, 63, 65, 81, 106, 112, 135, 139, 162, 164.</a:t>
            </a:r>
          </a:p>
          <a:p>
            <a:r>
              <a:t>passed: 52 records (30.1% of 173); source rows 2, 7, 8, 9, 12, 15, 16, 17, 18, 20, 24, 25, 34, 42, 54, 56, 59, 73, 75, 76, 79, 80, 82, 83, 84, 96, 107, 109, 110, 111, 113, 114, 120, 122, 124, 128, 131, 132, 141, 144, 148, 149, 152, 153, 157, 158, 160, 165, 167, 169, 173, 174.</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Records with findings, by rule and column</a:t>
            </a:r>
          </a:p>
          <a:p/>
          <a:p>
            <a:r>
              <a:t>Appendix reference</a:t>
            </a:r>
          </a:p>
          <a:p/>
          <a:p>
            <a:r>
              <a:t>WHY THIS MATTERS</a:t>
            </a:r>
          </a:p>
          <a:p>
            <a:r>
              <a:t>The table counts a record once per rule, even if that rule creates more than one finding on the record.</a:t>
            </a:r>
          </a:p>
          <a:p/>
          <a:p>
            <a:r>
              <a:t>PRESENTER NOTES</a:t>
            </a:r>
          </a:p>
          <a:p>
            <a:r>
              <a:t>Rule rows overlap. COUNT-01 has112 instances but79 affected records; the table uses79. The other current rule definitions may have zero findings in this saved dataset and remain configured. REQ-01 and the owner rules apply more broadly than the one currently affected field listed here. The full field contract and conditions are on the next appendix slide. These are saved outcomes under rules5.4.</a:t>
            </a:r>
          </a:p>
          <a:p/>
          <a:p>
            <a:r>
              <a:t>AI INVENTORY COLUMNS</a:t>
            </a:r>
          </a:p>
          <a:p>
            <a:r>
              <a:t>LLM Count; ML/DL Models Count; Vendor Owner; State; LOB; Application / System ID; Go-Live Date; Business Owner; Technical Owner; Data Environment</a:t>
            </a:r>
          </a:p>
          <a:p/>
          <a:p>
            <a:r>
              <a:t>EVIDENCE</a:t>
            </a:r>
          </a:p>
          <a:p>
            <a:r>
              <a:t>rule_COUNT-01: 79 records (45.7% of 173); source rows 3, 6, 10, 11, 13, 19, 21, 22, 26, 29, 31, 40, 41, 45, 46, 47, 48, 49, 50, 51, 52, 53, 57, 58, 64, 66, 67, 68, 69, 70, 71, 72, 74, 77, 78, 85, 86, 88, 90, 94, 97, 98, 99, 100, 101, 104, 108, 116, 117, 118, 119, 121, 125, 126, 127, 129, 130, 134, 136, 137, 138, 140, 142, 145, 146, 147, 150, 151, 154, 155, 156, 159, 161, 163, 166, 168, 170, 171, 172.</a:t>
            </a:r>
          </a:p>
          <a:p>
            <a:r>
              <a:t>rule_COUNT-02: 15 records (8.7% of 173); source rows 4, 32, 37, 38, 39, 87, 91, 92, 93, 95, 102, 103, 105, 123, 133.</a:t>
            </a:r>
          </a:p>
          <a:p>
            <a:r>
              <a:t>rule_COUNT-03: 6 records (3.5% of 173); source rows 30, 35, 43, 89, 115, 143.</a:t>
            </a:r>
          </a:p>
          <a:p>
            <a:r>
              <a:t>rule_VENDOR-01: 24 records (13.9% of 173); source rows 5, 14, 33, 35, 36, 41, 48, 49, 55, 57, 60, 61, 62, 63, 81, 87, 102, 103, 108, 135, 136, 143, 156, 164.</a:t>
            </a:r>
          </a:p>
          <a:p>
            <a:r>
              <a:t>rule_SCOPE-01: 14 records (8.1% of 173); source rows 4, 14, 19, 21, 22, 23, 27, 28, 35, 36, 65, 95, 135, 138.</a:t>
            </a:r>
          </a:p>
          <a:p>
            <a:r>
              <a:t>rule_ID-02: 7 records (4.0% of 173); source rows 44, 57, 78, 106, 112, 119, 159.</a:t>
            </a:r>
          </a:p>
          <a:p>
            <a:r>
              <a:t>rule_DATE-02: 2 records (1.2% of 173); source rows 98, 139.</a:t>
            </a:r>
          </a:p>
          <a:p>
            <a:r>
              <a:t>rule_REQ-01: 1 records (0.6% of 173); source rows 58.</a:t>
            </a:r>
          </a:p>
          <a:p>
            <a:r>
              <a:t>rule_REQ-02: 1 records (0.6% of 173); source rows 162.</a:t>
            </a:r>
          </a:p>
          <a:p>
            <a:r>
              <a:t>rule_EMAIL-01: 1 records (0.6% of 173); source rows 97.</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Checks that apply to each inventory column</a:t>
            </a:r>
          </a:p>
          <a:p/>
          <a:p>
            <a:r>
              <a:t>Appendix reference</a:t>
            </a:r>
          </a:p>
          <a:p/>
          <a:p>
            <a:r>
              <a:t>WHY THIS MATTERS</a:t>
            </a:r>
          </a:p>
          <a:p>
            <a:r>
              <a:t>Every substantive validation claim in the deck names the source columns that drive it.</a:t>
            </a:r>
          </a:p>
          <a:p/>
          <a:p>
            <a:r>
              <a:t>PRESENTER NOTES</a:t>
            </a:r>
          </a:p>
          <a:p>
            <a:r>
              <a:t>The fixed template has23 columns. Cell requirements can be conditional even though all headers must exist. Counts, Vendor Owner and Go-Live Date have optional or conditional behavior; the other19 fields require values. Dates accept the documented supported date formats. Selections outside the example catalogue can remain valid source responses and appear Unclassified in charts. Human oversight No/Partially and Risk Tier Unknown are accepted; the deck’s follow-up proposals do not redefine them as current errors. The optional Lifecycle column is retained without validation.</a:t>
            </a:r>
          </a:p>
          <a:p/>
          <a:p>
            <a:r>
              <a:t>AI INVENTORY COLUMNS</a:t>
            </a:r>
          </a:p>
          <a:p>
            <a:r>
              <a:t>Application / System ID; AI System / Solution Name; Business Purpose / Intended Use; Business Function; Impact from AI (Patient/Member, Regulatory, Financial); Business Owner; Technical Owner; Vendor Owner; Source of AI System; Type(s) of AI Used; ML/DL Models Count; LLM Count; Data Input to or Processed by AI Tool; Data Environment; Deployment Environment; Deployment Status; Go-Live Date; LOB; State; Risk Tier; Human-in-the-Loop; Submitter Name; Date Submitted</a:t>
            </a:r>
          </a:p>
          <a:p/>
          <a:p>
            <a:r>
              <a:t>EVIDENCE</a:t>
            </a:r>
          </a:p>
          <a:p>
            <a:r>
              <a:t>Column order may vary; exact supported header sets are checked before record validation.</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one record count and a fixed denominator</a:t>
            </a:r>
          </a:p>
          <a:p/>
          <a:p>
            <a:r>
              <a:t>Appendix reference</a:t>
            </a:r>
          </a:p>
          <a:p/>
          <a:p>
            <a:r>
              <a:t>WHY THIS MATTERS</a:t>
            </a:r>
          </a:p>
          <a:p>
            <a:r>
              <a:t>The deck is evidence for a team discussion, with enough detail in the notes to reproduce each cohort.</a:t>
            </a:r>
          </a:p>
          <a:p/>
          <a:p>
            <a:r>
              <a:t>PRESENTER NOTES</a:t>
            </a:r>
          </a:p>
          <a:p>
            <a:r>
              <a:t>Use the root AI Inventory data.csv and saved review ID noted below. The source-row references use logical CSV records, including the header as row1; multiline cells mean physical line numbers differ. Screenshots were captured from the app after aligning visible terminology to records. Drill-down screenshots show the exact selected path and may show a category page; the wider source cohort is described in the notes and headline. All quantitative claims are recomputed from the same saved snapshot using the app’s category rules. Existing validation results remain frozen. The old portfolio deck is preserved separately.</a:t>
            </a:r>
          </a:p>
          <a:p/>
          <a:p>
            <a:r>
              <a:t>AI INVENTORY COLUMNS</a:t>
            </a:r>
          </a:p>
          <a:p>
            <a:r>
              <a:t>AI System / Solution Name; Application / System ID; LLM Count; ML/DL Models Count; Deployment Status; Source of AI System</a:t>
            </a:r>
          </a:p>
          <a:p/>
          <a:p>
            <a:r>
              <a:t>EVIDENCE</a:t>
            </a:r>
          </a:p>
          <a:p>
            <a:r>
              <a:t>SHA-256: fcc16d891b2a69ee8b88f0e2ddd0fa4584439ae1f96855b757d5decf9046dd36; screenshot manifest and calculation scripts kept in temporary working storage; evidence row lists embedded in each slide’s notes.</a:t>
            </a:r>
          </a:p>
          <a:p/>
          <a:p>
            <a:r>
              <a:t>BASELINE</a:t>
            </a:r>
          </a:p>
          <a:p>
            <a:r>
              <a:t>173 source rows = 173 records. All displayed percentages use 173 unless explicitly stated otherwise. Distinct record counts are deduplicated within each cohort; overlapping cohorts are not additive.</a:t>
            </a:r>
          </a:p>
          <a:p>
            <a:r>
              <a:t>Source: AI Inventory data.csv, exported from Krisp_data.xlsx, second tab AI Inventory data. Saved validation review 28b09c1d-4ee4-4a51-a408-0caf7fb82915; rules 5.4; validated as of 28 October 2026. Findings and screenshots are the saved outcomes; proposed checks are not new validation results.</a:t>
            </a:r>
          </a:p>
          <a:p/>
          <a:p>
            <a:r>
              <a:t>WRITING STYLE</a:t>
            </a:r>
          </a:p>
          <a:p>
            <a:r>
              <a:t>ASD-STE100 principles guide most authored slide text. Use short sentences, active voice, direct verbs and one point per sentence. Retain exact technical column names, rule IDs and source quotations. Apply this approach approximately, as requested. Reference: https://www.asd-ste100.org/assets/files/ASD-STE100_ISSUE9.pdf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TEAM REVIEW • CURRENT CHECKS AND PROPOSED IMPROVEMENTS</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AI Inventory validation: 173 records</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LLM Count  •  ML/DL Models Count  •  Vendor Owner  •  Source of AI System  •  Deployment Status</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01</a:t>
            </a:r>
          </a:p>
        </p:txBody>
      </p:sp>
      <p:sp>
        <p:nvSpPr>
          <p:cNvPr id="8" name="TextBox 7"/>
          <p:cNvSpPr txBox="1"/>
          <p:nvPr/>
        </p:nvSpPr>
        <p:spPr>
          <a:xfrm>
            <a:off x="530352" y="1481328"/>
            <a:ext cx="10881360" cy="731520"/>
          </a:xfrm>
          <a:prstGeom prst="rect">
            <a:avLst/>
          </a:prstGeom>
          <a:noFill/>
        </p:spPr>
        <p:txBody>
          <a:bodyPr wrap="square" lIns="0" rIns="0" tIns="0" bIns="0">
            <a:spAutoFit/>
          </a:bodyPr>
          <a:lstStyle/>
          <a:p>
            <a:pPr algn="l">
              <a:lnSpc>
                <a:spcPct val="110000"/>
              </a:lnSpc>
              <a:spcAft>
                <a:spcPts val="200"/>
              </a:spcAft>
              <a:defRPr sz="2400" b="0">
                <a:solidFill>
                  <a:srgbClr val="B1C1D2"/>
                </a:solidFill>
                <a:latin typeface="Arial"/>
              </a:defRPr>
            </a:pPr>
            <a:r>
              <a:t>Use the findings to correct records and improve the checks.</a:t>
            </a:r>
          </a:p>
        </p:txBody>
      </p:sp>
      <p:sp>
        <p:nvSpPr>
          <p:cNvPr id="9" name="Rounded Rectangle 8"/>
          <p:cNvSpPr/>
          <p:nvPr/>
        </p:nvSpPr>
        <p:spPr>
          <a:xfrm>
            <a:off x="530352" y="2560320"/>
            <a:ext cx="3584448" cy="2130552"/>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734056"/>
            <a:ext cx="3218688" cy="594360"/>
          </a:xfrm>
          <a:prstGeom prst="rect">
            <a:avLst/>
          </a:prstGeom>
          <a:noFill/>
        </p:spPr>
        <p:txBody>
          <a:bodyPr wrap="square" lIns="0" rIns="0" tIns="0" bIns="0">
            <a:spAutoFit/>
          </a:bodyPr>
          <a:lstStyle/>
          <a:p>
            <a:pPr algn="l">
              <a:lnSpc>
                <a:spcPct val="110000"/>
              </a:lnSpc>
              <a:spcAft>
                <a:spcPts val="200"/>
              </a:spcAft>
              <a:defRPr sz="3200" b="1">
                <a:solidFill>
                  <a:srgbClr val="69DDD0"/>
                </a:solidFill>
                <a:latin typeface="Arial"/>
              </a:defRPr>
            </a:pPr>
            <a:r>
              <a:t>173</a:t>
            </a:r>
          </a:p>
        </p:txBody>
      </p:sp>
      <p:sp>
        <p:nvSpPr>
          <p:cNvPr id="11" name="TextBox 10"/>
          <p:cNvSpPr txBox="1"/>
          <p:nvPr/>
        </p:nvSpPr>
        <p:spPr>
          <a:xfrm>
            <a:off x="713232" y="3401568"/>
            <a:ext cx="3218688" cy="502920"/>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Source records</a:t>
            </a:r>
          </a:p>
        </p:txBody>
      </p:sp>
      <p:sp>
        <p:nvSpPr>
          <p:cNvPr id="12" name="TextBox 11"/>
          <p:cNvSpPr txBox="1"/>
          <p:nvPr/>
        </p:nvSpPr>
        <p:spPr>
          <a:xfrm>
            <a:off x="713232" y="3950208"/>
            <a:ext cx="3218688" cy="630936"/>
          </a:xfrm>
          <a:prstGeom prst="rect">
            <a:avLst/>
          </a:prstGeom>
          <a:noFill/>
        </p:spPr>
        <p:txBody>
          <a:bodyPr wrap="square" lIns="0" rIns="0" tIns="0" bIns="0">
            <a:spAutoFit/>
          </a:bodyPr>
          <a:lstStyle/>
          <a:p>
            <a:pPr algn="l">
              <a:lnSpc>
                <a:spcPct val="110000"/>
              </a:lnSpc>
              <a:spcAft>
                <a:spcPts val="200"/>
              </a:spcAft>
              <a:defRPr sz="1400" b="0">
                <a:solidFill>
                  <a:srgbClr val="B1C1D2"/>
                </a:solidFill>
                <a:latin typeface="Arial"/>
              </a:defRPr>
            </a:pPr>
            <a:r>
              <a:t>One source row is one record. No rows were removed.</a:t>
            </a:r>
          </a:p>
        </p:txBody>
      </p:sp>
      <p:sp>
        <p:nvSpPr>
          <p:cNvPr id="13" name="Rounded Rectangle 12"/>
          <p:cNvSpPr/>
          <p:nvPr/>
        </p:nvSpPr>
        <p:spPr>
          <a:xfrm>
            <a:off x="4297680" y="2560320"/>
            <a:ext cx="3584448" cy="2130552"/>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80560" y="2734056"/>
            <a:ext cx="3218688" cy="594360"/>
          </a:xfrm>
          <a:prstGeom prst="rect">
            <a:avLst/>
          </a:prstGeom>
          <a:noFill/>
        </p:spPr>
        <p:txBody>
          <a:bodyPr wrap="square" lIns="0" rIns="0" tIns="0" bIns="0">
            <a:spAutoFit/>
          </a:bodyPr>
          <a:lstStyle/>
          <a:p>
            <a:pPr algn="l">
              <a:lnSpc>
                <a:spcPct val="110000"/>
              </a:lnSpc>
              <a:spcAft>
                <a:spcPts val="200"/>
              </a:spcAft>
              <a:defRPr sz="3200" b="1">
                <a:solidFill>
                  <a:srgbClr val="9ABCF4"/>
                </a:solidFill>
                <a:latin typeface="Arial"/>
              </a:defRPr>
            </a:pPr>
            <a:r>
              <a:t>28 OCT 2026</a:t>
            </a:r>
          </a:p>
        </p:txBody>
      </p:sp>
      <p:sp>
        <p:nvSpPr>
          <p:cNvPr id="15" name="TextBox 14"/>
          <p:cNvSpPr txBox="1"/>
          <p:nvPr/>
        </p:nvSpPr>
        <p:spPr>
          <a:xfrm>
            <a:off x="4480560" y="3401568"/>
            <a:ext cx="3218688" cy="502920"/>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Saved validation snapshot</a:t>
            </a:r>
          </a:p>
        </p:txBody>
      </p:sp>
      <p:sp>
        <p:nvSpPr>
          <p:cNvPr id="16" name="TextBox 15"/>
          <p:cNvSpPr txBox="1"/>
          <p:nvPr/>
        </p:nvSpPr>
        <p:spPr>
          <a:xfrm>
            <a:off x="4480560" y="3950208"/>
            <a:ext cx="3218688" cy="630936"/>
          </a:xfrm>
          <a:prstGeom prst="rect">
            <a:avLst/>
          </a:prstGeom>
          <a:noFill/>
        </p:spPr>
        <p:txBody>
          <a:bodyPr wrap="square" lIns="0" rIns="0" tIns="0" bIns="0">
            <a:spAutoFit/>
          </a:bodyPr>
          <a:lstStyle/>
          <a:p>
            <a:pPr algn="l">
              <a:lnSpc>
                <a:spcPct val="110000"/>
              </a:lnSpc>
              <a:spcAft>
                <a:spcPts val="200"/>
              </a:spcAft>
              <a:defRPr sz="1400" b="0">
                <a:solidFill>
                  <a:srgbClr val="B1C1D2"/>
                </a:solidFill>
                <a:latin typeface="Arial"/>
              </a:defRPr>
            </a:pPr>
            <a:r>
              <a:t>Rules 5.4; current results stay separate from proposed checks.</a:t>
            </a:r>
          </a:p>
        </p:txBody>
      </p:sp>
      <p:sp>
        <p:nvSpPr>
          <p:cNvPr id="17" name="Rounded Rectangle 16"/>
          <p:cNvSpPr/>
          <p:nvPr/>
        </p:nvSpPr>
        <p:spPr>
          <a:xfrm>
            <a:off x="8065008" y="2560320"/>
            <a:ext cx="3584448" cy="2130552"/>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47888" y="2734056"/>
            <a:ext cx="3218688" cy="594360"/>
          </a:xfrm>
          <a:prstGeom prst="rect">
            <a:avLst/>
          </a:prstGeom>
          <a:noFill/>
        </p:spPr>
        <p:txBody>
          <a:bodyPr wrap="square" lIns="0" rIns="0" tIns="0" bIns="0">
            <a:spAutoFit/>
          </a:bodyPr>
          <a:lstStyle/>
          <a:p>
            <a:pPr algn="l">
              <a:lnSpc>
                <a:spcPct val="110000"/>
              </a:lnSpc>
              <a:spcAft>
                <a:spcPts val="200"/>
              </a:spcAft>
              <a:defRPr sz="3200" b="1">
                <a:solidFill>
                  <a:srgbClr val="F4C16D"/>
                </a:solidFill>
                <a:latin typeface="Arial"/>
              </a:defRPr>
            </a:pPr>
            <a:r>
              <a:t>20–30 MIN</a:t>
            </a:r>
          </a:p>
        </p:txBody>
      </p:sp>
      <p:sp>
        <p:nvSpPr>
          <p:cNvPr id="19" name="TextBox 18"/>
          <p:cNvSpPr txBox="1"/>
          <p:nvPr/>
        </p:nvSpPr>
        <p:spPr>
          <a:xfrm>
            <a:off x="8247888" y="3401568"/>
            <a:ext cx="3218688" cy="502920"/>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Team discussion</a:t>
            </a:r>
          </a:p>
        </p:txBody>
      </p:sp>
      <p:sp>
        <p:nvSpPr>
          <p:cNvPr id="20" name="TextBox 19"/>
          <p:cNvSpPr txBox="1"/>
          <p:nvPr/>
        </p:nvSpPr>
        <p:spPr>
          <a:xfrm>
            <a:off x="8247888" y="3950208"/>
            <a:ext cx="3218688" cy="630936"/>
          </a:xfrm>
          <a:prstGeom prst="rect">
            <a:avLst/>
          </a:prstGeom>
          <a:noFill/>
        </p:spPr>
        <p:txBody>
          <a:bodyPr wrap="square" lIns="0" rIns="0" tIns="0" bIns="0">
            <a:spAutoFit/>
          </a:bodyPr>
          <a:lstStyle/>
          <a:p>
            <a:pPr algn="l">
              <a:lnSpc>
                <a:spcPct val="110000"/>
              </a:lnSpc>
              <a:spcAft>
                <a:spcPts val="200"/>
              </a:spcAft>
              <a:defRPr sz="1400" b="0">
                <a:solidFill>
                  <a:srgbClr val="B1C1D2"/>
                </a:solidFill>
                <a:latin typeface="Arial"/>
              </a:defRPr>
            </a:pPr>
            <a:r>
              <a:t>Checks to retain, corrections to target, and improvements to agree.</a:t>
            </a:r>
          </a:p>
        </p:txBody>
      </p:sp>
      <p:sp>
        <p:nvSpPr>
          <p:cNvPr id="21" name="TextBox 20"/>
          <p:cNvSpPr txBox="1"/>
          <p:nvPr/>
        </p:nvSpPr>
        <p:spPr>
          <a:xfrm>
            <a:off x="530352" y="5157216"/>
            <a:ext cx="10972800" cy="502920"/>
          </a:xfrm>
          <a:prstGeom prst="rect">
            <a:avLst/>
          </a:prstGeom>
          <a:noFill/>
        </p:spPr>
        <p:txBody>
          <a:bodyPr wrap="square" lIns="0" rIns="0" tIns="0" bIns="0">
            <a:spAutoFit/>
          </a:bodyPr>
          <a:lstStyle/>
          <a:p>
            <a:pPr algn="l">
              <a:lnSpc>
                <a:spcPct val="110000"/>
              </a:lnSpc>
              <a:spcAft>
                <a:spcPts val="200"/>
              </a:spcAft>
              <a:defRPr sz="1700" b="0">
                <a:solidFill>
                  <a:srgbClr val="B1C1D2"/>
                </a:solidFill>
                <a:latin typeface="Arial"/>
              </a:defRPr>
            </a:pPr>
            <a:r>
              <a:t>Krisp_data.xlsx → second tab: AI Inventory data → AI Inventory data.csv</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OBSERVED • RECORD-LEVEL BASELINE</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Model-count checks affect most records with findings</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LLM Count  •  ML/DL Models Count  •  Vendor Owner  •  State  •  LOB</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02</a:t>
            </a:r>
          </a:p>
        </p:txBody>
      </p:sp>
      <p:sp>
        <p:nvSpPr>
          <p:cNvPr id="8" name="Rounded Rectangle 7"/>
          <p:cNvSpPr/>
          <p:nvPr/>
        </p:nvSpPr>
        <p:spPr>
          <a:xfrm>
            <a:off x="502920" y="1755648"/>
            <a:ext cx="3566160" cy="2057400"/>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929384"/>
            <a:ext cx="3200400" cy="594360"/>
          </a:xfrm>
          <a:prstGeom prst="rect">
            <a:avLst/>
          </a:prstGeom>
          <a:noFill/>
        </p:spPr>
        <p:txBody>
          <a:bodyPr wrap="square" lIns="0" rIns="0" tIns="0" bIns="0">
            <a:spAutoFit/>
          </a:bodyPr>
          <a:lstStyle/>
          <a:p>
            <a:pPr algn="l">
              <a:lnSpc>
                <a:spcPct val="110000"/>
              </a:lnSpc>
              <a:spcAft>
                <a:spcPts val="200"/>
              </a:spcAft>
              <a:defRPr sz="3200" b="1">
                <a:solidFill>
                  <a:srgbClr val="F4C16D"/>
                </a:solidFill>
                <a:latin typeface="Arial"/>
              </a:defRPr>
            </a:pPr>
            <a:r>
              <a:t>121 · 69.9%</a:t>
            </a:r>
          </a:p>
        </p:txBody>
      </p:sp>
      <p:sp>
        <p:nvSpPr>
          <p:cNvPr id="10" name="TextBox 9"/>
          <p:cNvSpPr txBox="1"/>
          <p:nvPr/>
        </p:nvSpPr>
        <p:spPr>
          <a:xfrm>
            <a:off x="685800" y="2596896"/>
            <a:ext cx="3200400" cy="502920"/>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Records with findings</a:t>
            </a:r>
          </a:p>
        </p:txBody>
      </p:sp>
      <p:sp>
        <p:nvSpPr>
          <p:cNvPr id="11" name="TextBox 10"/>
          <p:cNvSpPr txBox="1"/>
          <p:nvPr/>
        </p:nvSpPr>
        <p:spPr>
          <a:xfrm>
            <a:off x="685800" y="3145536"/>
            <a:ext cx="3200400" cy="557784"/>
          </a:xfrm>
          <a:prstGeom prst="rect">
            <a:avLst/>
          </a:prstGeom>
          <a:noFill/>
        </p:spPr>
        <p:txBody>
          <a:bodyPr wrap="square" lIns="0" rIns="0" tIns="0" bIns="0">
            <a:spAutoFit/>
          </a:bodyPr>
          <a:lstStyle/>
          <a:p>
            <a:pPr algn="l">
              <a:lnSpc>
                <a:spcPct val="110000"/>
              </a:lnSpc>
              <a:spcAft>
                <a:spcPts val="200"/>
              </a:spcAft>
              <a:defRPr sz="1400" b="0">
                <a:solidFill>
                  <a:srgbClr val="B1C1D2"/>
                </a:solidFill>
                <a:latin typeface="Arial"/>
              </a:defRPr>
            </a:pPr>
            <a:r>
              <a:t>183 finding instances across these 121 records.</a:t>
            </a:r>
          </a:p>
        </p:txBody>
      </p:sp>
      <p:sp>
        <p:nvSpPr>
          <p:cNvPr id="12" name="Rounded Rectangle 11"/>
          <p:cNvSpPr/>
          <p:nvPr/>
        </p:nvSpPr>
        <p:spPr>
          <a:xfrm>
            <a:off x="4315968" y="1755648"/>
            <a:ext cx="3566160" cy="2057400"/>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1929384"/>
            <a:ext cx="3200400" cy="594360"/>
          </a:xfrm>
          <a:prstGeom prst="rect">
            <a:avLst/>
          </a:prstGeom>
          <a:noFill/>
        </p:spPr>
        <p:txBody>
          <a:bodyPr wrap="square" lIns="0" rIns="0" tIns="0" bIns="0">
            <a:spAutoFit/>
          </a:bodyPr>
          <a:lstStyle/>
          <a:p>
            <a:pPr algn="l">
              <a:lnSpc>
                <a:spcPct val="110000"/>
              </a:lnSpc>
              <a:spcAft>
                <a:spcPts val="200"/>
              </a:spcAft>
              <a:defRPr sz="3200" b="1">
                <a:solidFill>
                  <a:srgbClr val="69DDD0"/>
                </a:solidFill>
                <a:latin typeface="Arial"/>
              </a:defRPr>
            </a:pPr>
            <a:r>
              <a:t>100 · 57.8%</a:t>
            </a:r>
          </a:p>
        </p:txBody>
      </p:sp>
      <p:sp>
        <p:nvSpPr>
          <p:cNvPr id="14" name="TextBox 13"/>
          <p:cNvSpPr txBox="1"/>
          <p:nvPr/>
        </p:nvSpPr>
        <p:spPr>
          <a:xfrm>
            <a:off x="4498848" y="2596896"/>
            <a:ext cx="3200400" cy="502920"/>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Records with count findings</a:t>
            </a:r>
          </a:p>
        </p:txBody>
      </p:sp>
      <p:sp>
        <p:nvSpPr>
          <p:cNvPr id="15" name="TextBox 14"/>
          <p:cNvSpPr txBox="1"/>
          <p:nvPr/>
        </p:nvSpPr>
        <p:spPr>
          <a:xfrm>
            <a:off x="4498848" y="3145536"/>
            <a:ext cx="3200400" cy="557784"/>
          </a:xfrm>
          <a:prstGeom prst="rect">
            <a:avLst/>
          </a:prstGeom>
          <a:noFill/>
        </p:spPr>
        <p:txBody>
          <a:bodyPr wrap="square" lIns="0" rIns="0" tIns="0" bIns="0">
            <a:spAutoFit/>
          </a:bodyPr>
          <a:lstStyle/>
          <a:p>
            <a:pPr algn="l">
              <a:lnSpc>
                <a:spcPct val="110000"/>
              </a:lnSpc>
              <a:spcAft>
                <a:spcPts val="200"/>
              </a:spcAft>
              <a:defRPr sz="1400" b="0">
                <a:solidFill>
                  <a:srgbClr val="B1C1D2"/>
                </a:solidFill>
                <a:latin typeface="Arial"/>
              </a:defRPr>
            </a:pPr>
            <a:r>
              <a:t>A record is counted once, even if both count fields fail.</a:t>
            </a:r>
          </a:p>
        </p:txBody>
      </p:sp>
      <p:sp>
        <p:nvSpPr>
          <p:cNvPr id="16" name="Rounded Rectangle 15"/>
          <p:cNvSpPr/>
          <p:nvPr/>
        </p:nvSpPr>
        <p:spPr>
          <a:xfrm>
            <a:off x="8129016" y="1755648"/>
            <a:ext cx="3566160" cy="2057400"/>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11896" y="1929384"/>
            <a:ext cx="3200400" cy="594360"/>
          </a:xfrm>
          <a:prstGeom prst="rect">
            <a:avLst/>
          </a:prstGeom>
          <a:noFill/>
        </p:spPr>
        <p:txBody>
          <a:bodyPr wrap="square" lIns="0" rIns="0" tIns="0" bIns="0">
            <a:spAutoFit/>
          </a:bodyPr>
          <a:lstStyle/>
          <a:p>
            <a:pPr algn="l">
              <a:lnSpc>
                <a:spcPct val="110000"/>
              </a:lnSpc>
              <a:spcAft>
                <a:spcPts val="200"/>
              </a:spcAft>
              <a:defRPr sz="3200" b="1">
                <a:solidFill>
                  <a:srgbClr val="9ABCF4"/>
                </a:solidFill>
                <a:latin typeface="Arial"/>
              </a:defRPr>
            </a:pPr>
            <a:r>
              <a:t>52 · 30.1%</a:t>
            </a:r>
          </a:p>
        </p:txBody>
      </p:sp>
      <p:sp>
        <p:nvSpPr>
          <p:cNvPr id="18" name="TextBox 17"/>
          <p:cNvSpPr txBox="1"/>
          <p:nvPr/>
        </p:nvSpPr>
        <p:spPr>
          <a:xfrm>
            <a:off x="8311896" y="2596896"/>
            <a:ext cx="3200400" cy="502920"/>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Records passing today</a:t>
            </a:r>
          </a:p>
        </p:txBody>
      </p:sp>
      <p:sp>
        <p:nvSpPr>
          <p:cNvPr id="19" name="TextBox 18"/>
          <p:cNvSpPr txBox="1"/>
          <p:nvPr/>
        </p:nvSpPr>
        <p:spPr>
          <a:xfrm>
            <a:off x="8311896" y="3145536"/>
            <a:ext cx="3200400" cy="557784"/>
          </a:xfrm>
          <a:prstGeom prst="rect">
            <a:avLst/>
          </a:prstGeom>
          <a:noFill/>
        </p:spPr>
        <p:txBody>
          <a:bodyPr wrap="square" lIns="0" rIns="0" tIns="0" bIns="0">
            <a:spAutoFit/>
          </a:bodyPr>
          <a:lstStyle/>
          <a:p>
            <a:pPr algn="l">
              <a:lnSpc>
                <a:spcPct val="110000"/>
              </a:lnSpc>
              <a:spcAft>
                <a:spcPts val="200"/>
              </a:spcAft>
              <a:defRPr sz="1400" b="0">
                <a:solidFill>
                  <a:srgbClr val="B1C1D2"/>
                </a:solidFill>
                <a:latin typeface="Arial"/>
              </a:defRPr>
            </a:pPr>
            <a:r>
              <a:t>Passing describes current configured checks.</a:t>
            </a:r>
          </a:p>
        </p:txBody>
      </p:sp>
      <p:pic>
        <p:nvPicPr>
          <p:cNvPr id="20" name="Picture 19" descr="vreview-summary.png"/>
          <p:cNvPicPr>
            <a:picLocks noChangeAspect="1"/>
          </p:cNvPicPr>
          <p:nvPr/>
        </p:nvPicPr>
        <p:blipFill>
          <a:blip r:embed="rId2"/>
          <a:srcRect/>
          <a:stretch>
            <a:fillRect/>
          </a:stretch>
        </p:blipFill>
        <p:spPr>
          <a:xfrm>
            <a:off x="685799" y="4352573"/>
            <a:ext cx="10789920" cy="338269"/>
          </a:xfrm>
          <a:prstGeom prst="rect">
            <a:avLst/>
          </a:prstGeom>
        </p:spPr>
      </p:pic>
      <p:sp>
        <p:nvSpPr>
          <p:cNvPr id="21" name="TextBox 20"/>
          <p:cNvSpPr txBox="1"/>
          <p:nvPr/>
        </p:nvSpPr>
        <p:spPr>
          <a:xfrm>
            <a:off x="685800" y="5166360"/>
            <a:ext cx="10789920" cy="777240"/>
          </a:xfrm>
          <a:prstGeom prst="rect">
            <a:avLst/>
          </a:prstGeom>
          <a:noFill/>
        </p:spPr>
        <p:txBody>
          <a:bodyPr wrap="square" lIns="0" rIns="0" tIns="0" bIns="0">
            <a:spAutoFit/>
          </a:bodyPr>
          <a:lstStyle/>
          <a:p>
            <a:pPr algn="l">
              <a:lnSpc>
                <a:spcPct val="110000"/>
              </a:lnSpc>
              <a:spcAft>
                <a:spcPts val="200"/>
              </a:spcAft>
              <a:defRPr sz="2100" b="0">
                <a:solidFill>
                  <a:srgbClr val="B1C1D2"/>
                </a:solidFill>
                <a:latin typeface="Arial"/>
              </a:defRPr>
            </a:pPr>
            <a:r>
              <a:t>The count fields cause most findings. Give owners specific correction steps.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CURRENT VALIDATION • EXECUTABLE CHECKS</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Show each condition and the required response</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Type(s) of AI Used  •  LLM Count  •  ML/DL Models Count  •  Source of AI System  •  Vendor Owner  •  Deployment Status  •  Go-Live Date  •  Business Owner  •  Technical Owner</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03</a:t>
            </a:r>
          </a:p>
        </p:txBody>
      </p:sp>
      <p:pic>
        <p:nvPicPr>
          <p:cNvPr id="8" name="Picture 7" descr="vreview-llm-rules.png"/>
          <p:cNvPicPr>
            <a:picLocks noChangeAspect="1"/>
          </p:cNvPicPr>
          <p:nvPr/>
        </p:nvPicPr>
        <p:blipFill>
          <a:blip r:embed="rId2"/>
          <a:srcRect/>
          <a:stretch>
            <a:fillRect/>
          </a:stretch>
        </p:blipFill>
        <p:spPr>
          <a:xfrm>
            <a:off x="502920" y="1933738"/>
            <a:ext cx="4572000" cy="3831771"/>
          </a:xfrm>
          <a:prstGeom prst="rect">
            <a:avLst/>
          </a:prstGeom>
        </p:spPr>
      </p:pic>
      <p:sp>
        <p:nvSpPr>
          <p:cNvPr id="9" name="TextBox 8"/>
          <p:cNvSpPr txBox="1"/>
          <p:nvPr/>
        </p:nvSpPr>
        <p:spPr>
          <a:xfrm>
            <a:off x="5376672" y="1691640"/>
            <a:ext cx="6291072" cy="320040"/>
          </a:xfrm>
          <a:prstGeom prst="rect">
            <a:avLst/>
          </a:prstGeom>
          <a:noFill/>
        </p:spPr>
        <p:txBody>
          <a:bodyPr wrap="square" lIns="0" rIns="0" tIns="0" bIns="0">
            <a:spAutoFit/>
          </a:bodyPr>
          <a:lstStyle/>
          <a:p>
            <a:pPr algn="l">
              <a:lnSpc>
                <a:spcPct val="110000"/>
              </a:lnSpc>
              <a:spcAft>
                <a:spcPts val="200"/>
              </a:spcAft>
              <a:defRPr sz="1800" b="1">
                <a:solidFill>
                  <a:srgbClr val="69DDD0"/>
                </a:solidFill>
                <a:latin typeface="Arial"/>
              </a:defRPr>
            </a:pPr>
            <a:r>
              <a:t>Type(s) of AI Used → model counts</a:t>
            </a:r>
          </a:p>
        </p:txBody>
      </p:sp>
      <p:sp>
        <p:nvSpPr>
          <p:cNvPr id="10" name="TextBox 9"/>
          <p:cNvSpPr txBox="1"/>
          <p:nvPr/>
        </p:nvSpPr>
        <p:spPr>
          <a:xfrm>
            <a:off x="5376672" y="2057400"/>
            <a:ext cx="6291072" cy="594360"/>
          </a:xfrm>
          <a:prstGeom prst="rect">
            <a:avLst/>
          </a:prstGeom>
          <a:noFill/>
        </p:spPr>
        <p:txBody>
          <a:bodyPr wrap="square" lIns="0" rIns="0" tIns="0" bIns="0">
            <a:spAutoFit/>
          </a:bodyPr>
          <a:lstStyle/>
          <a:p>
            <a:pPr algn="l">
              <a:lnSpc>
                <a:spcPct val="110000"/>
              </a:lnSpc>
              <a:spcAft>
                <a:spcPts val="200"/>
              </a:spcAft>
              <a:defRPr sz="1600" b="0">
                <a:solidFill>
                  <a:srgbClr val="B1C1D2"/>
                </a:solidFill>
                <a:latin typeface="Arial"/>
              </a:defRPr>
            </a:pPr>
            <a:r>
              <a:t>LLM / GenAI / Agentic: LLM Count ≥ 0.</a:t>
            </a:r>
          </a:p>
          <a:p>
            <a:pPr algn="l">
              <a:lnSpc>
                <a:spcPct val="110000"/>
              </a:lnSpc>
              <a:spcAft>
                <a:spcPts val="200"/>
              </a:spcAft>
              <a:defRPr sz="1600" b="0">
                <a:solidFill>
                  <a:srgbClr val="B1C1D2"/>
                </a:solidFill>
                <a:latin typeface="Arial"/>
              </a:defRPr>
            </a:pPr>
            <a:r>
              <a:t>ML / DL / Predictive: ML/DL Models Count ≥ 1.</a:t>
            </a:r>
          </a:p>
        </p:txBody>
      </p:sp>
      <p:sp>
        <p:nvSpPr>
          <p:cNvPr id="11" name="TextBox 10"/>
          <p:cNvSpPr txBox="1"/>
          <p:nvPr/>
        </p:nvSpPr>
        <p:spPr>
          <a:xfrm>
            <a:off x="5376672" y="2743200"/>
            <a:ext cx="6291072" cy="320040"/>
          </a:xfrm>
          <a:prstGeom prst="rect">
            <a:avLst/>
          </a:prstGeom>
          <a:noFill/>
        </p:spPr>
        <p:txBody>
          <a:bodyPr wrap="square" lIns="0" rIns="0" tIns="0" bIns="0">
            <a:spAutoFit/>
          </a:bodyPr>
          <a:lstStyle/>
          <a:p>
            <a:pPr algn="l">
              <a:lnSpc>
                <a:spcPct val="110000"/>
              </a:lnSpc>
              <a:spcAft>
                <a:spcPts val="200"/>
              </a:spcAft>
              <a:defRPr sz="1800" b="1">
                <a:solidFill>
                  <a:srgbClr val="69DDD0"/>
                </a:solidFill>
                <a:latin typeface="Arial"/>
              </a:defRPr>
            </a:pPr>
            <a:r>
              <a:t>Source of AI System → Vendor Owner</a:t>
            </a:r>
          </a:p>
        </p:txBody>
      </p:sp>
      <p:sp>
        <p:nvSpPr>
          <p:cNvPr id="12" name="TextBox 11"/>
          <p:cNvSpPr txBox="1"/>
          <p:nvPr/>
        </p:nvSpPr>
        <p:spPr>
          <a:xfrm>
            <a:off x="5376672" y="3108960"/>
            <a:ext cx="6291072" cy="594360"/>
          </a:xfrm>
          <a:prstGeom prst="rect">
            <a:avLst/>
          </a:prstGeom>
          <a:noFill/>
        </p:spPr>
        <p:txBody>
          <a:bodyPr wrap="square" lIns="0" rIns="0" tIns="0" bIns="0">
            <a:spAutoFit/>
          </a:bodyPr>
          <a:lstStyle/>
          <a:p>
            <a:pPr algn="l">
              <a:lnSpc>
                <a:spcPct val="110000"/>
              </a:lnSpc>
              <a:spcAft>
                <a:spcPts val="200"/>
              </a:spcAft>
              <a:defRPr sz="1600" b="0">
                <a:solidFill>
                  <a:srgbClr val="B1C1D2"/>
                </a:solidFill>
                <a:latin typeface="Arial"/>
              </a:defRPr>
            </a:pPr>
            <a:r>
              <a:t>Vendor-related acquisition requires a contact.</a:t>
            </a:r>
          </a:p>
        </p:txBody>
      </p:sp>
      <p:sp>
        <p:nvSpPr>
          <p:cNvPr id="13" name="TextBox 12"/>
          <p:cNvSpPr txBox="1"/>
          <p:nvPr/>
        </p:nvSpPr>
        <p:spPr>
          <a:xfrm>
            <a:off x="5376672" y="3794760"/>
            <a:ext cx="6291072" cy="320040"/>
          </a:xfrm>
          <a:prstGeom prst="rect">
            <a:avLst/>
          </a:prstGeom>
          <a:noFill/>
        </p:spPr>
        <p:txBody>
          <a:bodyPr wrap="square" lIns="0" rIns="0" tIns="0" bIns="0">
            <a:spAutoFit/>
          </a:bodyPr>
          <a:lstStyle/>
          <a:p>
            <a:pPr algn="l">
              <a:lnSpc>
                <a:spcPct val="110000"/>
              </a:lnSpc>
              <a:spcAft>
                <a:spcPts val="200"/>
              </a:spcAft>
              <a:defRPr sz="1800" b="1">
                <a:solidFill>
                  <a:srgbClr val="69DDD0"/>
                </a:solidFill>
                <a:latin typeface="Arial"/>
              </a:defRPr>
            </a:pPr>
            <a:r>
              <a:t>Deployment Status → Go-Live Date</a:t>
            </a:r>
          </a:p>
        </p:txBody>
      </p:sp>
      <p:sp>
        <p:nvSpPr>
          <p:cNvPr id="14" name="TextBox 13"/>
          <p:cNvSpPr txBox="1"/>
          <p:nvPr/>
        </p:nvSpPr>
        <p:spPr>
          <a:xfrm>
            <a:off x="5376672" y="4160520"/>
            <a:ext cx="6291072" cy="594360"/>
          </a:xfrm>
          <a:prstGeom prst="rect">
            <a:avLst/>
          </a:prstGeom>
          <a:noFill/>
        </p:spPr>
        <p:txBody>
          <a:bodyPr wrap="square" lIns="0" rIns="0" tIns="0" bIns="0">
            <a:spAutoFit/>
          </a:bodyPr>
          <a:lstStyle/>
          <a:p>
            <a:pPr algn="l">
              <a:lnSpc>
                <a:spcPct val="110000"/>
              </a:lnSpc>
              <a:spcAft>
                <a:spcPts val="200"/>
              </a:spcAft>
              <a:defRPr sz="1600" b="0">
                <a:solidFill>
                  <a:srgbClr val="B1C1D2"/>
                </a:solidFill>
                <a:latin typeface="Arial"/>
              </a:defRPr>
            </a:pPr>
            <a:r>
              <a:t>Active requires a valid date; future dates are accepted.</a:t>
            </a:r>
          </a:p>
        </p:txBody>
      </p:sp>
      <p:sp>
        <p:nvSpPr>
          <p:cNvPr id="15" name="TextBox 14"/>
          <p:cNvSpPr txBox="1"/>
          <p:nvPr/>
        </p:nvSpPr>
        <p:spPr>
          <a:xfrm>
            <a:off x="5376672" y="4846320"/>
            <a:ext cx="6291072" cy="320040"/>
          </a:xfrm>
          <a:prstGeom prst="rect">
            <a:avLst/>
          </a:prstGeom>
          <a:noFill/>
        </p:spPr>
        <p:txBody>
          <a:bodyPr wrap="square" lIns="0" rIns="0" tIns="0" bIns="0">
            <a:spAutoFit/>
          </a:bodyPr>
          <a:lstStyle/>
          <a:p>
            <a:pPr algn="l">
              <a:lnSpc>
                <a:spcPct val="110000"/>
              </a:lnSpc>
              <a:spcAft>
                <a:spcPts val="200"/>
              </a:spcAft>
              <a:defRPr sz="1800" b="1">
                <a:solidFill>
                  <a:srgbClr val="69DDD0"/>
                </a:solidFill>
                <a:latin typeface="Arial"/>
              </a:defRPr>
            </a:pPr>
            <a:r>
              <a:t>Business Owner / Technical Owner</a:t>
            </a:r>
          </a:p>
        </p:txBody>
      </p:sp>
      <p:sp>
        <p:nvSpPr>
          <p:cNvPr id="16" name="TextBox 15"/>
          <p:cNvSpPr txBox="1"/>
          <p:nvPr/>
        </p:nvSpPr>
        <p:spPr>
          <a:xfrm>
            <a:off x="5376672" y="5212080"/>
            <a:ext cx="6291072" cy="594360"/>
          </a:xfrm>
          <a:prstGeom prst="rect">
            <a:avLst/>
          </a:prstGeom>
          <a:noFill/>
        </p:spPr>
        <p:txBody>
          <a:bodyPr wrap="square" lIns="0" rIns="0" tIns="0" bIns="0">
            <a:spAutoFit/>
          </a:bodyPr>
          <a:lstStyle/>
          <a:p>
            <a:pPr algn="l">
              <a:lnSpc>
                <a:spcPct val="110000"/>
              </a:lnSpc>
              <a:spcAft>
                <a:spcPts val="200"/>
              </a:spcAft>
              <a:defRPr sz="1600" b="0">
                <a:solidFill>
                  <a:srgbClr val="B1C1D2"/>
                </a:solidFill>
                <a:latin typeface="Arial"/>
              </a:defRPr>
            </a:pPr>
            <a:r>
              <a:t>A name or valid email from any domain is accepted.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OBSERVED • OVERLAPPING COUNT FINDINGS</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Both model-count fields have findings in 33 records</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Type(s) of AI Used  •  LLM Count  •  ML/DL Models Count</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04</a:t>
            </a:r>
          </a:p>
        </p:txBody>
      </p:sp>
      <p:sp>
        <p:nvSpPr>
          <p:cNvPr id="8" name="TextBox 7"/>
          <p:cNvSpPr txBox="1"/>
          <p:nvPr/>
        </p:nvSpPr>
        <p:spPr>
          <a:xfrm>
            <a:off x="685800" y="1755648"/>
            <a:ext cx="5486400" cy="365760"/>
          </a:xfrm>
          <a:prstGeom prst="rect">
            <a:avLst/>
          </a:prstGeom>
          <a:noFill/>
        </p:spPr>
        <p:txBody>
          <a:bodyPr wrap="square" lIns="0" rIns="0" tIns="0" bIns="0">
            <a:spAutoFit/>
          </a:bodyPr>
          <a:lstStyle/>
          <a:p>
            <a:pPr algn="l">
              <a:lnSpc>
                <a:spcPct val="110000"/>
              </a:lnSpc>
              <a:spcAft>
                <a:spcPts val="200"/>
              </a:spcAft>
              <a:defRPr sz="2100" b="1">
                <a:solidFill>
                  <a:srgbClr val="F2F6FB"/>
                </a:solidFill>
                <a:latin typeface="Arial"/>
              </a:defRPr>
            </a:pPr>
            <a:r>
              <a:t>LLM Count findings</a:t>
            </a:r>
          </a:p>
        </p:txBody>
      </p:sp>
      <p:sp>
        <p:nvSpPr>
          <p:cNvPr id="9" name="Rectangle 8"/>
          <p:cNvSpPr/>
          <p:nvPr/>
        </p:nvSpPr>
        <p:spPr>
          <a:xfrm>
            <a:off x="685800" y="2258568"/>
            <a:ext cx="8046720" cy="201168"/>
          </a:xfrm>
          <a:prstGeom prst="rect">
            <a:avLst/>
          </a:prstGeom>
          <a:solidFill>
            <a:srgbClr val="203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85800" y="2258568"/>
            <a:ext cx="3907077" cy="20116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0" y="1801368"/>
            <a:ext cx="2377440" cy="457200"/>
          </a:xfrm>
          <a:prstGeom prst="rect">
            <a:avLst/>
          </a:prstGeom>
          <a:noFill/>
        </p:spPr>
        <p:txBody>
          <a:bodyPr wrap="square" lIns="0" rIns="0" tIns="0" bIns="0">
            <a:spAutoFit/>
          </a:bodyPr>
          <a:lstStyle/>
          <a:p>
            <a:pPr algn="l">
              <a:lnSpc>
                <a:spcPct val="110000"/>
              </a:lnSpc>
              <a:spcAft>
                <a:spcPts val="200"/>
              </a:spcAft>
              <a:defRPr sz="2700" b="1">
                <a:solidFill>
                  <a:srgbClr val="69DDD0"/>
                </a:solidFill>
                <a:latin typeface="Arial"/>
              </a:defRPr>
            </a:pPr>
            <a:r>
              <a:t>84 records</a:t>
            </a:r>
          </a:p>
        </p:txBody>
      </p:sp>
      <p:sp>
        <p:nvSpPr>
          <p:cNvPr id="12" name="TextBox 11"/>
          <p:cNvSpPr txBox="1"/>
          <p:nvPr/>
        </p:nvSpPr>
        <p:spPr>
          <a:xfrm>
            <a:off x="9144000" y="2240280"/>
            <a:ext cx="2377440" cy="274320"/>
          </a:xfrm>
          <a:prstGeom prst="rect">
            <a:avLst/>
          </a:prstGeom>
          <a:noFill/>
        </p:spPr>
        <p:txBody>
          <a:bodyPr wrap="square" lIns="0" rIns="0" tIns="0" bIns="0">
            <a:spAutoFit/>
          </a:bodyPr>
          <a:lstStyle/>
          <a:p>
            <a:pPr algn="l">
              <a:lnSpc>
                <a:spcPct val="110000"/>
              </a:lnSpc>
              <a:spcAft>
                <a:spcPts val="200"/>
              </a:spcAft>
              <a:defRPr sz="1500" b="0">
                <a:solidFill>
                  <a:srgbClr val="B1C1D2"/>
                </a:solidFill>
                <a:latin typeface="Arial"/>
              </a:defRPr>
            </a:pPr>
            <a:r>
              <a:t>48.6% of all 173</a:t>
            </a:r>
          </a:p>
        </p:txBody>
      </p:sp>
      <p:sp>
        <p:nvSpPr>
          <p:cNvPr id="13" name="TextBox 12"/>
          <p:cNvSpPr txBox="1"/>
          <p:nvPr/>
        </p:nvSpPr>
        <p:spPr>
          <a:xfrm>
            <a:off x="685800" y="2834639"/>
            <a:ext cx="5486400" cy="365760"/>
          </a:xfrm>
          <a:prstGeom prst="rect">
            <a:avLst/>
          </a:prstGeom>
          <a:noFill/>
        </p:spPr>
        <p:txBody>
          <a:bodyPr wrap="square" lIns="0" rIns="0" tIns="0" bIns="0">
            <a:spAutoFit/>
          </a:bodyPr>
          <a:lstStyle/>
          <a:p>
            <a:pPr algn="l">
              <a:lnSpc>
                <a:spcPct val="110000"/>
              </a:lnSpc>
              <a:spcAft>
                <a:spcPts val="200"/>
              </a:spcAft>
              <a:defRPr sz="2100" b="1">
                <a:solidFill>
                  <a:srgbClr val="F2F6FB"/>
                </a:solidFill>
                <a:latin typeface="Arial"/>
              </a:defRPr>
            </a:pPr>
            <a:r>
              <a:t>ML/DL Models Count findings</a:t>
            </a:r>
          </a:p>
        </p:txBody>
      </p:sp>
      <p:sp>
        <p:nvSpPr>
          <p:cNvPr id="14" name="Rectangle 13"/>
          <p:cNvSpPr/>
          <p:nvPr/>
        </p:nvSpPr>
        <p:spPr>
          <a:xfrm>
            <a:off x="685800" y="3337559"/>
            <a:ext cx="8046720" cy="201168"/>
          </a:xfrm>
          <a:prstGeom prst="rect">
            <a:avLst/>
          </a:prstGeom>
          <a:solidFill>
            <a:srgbClr val="203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3337559"/>
            <a:ext cx="2279128" cy="201168"/>
          </a:xfrm>
          <a:prstGeom prst="rect">
            <a:avLst/>
          </a:prstGeom>
          <a:solidFill>
            <a:srgbClr val="9AB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0" y="2880359"/>
            <a:ext cx="2377440" cy="457200"/>
          </a:xfrm>
          <a:prstGeom prst="rect">
            <a:avLst/>
          </a:prstGeom>
          <a:noFill/>
        </p:spPr>
        <p:txBody>
          <a:bodyPr wrap="square" lIns="0" rIns="0" tIns="0" bIns="0">
            <a:spAutoFit/>
          </a:bodyPr>
          <a:lstStyle/>
          <a:p>
            <a:pPr algn="l">
              <a:lnSpc>
                <a:spcPct val="110000"/>
              </a:lnSpc>
              <a:spcAft>
                <a:spcPts val="200"/>
              </a:spcAft>
              <a:defRPr sz="2700" b="1">
                <a:solidFill>
                  <a:srgbClr val="9ABCF4"/>
                </a:solidFill>
                <a:latin typeface="Arial"/>
              </a:defRPr>
            </a:pPr>
            <a:r>
              <a:t>49 records</a:t>
            </a:r>
          </a:p>
        </p:txBody>
      </p:sp>
      <p:sp>
        <p:nvSpPr>
          <p:cNvPr id="17" name="TextBox 16"/>
          <p:cNvSpPr txBox="1"/>
          <p:nvPr/>
        </p:nvSpPr>
        <p:spPr>
          <a:xfrm>
            <a:off x="9144000" y="3319272"/>
            <a:ext cx="2377440" cy="274320"/>
          </a:xfrm>
          <a:prstGeom prst="rect">
            <a:avLst/>
          </a:prstGeom>
          <a:noFill/>
        </p:spPr>
        <p:txBody>
          <a:bodyPr wrap="square" lIns="0" rIns="0" tIns="0" bIns="0">
            <a:spAutoFit/>
          </a:bodyPr>
          <a:lstStyle/>
          <a:p>
            <a:pPr algn="l">
              <a:lnSpc>
                <a:spcPct val="110000"/>
              </a:lnSpc>
              <a:spcAft>
                <a:spcPts val="200"/>
              </a:spcAft>
              <a:defRPr sz="1500" b="0">
                <a:solidFill>
                  <a:srgbClr val="B1C1D2"/>
                </a:solidFill>
                <a:latin typeface="Arial"/>
              </a:defRPr>
            </a:pPr>
            <a:r>
              <a:t>28.3% of all 173</a:t>
            </a:r>
          </a:p>
        </p:txBody>
      </p:sp>
      <p:sp>
        <p:nvSpPr>
          <p:cNvPr id="18" name="TextBox 17"/>
          <p:cNvSpPr txBox="1"/>
          <p:nvPr/>
        </p:nvSpPr>
        <p:spPr>
          <a:xfrm>
            <a:off x="685800" y="3913631"/>
            <a:ext cx="5486400" cy="365760"/>
          </a:xfrm>
          <a:prstGeom prst="rect">
            <a:avLst/>
          </a:prstGeom>
          <a:noFill/>
        </p:spPr>
        <p:txBody>
          <a:bodyPr wrap="square" lIns="0" rIns="0" tIns="0" bIns="0">
            <a:spAutoFit/>
          </a:bodyPr>
          <a:lstStyle/>
          <a:p>
            <a:pPr algn="l">
              <a:lnSpc>
                <a:spcPct val="110000"/>
              </a:lnSpc>
              <a:spcAft>
                <a:spcPts val="200"/>
              </a:spcAft>
              <a:defRPr sz="2100" b="1">
                <a:solidFill>
                  <a:srgbClr val="F2F6FB"/>
                </a:solidFill>
                <a:latin typeface="Arial"/>
              </a:defRPr>
            </a:pPr>
            <a:r>
              <a:t>Both count fields</a:t>
            </a:r>
          </a:p>
        </p:txBody>
      </p:sp>
      <p:sp>
        <p:nvSpPr>
          <p:cNvPr id="19" name="Rectangle 18"/>
          <p:cNvSpPr/>
          <p:nvPr/>
        </p:nvSpPr>
        <p:spPr>
          <a:xfrm>
            <a:off x="685800" y="4416551"/>
            <a:ext cx="8046720" cy="201168"/>
          </a:xfrm>
          <a:prstGeom prst="rect">
            <a:avLst/>
          </a:prstGeom>
          <a:solidFill>
            <a:srgbClr val="2034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416551"/>
            <a:ext cx="1534923" cy="201168"/>
          </a:xfrm>
          <a:prstGeom prst="rect">
            <a:avLst/>
          </a:prstGeom>
          <a:solidFill>
            <a:srgbClr val="F4C1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0" y="3959351"/>
            <a:ext cx="2377440" cy="457200"/>
          </a:xfrm>
          <a:prstGeom prst="rect">
            <a:avLst/>
          </a:prstGeom>
          <a:noFill/>
        </p:spPr>
        <p:txBody>
          <a:bodyPr wrap="square" lIns="0" rIns="0" tIns="0" bIns="0">
            <a:spAutoFit/>
          </a:bodyPr>
          <a:lstStyle/>
          <a:p>
            <a:pPr algn="l">
              <a:lnSpc>
                <a:spcPct val="110000"/>
              </a:lnSpc>
              <a:spcAft>
                <a:spcPts val="200"/>
              </a:spcAft>
              <a:defRPr sz="2700" b="1">
                <a:solidFill>
                  <a:srgbClr val="F4C16D"/>
                </a:solidFill>
                <a:latin typeface="Arial"/>
              </a:defRPr>
            </a:pPr>
            <a:r>
              <a:t>33 records</a:t>
            </a:r>
          </a:p>
        </p:txBody>
      </p:sp>
      <p:sp>
        <p:nvSpPr>
          <p:cNvPr id="22" name="TextBox 21"/>
          <p:cNvSpPr txBox="1"/>
          <p:nvPr/>
        </p:nvSpPr>
        <p:spPr>
          <a:xfrm>
            <a:off x="9144000" y="4398264"/>
            <a:ext cx="2377440" cy="274320"/>
          </a:xfrm>
          <a:prstGeom prst="rect">
            <a:avLst/>
          </a:prstGeom>
          <a:noFill/>
        </p:spPr>
        <p:txBody>
          <a:bodyPr wrap="square" lIns="0" rIns="0" tIns="0" bIns="0">
            <a:spAutoFit/>
          </a:bodyPr>
          <a:lstStyle/>
          <a:p>
            <a:pPr algn="l">
              <a:lnSpc>
                <a:spcPct val="110000"/>
              </a:lnSpc>
              <a:spcAft>
                <a:spcPts val="200"/>
              </a:spcAft>
              <a:defRPr sz="1500" b="0">
                <a:solidFill>
                  <a:srgbClr val="B1C1D2"/>
                </a:solidFill>
                <a:latin typeface="Arial"/>
              </a:defRPr>
            </a:pPr>
            <a:r>
              <a:t>19.1% of all 173</a:t>
            </a:r>
          </a:p>
        </p:txBody>
      </p:sp>
      <p:sp>
        <p:nvSpPr>
          <p:cNvPr id="23" name="Rounded Rectangle 22"/>
          <p:cNvSpPr/>
          <p:nvPr/>
        </p:nvSpPr>
        <p:spPr>
          <a:xfrm>
            <a:off x="685800" y="5120640"/>
            <a:ext cx="10789920" cy="658368"/>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86968" y="5303520"/>
            <a:ext cx="10378440" cy="320040"/>
          </a:xfrm>
          <a:prstGeom prst="rect">
            <a:avLst/>
          </a:prstGeom>
          <a:noFill/>
        </p:spPr>
        <p:txBody>
          <a:bodyPr wrap="square" lIns="0" rIns="0" tIns="0" bIns="0">
            <a:spAutoFit/>
          </a:bodyPr>
          <a:lstStyle/>
          <a:p>
            <a:pPr algn="l">
              <a:lnSpc>
                <a:spcPct val="110000"/>
              </a:lnSpc>
              <a:spcAft>
                <a:spcPts val="200"/>
              </a:spcAft>
              <a:defRPr sz="2000" b="1">
                <a:solidFill>
                  <a:srgbClr val="69DDD0"/>
                </a:solidFill>
                <a:latin typeface="Arial"/>
              </a:defRPr>
            </a:pPr>
            <a:r>
              <a:t>84 + 49 − 33 = 100 distinct records with a model-count finding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OBSERVED • SAME FINDING FAMILY, DIFFERENT CAUSES</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Use different actions for known and unknown counts</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LLM Count  •  ML/DL Models Count  •  Type(s) of AI Used</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05</a:t>
            </a:r>
          </a:p>
        </p:txBody>
      </p:sp>
      <p:sp>
        <p:nvSpPr>
          <p:cNvPr id="8" name="TextBox 7"/>
          <p:cNvSpPr txBox="1"/>
          <p:nvPr/>
        </p:nvSpPr>
        <p:spPr>
          <a:xfrm>
            <a:off x="548640" y="1627632"/>
            <a:ext cx="5486400" cy="274320"/>
          </a:xfrm>
          <a:prstGeom prst="rect">
            <a:avLst/>
          </a:prstGeom>
          <a:noFill/>
        </p:spPr>
        <p:txBody>
          <a:bodyPr wrap="square" lIns="0" rIns="0" tIns="0" bIns="0">
            <a:spAutoFit/>
          </a:bodyPr>
          <a:lstStyle/>
          <a:p>
            <a:pPr algn="l">
              <a:lnSpc>
                <a:spcPct val="110000"/>
              </a:lnSpc>
              <a:spcAft>
                <a:spcPts val="200"/>
              </a:spcAft>
              <a:defRPr sz="1200" b="1">
                <a:solidFill>
                  <a:srgbClr val="69DDD0"/>
                </a:solidFill>
                <a:latin typeface="Arial"/>
              </a:defRPr>
            </a:pPr>
            <a:r>
              <a:t>KNOWN FACT, DIFFERENT FORMAT</a:t>
            </a:r>
          </a:p>
        </p:txBody>
      </p:sp>
      <p:sp>
        <p:nvSpPr>
          <p:cNvPr id="9" name="TextBox 8"/>
          <p:cNvSpPr txBox="1"/>
          <p:nvPr/>
        </p:nvSpPr>
        <p:spPr>
          <a:xfrm>
            <a:off x="548640" y="1984248"/>
            <a:ext cx="4754880" cy="457200"/>
          </a:xfrm>
          <a:prstGeom prst="rect">
            <a:avLst/>
          </a:prstGeom>
          <a:noFill/>
        </p:spPr>
        <p:txBody>
          <a:bodyPr wrap="square" lIns="0" rIns="0" tIns="0" bIns="0">
            <a:spAutoFit/>
          </a:bodyPr>
          <a:lstStyle/>
          <a:p>
            <a:pPr algn="l">
              <a:lnSpc>
                <a:spcPct val="110000"/>
              </a:lnSpc>
              <a:spcAft>
                <a:spcPts val="200"/>
              </a:spcAft>
              <a:defRPr sz="2800" b="1">
                <a:solidFill>
                  <a:srgbClr val="F2F6FB"/>
                </a:solidFill>
                <a:latin typeface="Arial"/>
              </a:defRPr>
            </a:pPr>
            <a:r>
              <a:t>“LLM = 1”</a:t>
            </a:r>
          </a:p>
        </p:txBody>
      </p:sp>
      <p:pic>
        <p:nvPicPr>
          <p:cNvPr id="10" name="Picture 9" descr="vreview-known-count.png"/>
          <p:cNvPicPr>
            <a:picLocks noChangeAspect="1"/>
          </p:cNvPicPr>
          <p:nvPr/>
        </p:nvPicPr>
        <p:blipFill>
          <a:blip r:embed="rId2"/>
          <a:srcRect/>
          <a:stretch>
            <a:fillRect/>
          </a:stretch>
        </p:blipFill>
        <p:spPr>
          <a:xfrm>
            <a:off x="646395" y="2587752"/>
            <a:ext cx="10868729" cy="1399032"/>
          </a:xfrm>
          <a:prstGeom prst="rect">
            <a:avLst/>
          </a:prstGeom>
        </p:spPr>
      </p:pic>
      <p:sp>
        <p:nvSpPr>
          <p:cNvPr id="11" name="TextBox 10"/>
          <p:cNvSpPr txBox="1"/>
          <p:nvPr/>
        </p:nvSpPr>
        <p:spPr>
          <a:xfrm>
            <a:off x="548640" y="4178808"/>
            <a:ext cx="5486400" cy="274320"/>
          </a:xfrm>
          <a:prstGeom prst="rect">
            <a:avLst/>
          </a:prstGeom>
          <a:noFill/>
        </p:spPr>
        <p:txBody>
          <a:bodyPr wrap="square" lIns="0" rIns="0" tIns="0" bIns="0">
            <a:spAutoFit/>
          </a:bodyPr>
          <a:lstStyle/>
          <a:p>
            <a:pPr algn="l">
              <a:lnSpc>
                <a:spcPct val="110000"/>
              </a:lnSpc>
              <a:spcAft>
                <a:spcPts val="200"/>
              </a:spcAft>
              <a:defRPr sz="1200" b="1">
                <a:solidFill>
                  <a:srgbClr val="F4C16D"/>
                </a:solidFill>
                <a:latin typeface="Arial"/>
              </a:defRPr>
            </a:pPr>
            <a:r>
              <a:t>FACT REQUIRES CONFIRMATION</a:t>
            </a:r>
          </a:p>
        </p:txBody>
      </p:sp>
      <p:sp>
        <p:nvSpPr>
          <p:cNvPr id="12" name="TextBox 11"/>
          <p:cNvSpPr txBox="1"/>
          <p:nvPr/>
        </p:nvSpPr>
        <p:spPr>
          <a:xfrm>
            <a:off x="548640" y="4517136"/>
            <a:ext cx="10881360" cy="411480"/>
          </a:xfrm>
          <a:prstGeom prst="rect">
            <a:avLst/>
          </a:prstGeom>
          <a:noFill/>
        </p:spPr>
        <p:txBody>
          <a:bodyPr wrap="square" lIns="0" rIns="0" tIns="0" bIns="0">
            <a:spAutoFit/>
          </a:bodyPr>
          <a:lstStyle/>
          <a:p>
            <a:pPr algn="l">
              <a:lnSpc>
                <a:spcPct val="110000"/>
              </a:lnSpc>
              <a:spcAft>
                <a:spcPts val="200"/>
              </a:spcAft>
              <a:defRPr sz="2400" b="1">
                <a:solidFill>
                  <a:srgbClr val="F2F6FB"/>
                </a:solidFill>
                <a:latin typeface="Arial"/>
              </a:defRPr>
            </a:pPr>
            <a:r>
              <a:t>“Vendor solution, don’t have visibility”</a:t>
            </a:r>
          </a:p>
        </p:txBody>
      </p:sp>
      <p:pic>
        <p:nvPicPr>
          <p:cNvPr id="13" name="Picture 12" descr="vreview-vendor-count.png"/>
          <p:cNvPicPr>
            <a:picLocks noChangeAspect="1"/>
          </p:cNvPicPr>
          <p:nvPr/>
        </p:nvPicPr>
        <p:blipFill>
          <a:blip r:embed="rId3"/>
          <a:srcRect/>
          <a:stretch>
            <a:fillRect/>
          </a:stretch>
        </p:blipFill>
        <p:spPr>
          <a:xfrm>
            <a:off x="2067144" y="5010912"/>
            <a:ext cx="8027231" cy="103327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OBSERVED • REPEATED CONDITIONAL-COUNT PATTERN</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Four records need the same count clarification</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Type(s) of AI Used  •  LLM Count  •  Deployment Status  •  Source of AI System</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06</a:t>
            </a:r>
          </a:p>
        </p:txBody>
      </p:sp>
      <p:sp>
        <p:nvSpPr>
          <p:cNvPr id="8" name="TextBox 7"/>
          <p:cNvSpPr txBox="1"/>
          <p:nvPr/>
        </p:nvSpPr>
        <p:spPr>
          <a:xfrm>
            <a:off x="502920" y="1344168"/>
            <a:ext cx="11155680" cy="320040"/>
          </a:xfrm>
          <a:prstGeom prst="rect">
            <a:avLst/>
          </a:prstGeom>
          <a:noFill/>
        </p:spPr>
        <p:txBody>
          <a:bodyPr wrap="square" lIns="0" rIns="0" tIns="0" bIns="0">
            <a:spAutoFit/>
          </a:bodyPr>
          <a:lstStyle/>
          <a:p>
            <a:pPr algn="l">
              <a:lnSpc>
                <a:spcPct val="110000"/>
              </a:lnSpc>
              <a:spcAft>
                <a:spcPts val="200"/>
              </a:spcAft>
              <a:defRPr sz="1639" b="0">
                <a:solidFill>
                  <a:srgbClr val="B1C1D2"/>
                </a:solidFill>
                <a:latin typeface="Arial"/>
              </a:defRPr>
            </a:pPr>
            <a:r>
              <a:t>All four GenAI records answer N/A for LLM Count. Ask the platform owner to confirm each count.</a:t>
            </a:r>
          </a:p>
        </p:txBody>
      </p:sp>
      <p:pic>
        <p:nvPicPr>
          <p:cNvPr id="9" name="Picture 8" descr="vreview-bts-count-pattern.png"/>
          <p:cNvPicPr>
            <a:picLocks noChangeAspect="1"/>
          </p:cNvPicPr>
          <p:nvPr/>
        </p:nvPicPr>
        <p:blipFill>
          <a:blip r:embed="rId2"/>
          <a:srcRect l="2500" t="20694" r="2500" b="8056"/>
          <a:stretch>
            <a:fillRect/>
          </a:stretch>
        </p:blipFill>
        <p:spPr>
          <a:xfrm>
            <a:off x="1000929" y="1691640"/>
            <a:ext cx="10187093" cy="4297680"/>
          </a:xfrm>
          <a:prstGeom prst="rect">
            <a:avLst/>
          </a:prstGeom>
        </p:spPr>
      </p:pic>
      <p:sp>
        <p:nvSpPr>
          <p:cNvPr id="10" name="TextBox 9"/>
          <p:cNvSpPr txBox="1"/>
          <p:nvPr/>
        </p:nvSpPr>
        <p:spPr>
          <a:xfrm>
            <a:off x="685800" y="6053328"/>
            <a:ext cx="10789920" cy="173736"/>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Red: records with findings. Teal: records with no findings. Share: % of all 173 records.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OBSERVED • ERRORS × DEPLOYMENT STATUS × SOURCE</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74 Pilot or Active records have validation findings</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Deployment Status  •  Source of AI System  •  Risk Tier  •  LLM Count  •  ML/DL Models Count</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07</a:t>
            </a:r>
          </a:p>
        </p:txBody>
      </p:sp>
      <p:sp>
        <p:nvSpPr>
          <p:cNvPr id="8" name="TextBox 7"/>
          <p:cNvSpPr txBox="1"/>
          <p:nvPr/>
        </p:nvSpPr>
        <p:spPr>
          <a:xfrm>
            <a:off x="502920" y="1344168"/>
            <a:ext cx="11155680" cy="521207"/>
          </a:xfrm>
          <a:prstGeom prst="rect">
            <a:avLst/>
          </a:prstGeom>
          <a:noFill/>
        </p:spPr>
        <p:txBody>
          <a:bodyPr wrap="square" lIns="0" rIns="0" tIns="0" bIns="0">
            <a:spAutoFit/>
          </a:bodyPr>
          <a:lstStyle/>
          <a:p>
            <a:pPr algn="l">
              <a:lnSpc>
                <a:spcPct val="110000"/>
              </a:lnSpc>
              <a:spcAft>
                <a:spcPts val="200"/>
              </a:spcAft>
              <a:defRPr sz="1600" b="0">
                <a:solidFill>
                  <a:srgbClr val="B1C1D2"/>
                </a:solidFill>
                <a:latin typeface="Arial"/>
              </a:defRPr>
            </a:pPr>
            <a:r>
              <a:t>46 records need count corrections only. Ask owners to review all findings in the other 28.</a:t>
            </a:r>
          </a:p>
          <a:p>
            <a:pPr algn="l">
              <a:lnSpc>
                <a:spcPct val="110000"/>
              </a:lnSpc>
              <a:spcAft>
                <a:spcPts val="200"/>
              </a:spcAft>
              <a:defRPr sz="1600" b="0">
                <a:solidFill>
                  <a:srgbClr val="B1C1D2"/>
                </a:solidFill>
                <a:latin typeface="Arial"/>
              </a:defRPr>
            </a:pPr>
            <a:r>
              <a:t>Image: all 121 flagged records. The highlighted 19-record path is one example.</a:t>
            </a:r>
          </a:p>
        </p:txBody>
      </p:sp>
      <p:pic>
        <p:nvPicPr>
          <p:cNvPr id="9" name="Picture 8" descr="vreview-errors-stage-source.png"/>
          <p:cNvPicPr>
            <a:picLocks noChangeAspect="1"/>
          </p:cNvPicPr>
          <p:nvPr/>
        </p:nvPicPr>
        <p:blipFill>
          <a:blip r:embed="rId2"/>
          <a:srcRect l="2500" t="20694" r="2500" b="8056"/>
          <a:stretch>
            <a:fillRect/>
          </a:stretch>
        </p:blipFill>
        <p:spPr>
          <a:xfrm>
            <a:off x="1293537" y="1938528"/>
            <a:ext cx="9601877" cy="4050791"/>
          </a:xfrm>
          <a:prstGeom prst="rect">
            <a:avLst/>
          </a:prstGeom>
        </p:spPr>
      </p:pic>
      <p:sp>
        <p:nvSpPr>
          <p:cNvPr id="10" name="TextBox 9"/>
          <p:cNvSpPr txBox="1"/>
          <p:nvPr/>
        </p:nvSpPr>
        <p:spPr>
          <a:xfrm>
            <a:off x="685800" y="6053328"/>
            <a:ext cx="10789920" cy="173736"/>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Red: records with findings. Teal: records with no findings. Share: % of all 173 records.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OBSERVED • VENDOR-CONTACT ERRORS × STAGE × LOB</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Five Jira records need a vendor contact</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Vendor Owner  •  Source of AI System  •  Deployment Status  •  LOB  •  Business Owner  •  Technical Owner</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08</a:t>
            </a:r>
          </a:p>
        </p:txBody>
      </p:sp>
      <p:sp>
        <p:nvSpPr>
          <p:cNvPr id="8" name="TextBox 7"/>
          <p:cNvSpPr txBox="1"/>
          <p:nvPr/>
        </p:nvSpPr>
        <p:spPr>
          <a:xfrm>
            <a:off x="502920" y="1344168"/>
            <a:ext cx="11155680" cy="320040"/>
          </a:xfrm>
          <a:prstGeom prst="rect">
            <a:avLst/>
          </a:prstGeom>
          <a:noFill/>
        </p:spPr>
        <p:txBody>
          <a:bodyPr wrap="square" lIns="0" rIns="0" tIns="0" bIns="0">
            <a:spAutoFit/>
          </a:bodyPr>
          <a:lstStyle/>
          <a:p>
            <a:pPr algn="l">
              <a:lnSpc>
                <a:spcPct val="110000"/>
              </a:lnSpc>
              <a:spcAft>
                <a:spcPts val="200"/>
              </a:spcAft>
              <a:defRPr sz="1639" b="0">
                <a:solidFill>
                  <a:srgbClr val="B1C1D2"/>
                </a:solidFill>
                <a:latin typeface="Arial"/>
              </a:defRPr>
            </a:pPr>
            <a:r>
              <a:t>These five Active Commercial Jira records share owners. Ask them to confirm each vendor contact.</a:t>
            </a:r>
          </a:p>
        </p:txBody>
      </p:sp>
      <p:pic>
        <p:nvPicPr>
          <p:cNvPr id="9" name="Picture 8" descr="vreview-vendor-operating-pattern.png"/>
          <p:cNvPicPr>
            <a:picLocks noChangeAspect="1"/>
          </p:cNvPicPr>
          <p:nvPr/>
        </p:nvPicPr>
        <p:blipFill>
          <a:blip r:embed="rId2"/>
          <a:srcRect l="2500" t="20694" r="2500" b="8056"/>
          <a:stretch>
            <a:fillRect/>
          </a:stretch>
        </p:blipFill>
        <p:spPr>
          <a:xfrm>
            <a:off x="1000929" y="1691640"/>
            <a:ext cx="10187093" cy="4297680"/>
          </a:xfrm>
          <a:prstGeom prst="rect">
            <a:avLst/>
          </a:prstGeom>
        </p:spPr>
      </p:pic>
      <p:sp>
        <p:nvSpPr>
          <p:cNvPr id="10" name="TextBox 9"/>
          <p:cNvSpPr txBox="1"/>
          <p:nvPr/>
        </p:nvSpPr>
        <p:spPr>
          <a:xfrm>
            <a:off x="685800" y="6053328"/>
            <a:ext cx="10789920" cy="173736"/>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Red: records with findings. Teal: records with no findings. Share: % of all 173 records.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INTERPRETATION • CONDITIONAL RULES CHANGE THE FINDING MIX</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Compare the checks before you compare the finding totals</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Source of AI System  •  Vendor Owner  •  Deployment Status</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09</a:t>
            </a:r>
          </a:p>
        </p:txBody>
      </p:sp>
      <p:sp>
        <p:nvSpPr>
          <p:cNvPr id="8" name="Rectangle 7"/>
          <p:cNvSpPr/>
          <p:nvPr/>
        </p:nvSpPr>
        <p:spPr>
          <a:xfrm>
            <a:off x="502920" y="1828800"/>
            <a:ext cx="11155680" cy="365760"/>
          </a:xfrm>
          <a:prstGeom prst="rect">
            <a:avLst/>
          </a:prstGeom>
          <a:solidFill>
            <a:srgbClr val="20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929384"/>
            <a:ext cx="6327648" cy="201168"/>
          </a:xfrm>
          <a:prstGeom prst="rect">
            <a:avLst/>
          </a:prstGeom>
          <a:noFill/>
        </p:spPr>
        <p:txBody>
          <a:bodyPr wrap="square" lIns="0" rIns="0" tIns="0" bIns="0">
            <a:spAutoFit/>
          </a:bodyPr>
          <a:lstStyle/>
          <a:p>
            <a:pPr algn="l">
              <a:lnSpc>
                <a:spcPct val="110000"/>
              </a:lnSpc>
              <a:spcAft>
                <a:spcPts val="200"/>
              </a:spcAft>
              <a:defRPr sz="1100" b="1">
                <a:solidFill>
                  <a:srgbClr val="69DDD0"/>
                </a:solidFill>
                <a:latin typeface="Arial"/>
              </a:defRPr>
            </a:pPr>
            <a:r>
              <a:t>Pilot/Active records</a:t>
            </a:r>
          </a:p>
        </p:txBody>
      </p:sp>
      <p:sp>
        <p:nvSpPr>
          <p:cNvPr id="10" name="TextBox 9"/>
          <p:cNvSpPr txBox="1"/>
          <p:nvPr/>
        </p:nvSpPr>
        <p:spPr>
          <a:xfrm>
            <a:off x="7086599" y="1929384"/>
            <a:ext cx="2121408" cy="201168"/>
          </a:xfrm>
          <a:prstGeom prst="rect">
            <a:avLst/>
          </a:prstGeom>
          <a:noFill/>
        </p:spPr>
        <p:txBody>
          <a:bodyPr wrap="square" lIns="0" rIns="0" tIns="0" bIns="0">
            <a:spAutoFit/>
          </a:bodyPr>
          <a:lstStyle/>
          <a:p>
            <a:pPr algn="l">
              <a:lnSpc>
                <a:spcPct val="110000"/>
              </a:lnSpc>
              <a:spcAft>
                <a:spcPts val="200"/>
              </a:spcAft>
              <a:defRPr sz="1100" b="1">
                <a:solidFill>
                  <a:srgbClr val="69DDD0"/>
                </a:solidFill>
                <a:latin typeface="Arial"/>
              </a:defRPr>
            </a:pPr>
            <a:r>
              <a:t>In-house</a:t>
            </a:r>
          </a:p>
        </p:txBody>
      </p:sp>
      <p:sp>
        <p:nvSpPr>
          <p:cNvPr id="11" name="TextBox 10"/>
          <p:cNvSpPr txBox="1"/>
          <p:nvPr/>
        </p:nvSpPr>
        <p:spPr>
          <a:xfrm>
            <a:off x="9372599" y="1929384"/>
            <a:ext cx="2212848" cy="201168"/>
          </a:xfrm>
          <a:prstGeom prst="rect">
            <a:avLst/>
          </a:prstGeom>
          <a:noFill/>
        </p:spPr>
        <p:txBody>
          <a:bodyPr wrap="square" lIns="0" rIns="0" tIns="0" bIns="0">
            <a:spAutoFit/>
          </a:bodyPr>
          <a:lstStyle/>
          <a:p>
            <a:pPr algn="l">
              <a:lnSpc>
                <a:spcPct val="110000"/>
              </a:lnSpc>
              <a:spcAft>
                <a:spcPts val="200"/>
              </a:spcAft>
              <a:defRPr sz="1100" b="1">
                <a:solidFill>
                  <a:srgbClr val="69DDD0"/>
                </a:solidFill>
                <a:latin typeface="Arial"/>
              </a:defRPr>
            </a:pPr>
            <a:r>
              <a:t>Vendor AI</a:t>
            </a:r>
          </a:p>
        </p:txBody>
      </p:sp>
      <p:sp>
        <p:nvSpPr>
          <p:cNvPr id="12" name="Rectangle 11"/>
          <p:cNvSpPr/>
          <p:nvPr/>
        </p:nvSpPr>
        <p:spPr>
          <a:xfrm>
            <a:off x="502920" y="2194560"/>
            <a:ext cx="11155680" cy="731520"/>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267712"/>
            <a:ext cx="6327648" cy="640080"/>
          </a:xfrm>
          <a:prstGeom prst="rect">
            <a:avLst/>
          </a:prstGeom>
          <a:noFill/>
        </p:spPr>
        <p:txBody>
          <a:bodyPr wrap="square" lIns="0" rIns="0" tIns="0" bIns="0">
            <a:spAutoFit/>
          </a:bodyPr>
          <a:lstStyle/>
          <a:p>
            <a:pPr algn="l">
              <a:lnSpc>
                <a:spcPct val="110000"/>
              </a:lnSpc>
              <a:spcAft>
                <a:spcPts val="200"/>
              </a:spcAft>
              <a:defRPr sz="1900" b="1">
                <a:solidFill>
                  <a:srgbClr val="F2F6FB"/>
                </a:solidFill>
                <a:latin typeface="Arial"/>
              </a:defRPr>
            </a:pPr>
            <a:r>
              <a:t>Records in each sourcing group</a:t>
            </a:r>
          </a:p>
        </p:txBody>
      </p:sp>
      <p:sp>
        <p:nvSpPr>
          <p:cNvPr id="14" name="TextBox 13"/>
          <p:cNvSpPr txBox="1"/>
          <p:nvPr/>
        </p:nvSpPr>
        <p:spPr>
          <a:xfrm>
            <a:off x="7086599" y="2267712"/>
            <a:ext cx="2121408" cy="640080"/>
          </a:xfrm>
          <a:prstGeom prst="rect">
            <a:avLst/>
          </a:prstGeom>
          <a:noFill/>
        </p:spPr>
        <p:txBody>
          <a:bodyPr wrap="square" lIns="0" rIns="0" tIns="0" bIns="0">
            <a:spAutoFit/>
          </a:bodyPr>
          <a:lstStyle/>
          <a:p>
            <a:pPr algn="l">
              <a:lnSpc>
                <a:spcPct val="110000"/>
              </a:lnSpc>
              <a:spcAft>
                <a:spcPts val="200"/>
              </a:spcAft>
              <a:defRPr sz="1900" b="0">
                <a:solidFill>
                  <a:srgbClr val="B1C1D2"/>
                </a:solidFill>
                <a:latin typeface="Arial"/>
              </a:defRPr>
            </a:pPr>
            <a:r>
              <a:t>48 · 27.7%</a:t>
            </a:r>
          </a:p>
        </p:txBody>
      </p:sp>
      <p:sp>
        <p:nvSpPr>
          <p:cNvPr id="15" name="TextBox 14"/>
          <p:cNvSpPr txBox="1"/>
          <p:nvPr/>
        </p:nvSpPr>
        <p:spPr>
          <a:xfrm>
            <a:off x="9372599" y="2267712"/>
            <a:ext cx="2212848" cy="640080"/>
          </a:xfrm>
          <a:prstGeom prst="rect">
            <a:avLst/>
          </a:prstGeom>
          <a:noFill/>
        </p:spPr>
        <p:txBody>
          <a:bodyPr wrap="square" lIns="0" rIns="0" tIns="0" bIns="0">
            <a:spAutoFit/>
          </a:bodyPr>
          <a:lstStyle/>
          <a:p>
            <a:pPr algn="l">
              <a:lnSpc>
                <a:spcPct val="110000"/>
              </a:lnSpc>
              <a:spcAft>
                <a:spcPts val="200"/>
              </a:spcAft>
              <a:defRPr sz="1900" b="0">
                <a:solidFill>
                  <a:srgbClr val="B1C1D2"/>
                </a:solidFill>
                <a:latin typeface="Arial"/>
              </a:defRPr>
            </a:pPr>
            <a:r>
              <a:t>48 · 27.7%</a:t>
            </a:r>
          </a:p>
        </p:txBody>
      </p:sp>
      <p:sp>
        <p:nvSpPr>
          <p:cNvPr id="16" name="Rectangle 15"/>
          <p:cNvSpPr/>
          <p:nvPr/>
        </p:nvSpPr>
        <p:spPr>
          <a:xfrm>
            <a:off x="502920" y="2926080"/>
            <a:ext cx="11155680" cy="731520"/>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2999232"/>
            <a:ext cx="6327648" cy="640080"/>
          </a:xfrm>
          <a:prstGeom prst="rect">
            <a:avLst/>
          </a:prstGeom>
          <a:noFill/>
        </p:spPr>
        <p:txBody>
          <a:bodyPr wrap="square" lIns="0" rIns="0" tIns="0" bIns="0">
            <a:spAutoFit/>
          </a:bodyPr>
          <a:lstStyle/>
          <a:p>
            <a:pPr algn="l">
              <a:lnSpc>
                <a:spcPct val="110000"/>
              </a:lnSpc>
              <a:spcAft>
                <a:spcPts val="200"/>
              </a:spcAft>
              <a:defRPr sz="1900" b="1">
                <a:solidFill>
                  <a:srgbClr val="F2F6FB"/>
                </a:solidFill>
                <a:latin typeface="Arial"/>
              </a:defRPr>
            </a:pPr>
            <a:r>
              <a:t>Any non-count finding</a:t>
            </a:r>
          </a:p>
        </p:txBody>
      </p:sp>
      <p:sp>
        <p:nvSpPr>
          <p:cNvPr id="18" name="TextBox 17"/>
          <p:cNvSpPr txBox="1"/>
          <p:nvPr/>
        </p:nvSpPr>
        <p:spPr>
          <a:xfrm>
            <a:off x="7086599" y="2999232"/>
            <a:ext cx="2121408" cy="640080"/>
          </a:xfrm>
          <a:prstGeom prst="rect">
            <a:avLst/>
          </a:prstGeom>
          <a:noFill/>
        </p:spPr>
        <p:txBody>
          <a:bodyPr wrap="square" lIns="0" rIns="0" tIns="0" bIns="0">
            <a:spAutoFit/>
          </a:bodyPr>
          <a:lstStyle/>
          <a:p>
            <a:pPr algn="l">
              <a:lnSpc>
                <a:spcPct val="110000"/>
              </a:lnSpc>
              <a:spcAft>
                <a:spcPts val="200"/>
              </a:spcAft>
              <a:defRPr sz="1900" b="0">
                <a:solidFill>
                  <a:srgbClr val="B1C1D2"/>
                </a:solidFill>
                <a:latin typeface="Arial"/>
              </a:defRPr>
            </a:pPr>
            <a:r>
              <a:t>8 · 4.6%</a:t>
            </a:r>
          </a:p>
        </p:txBody>
      </p:sp>
      <p:sp>
        <p:nvSpPr>
          <p:cNvPr id="19" name="TextBox 18"/>
          <p:cNvSpPr txBox="1"/>
          <p:nvPr/>
        </p:nvSpPr>
        <p:spPr>
          <a:xfrm>
            <a:off x="9372599" y="2999232"/>
            <a:ext cx="2212848" cy="640080"/>
          </a:xfrm>
          <a:prstGeom prst="rect">
            <a:avLst/>
          </a:prstGeom>
          <a:noFill/>
        </p:spPr>
        <p:txBody>
          <a:bodyPr wrap="square" lIns="0" rIns="0" tIns="0" bIns="0">
            <a:spAutoFit/>
          </a:bodyPr>
          <a:lstStyle/>
          <a:p>
            <a:pPr algn="l">
              <a:lnSpc>
                <a:spcPct val="110000"/>
              </a:lnSpc>
              <a:spcAft>
                <a:spcPts val="200"/>
              </a:spcAft>
              <a:defRPr sz="1900" b="0">
                <a:solidFill>
                  <a:srgbClr val="B1C1D2"/>
                </a:solidFill>
                <a:latin typeface="Arial"/>
              </a:defRPr>
            </a:pPr>
            <a:r>
              <a:t>16 · 9.2%</a:t>
            </a:r>
          </a:p>
        </p:txBody>
      </p:sp>
      <p:sp>
        <p:nvSpPr>
          <p:cNvPr id="20" name="Rectangle 19"/>
          <p:cNvSpPr/>
          <p:nvPr/>
        </p:nvSpPr>
        <p:spPr>
          <a:xfrm>
            <a:off x="502920" y="3657600"/>
            <a:ext cx="11155680" cy="731520"/>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3730752"/>
            <a:ext cx="6327648" cy="640080"/>
          </a:xfrm>
          <a:prstGeom prst="rect">
            <a:avLst/>
          </a:prstGeom>
          <a:noFill/>
        </p:spPr>
        <p:txBody>
          <a:bodyPr wrap="square" lIns="0" rIns="0" tIns="0" bIns="0">
            <a:spAutoFit/>
          </a:bodyPr>
          <a:lstStyle/>
          <a:p>
            <a:pPr algn="l">
              <a:lnSpc>
                <a:spcPct val="110000"/>
              </a:lnSpc>
              <a:spcAft>
                <a:spcPts val="200"/>
              </a:spcAft>
              <a:defRPr sz="1900" b="1">
                <a:solidFill>
                  <a:srgbClr val="F2F6FB"/>
                </a:solidFill>
                <a:latin typeface="Arial"/>
              </a:defRPr>
            </a:pPr>
            <a:r>
              <a:t>Non-count findings except VENDOR-01</a:t>
            </a:r>
          </a:p>
        </p:txBody>
      </p:sp>
      <p:sp>
        <p:nvSpPr>
          <p:cNvPr id="22" name="TextBox 21"/>
          <p:cNvSpPr txBox="1"/>
          <p:nvPr/>
        </p:nvSpPr>
        <p:spPr>
          <a:xfrm>
            <a:off x="7086599" y="3730752"/>
            <a:ext cx="2121408" cy="640080"/>
          </a:xfrm>
          <a:prstGeom prst="rect">
            <a:avLst/>
          </a:prstGeom>
          <a:noFill/>
        </p:spPr>
        <p:txBody>
          <a:bodyPr wrap="square" lIns="0" rIns="0" tIns="0" bIns="0">
            <a:spAutoFit/>
          </a:bodyPr>
          <a:lstStyle/>
          <a:p>
            <a:pPr algn="l">
              <a:lnSpc>
                <a:spcPct val="110000"/>
              </a:lnSpc>
              <a:spcAft>
                <a:spcPts val="200"/>
              </a:spcAft>
              <a:defRPr sz="1900" b="0">
                <a:solidFill>
                  <a:srgbClr val="B1C1D2"/>
                </a:solidFill>
                <a:latin typeface="Arial"/>
              </a:defRPr>
            </a:pPr>
            <a:r>
              <a:t>8 · 4.6%</a:t>
            </a:r>
          </a:p>
        </p:txBody>
      </p:sp>
      <p:sp>
        <p:nvSpPr>
          <p:cNvPr id="23" name="TextBox 22"/>
          <p:cNvSpPr txBox="1"/>
          <p:nvPr/>
        </p:nvSpPr>
        <p:spPr>
          <a:xfrm>
            <a:off x="9372599" y="3730752"/>
            <a:ext cx="2212848" cy="640080"/>
          </a:xfrm>
          <a:prstGeom prst="rect">
            <a:avLst/>
          </a:prstGeom>
          <a:noFill/>
        </p:spPr>
        <p:txBody>
          <a:bodyPr wrap="square" lIns="0" rIns="0" tIns="0" bIns="0">
            <a:spAutoFit/>
          </a:bodyPr>
          <a:lstStyle/>
          <a:p>
            <a:pPr algn="l">
              <a:lnSpc>
                <a:spcPct val="110000"/>
              </a:lnSpc>
              <a:spcAft>
                <a:spcPts val="200"/>
              </a:spcAft>
              <a:defRPr sz="1900" b="0">
                <a:solidFill>
                  <a:srgbClr val="B1C1D2"/>
                </a:solidFill>
                <a:latin typeface="Arial"/>
              </a:defRPr>
            </a:pPr>
            <a:r>
              <a:t>6 · 3.5%</a:t>
            </a:r>
          </a:p>
        </p:txBody>
      </p:sp>
      <p:sp>
        <p:nvSpPr>
          <p:cNvPr id="24" name="TextBox 23"/>
          <p:cNvSpPr txBox="1"/>
          <p:nvPr/>
        </p:nvSpPr>
        <p:spPr>
          <a:xfrm>
            <a:off x="685800" y="4800600"/>
            <a:ext cx="10835640" cy="868680"/>
          </a:xfrm>
          <a:prstGeom prst="rect">
            <a:avLst/>
          </a:prstGeom>
          <a:noFill/>
        </p:spPr>
        <p:txBody>
          <a:bodyPr wrap="square" lIns="0" rIns="0" tIns="0" bIns="0">
            <a:spAutoFit/>
          </a:bodyPr>
          <a:lstStyle/>
          <a:p>
            <a:pPr algn="l">
              <a:lnSpc>
                <a:spcPct val="110000"/>
              </a:lnSpc>
              <a:spcAft>
                <a:spcPts val="200"/>
              </a:spcAft>
              <a:defRPr sz="2300" b="0">
                <a:solidFill>
                  <a:srgbClr val="B1C1D2"/>
                </a:solidFill>
                <a:latin typeface="Arial"/>
              </a:defRPr>
            </a:pPr>
            <a:r>
              <a:t>Vendor records have an additional contact check. Compare the requirements before you compare the totals.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CURRENT CHECK • MUTUALLY EXCLUSIVE SCOPE SELECTIONS</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Confirm the intended scope before you remove selections</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State  •  LOB  •  Deployment Status</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10</a:t>
            </a:r>
          </a:p>
        </p:txBody>
      </p:sp>
      <p:sp>
        <p:nvSpPr>
          <p:cNvPr id="8" name="Rounded Rectangle 7"/>
          <p:cNvSpPr/>
          <p:nvPr/>
        </p:nvSpPr>
        <p:spPr>
          <a:xfrm>
            <a:off x="530352" y="1600200"/>
            <a:ext cx="3520440" cy="1737360"/>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773936"/>
            <a:ext cx="3154680" cy="594360"/>
          </a:xfrm>
          <a:prstGeom prst="rect">
            <a:avLst/>
          </a:prstGeom>
          <a:noFill/>
        </p:spPr>
        <p:txBody>
          <a:bodyPr wrap="square" lIns="0" rIns="0" tIns="0" bIns="0">
            <a:spAutoFit/>
          </a:bodyPr>
          <a:lstStyle/>
          <a:p>
            <a:pPr algn="l">
              <a:lnSpc>
                <a:spcPct val="110000"/>
              </a:lnSpc>
              <a:spcAft>
                <a:spcPts val="200"/>
              </a:spcAft>
              <a:defRPr sz="3200" b="1">
                <a:solidFill>
                  <a:srgbClr val="F4C16D"/>
                </a:solidFill>
                <a:latin typeface="Arial"/>
              </a:defRPr>
            </a:pPr>
            <a:r>
              <a:t>14 · 8.1%</a:t>
            </a:r>
          </a:p>
        </p:txBody>
      </p:sp>
      <p:sp>
        <p:nvSpPr>
          <p:cNvPr id="10" name="TextBox 9"/>
          <p:cNvSpPr txBox="1"/>
          <p:nvPr/>
        </p:nvSpPr>
        <p:spPr>
          <a:xfrm>
            <a:off x="713232" y="2441448"/>
            <a:ext cx="3154680" cy="777240"/>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Records with scope findings</a:t>
            </a:r>
          </a:p>
        </p:txBody>
      </p:sp>
      <p:sp>
        <p:nvSpPr>
          <p:cNvPr id="11" name="Rounded Rectangle 10"/>
          <p:cNvSpPr/>
          <p:nvPr/>
        </p:nvSpPr>
        <p:spPr>
          <a:xfrm>
            <a:off x="4315968" y="1600200"/>
            <a:ext cx="3520440" cy="1737360"/>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8848" y="1773936"/>
            <a:ext cx="3154680" cy="594360"/>
          </a:xfrm>
          <a:prstGeom prst="rect">
            <a:avLst/>
          </a:prstGeom>
          <a:noFill/>
        </p:spPr>
        <p:txBody>
          <a:bodyPr wrap="square" lIns="0" rIns="0" tIns="0" bIns="0">
            <a:spAutoFit/>
          </a:bodyPr>
          <a:lstStyle/>
          <a:p>
            <a:pPr algn="l">
              <a:lnSpc>
                <a:spcPct val="110000"/>
              </a:lnSpc>
              <a:spcAft>
                <a:spcPts val="200"/>
              </a:spcAft>
              <a:defRPr sz="3200" b="1">
                <a:solidFill>
                  <a:srgbClr val="69DDD0"/>
                </a:solidFill>
                <a:latin typeface="Arial"/>
              </a:defRPr>
            </a:pPr>
            <a:r>
              <a:t>9 State / 5 LOB</a:t>
            </a:r>
          </a:p>
        </p:txBody>
      </p:sp>
      <p:sp>
        <p:nvSpPr>
          <p:cNvPr id="13" name="TextBox 12"/>
          <p:cNvSpPr txBox="1"/>
          <p:nvPr/>
        </p:nvSpPr>
        <p:spPr>
          <a:xfrm>
            <a:off x="4498848" y="2441448"/>
            <a:ext cx="3154680" cy="777240"/>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Separate field cohorts</a:t>
            </a:r>
          </a:p>
        </p:txBody>
      </p:sp>
      <p:sp>
        <p:nvSpPr>
          <p:cNvPr id="14" name="Rounded Rectangle 13"/>
          <p:cNvSpPr/>
          <p:nvPr/>
        </p:nvSpPr>
        <p:spPr>
          <a:xfrm>
            <a:off x="8101583" y="1600200"/>
            <a:ext cx="3520440" cy="1737360"/>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4463" y="1773936"/>
            <a:ext cx="3154680" cy="594360"/>
          </a:xfrm>
          <a:prstGeom prst="rect">
            <a:avLst/>
          </a:prstGeom>
          <a:noFill/>
        </p:spPr>
        <p:txBody>
          <a:bodyPr wrap="square" lIns="0" rIns="0" tIns="0" bIns="0">
            <a:spAutoFit/>
          </a:bodyPr>
          <a:lstStyle/>
          <a:p>
            <a:pPr algn="l">
              <a:lnSpc>
                <a:spcPct val="110000"/>
              </a:lnSpc>
              <a:spcAft>
                <a:spcPts val="200"/>
              </a:spcAft>
              <a:defRPr sz="3200" b="1">
                <a:solidFill>
                  <a:srgbClr val="9ABCF4"/>
                </a:solidFill>
                <a:latin typeface="Arial"/>
              </a:defRPr>
            </a:pPr>
            <a:r>
              <a:t>9 · 5.2%</a:t>
            </a:r>
          </a:p>
        </p:txBody>
      </p:sp>
      <p:sp>
        <p:nvSpPr>
          <p:cNvPr id="16" name="TextBox 15"/>
          <p:cNvSpPr txBox="1"/>
          <p:nvPr/>
        </p:nvSpPr>
        <p:spPr>
          <a:xfrm>
            <a:off x="8284463" y="2441448"/>
            <a:ext cx="3154680" cy="777240"/>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Also Pilot or Active</a:t>
            </a:r>
          </a:p>
        </p:txBody>
      </p:sp>
      <p:pic>
        <p:nvPicPr>
          <p:cNvPr id="17" name="Picture 16" descr="vreview-scope-state.png"/>
          <p:cNvPicPr>
            <a:picLocks noChangeAspect="1"/>
          </p:cNvPicPr>
          <p:nvPr/>
        </p:nvPicPr>
        <p:blipFill>
          <a:blip r:embed="rId2"/>
          <a:srcRect/>
          <a:stretch>
            <a:fillRect/>
          </a:stretch>
        </p:blipFill>
        <p:spPr>
          <a:xfrm>
            <a:off x="1640919" y="3639312"/>
            <a:ext cx="8879681" cy="1143000"/>
          </a:xfrm>
          <a:prstGeom prst="rect">
            <a:avLst/>
          </a:prstGeom>
        </p:spPr>
      </p:pic>
      <p:pic>
        <p:nvPicPr>
          <p:cNvPr id="18" name="Picture 17" descr="vreview-scope-lob.png"/>
          <p:cNvPicPr>
            <a:picLocks noChangeAspect="1"/>
          </p:cNvPicPr>
          <p:nvPr/>
        </p:nvPicPr>
        <p:blipFill>
          <a:blip r:embed="rId3"/>
          <a:srcRect/>
          <a:stretch>
            <a:fillRect/>
          </a:stretch>
        </p:blipFill>
        <p:spPr>
          <a:xfrm>
            <a:off x="1668496" y="4937760"/>
            <a:ext cx="8824527" cy="1143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CURRENT CHECKS • DATES, OWNERSHIP AND COMPLETENESS</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Correct the dates, owners and source details in five records</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Deployment Status  •  Go-Live Date  •  Business Owner  •  Technical Owner  •  Data Environment</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11</a:t>
            </a:r>
          </a:p>
        </p:txBody>
      </p:sp>
      <p:sp>
        <p:nvSpPr>
          <p:cNvPr id="8" name="Rounded Rectangle 7"/>
          <p:cNvSpPr/>
          <p:nvPr/>
        </p:nvSpPr>
        <p:spPr>
          <a:xfrm>
            <a:off x="530352" y="1600200"/>
            <a:ext cx="3520440" cy="1828800"/>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773936"/>
            <a:ext cx="3154680" cy="594360"/>
          </a:xfrm>
          <a:prstGeom prst="rect">
            <a:avLst/>
          </a:prstGeom>
          <a:noFill/>
        </p:spPr>
        <p:txBody>
          <a:bodyPr wrap="square" lIns="0" rIns="0" tIns="0" bIns="0">
            <a:spAutoFit/>
          </a:bodyPr>
          <a:lstStyle/>
          <a:p>
            <a:pPr algn="l">
              <a:lnSpc>
                <a:spcPct val="110000"/>
              </a:lnSpc>
              <a:spcAft>
                <a:spcPts val="200"/>
              </a:spcAft>
              <a:defRPr sz="3200" b="1">
                <a:solidFill>
                  <a:srgbClr val="F4C16D"/>
                </a:solidFill>
                <a:latin typeface="Arial"/>
              </a:defRPr>
            </a:pPr>
            <a:r>
              <a:t>2 · 1.2%</a:t>
            </a:r>
          </a:p>
        </p:txBody>
      </p:sp>
      <p:sp>
        <p:nvSpPr>
          <p:cNvPr id="10" name="TextBox 9"/>
          <p:cNvSpPr txBox="1"/>
          <p:nvPr/>
        </p:nvSpPr>
        <p:spPr>
          <a:xfrm>
            <a:off x="713232" y="2441448"/>
            <a:ext cx="3154680" cy="502920"/>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Active, no go-live date</a:t>
            </a:r>
          </a:p>
        </p:txBody>
      </p:sp>
      <p:sp>
        <p:nvSpPr>
          <p:cNvPr id="11" name="TextBox 10"/>
          <p:cNvSpPr txBox="1"/>
          <p:nvPr/>
        </p:nvSpPr>
        <p:spPr>
          <a:xfrm>
            <a:off x="713232" y="2990088"/>
            <a:ext cx="3154680" cy="438912"/>
          </a:xfrm>
          <a:prstGeom prst="rect">
            <a:avLst/>
          </a:prstGeom>
          <a:noFill/>
        </p:spPr>
        <p:txBody>
          <a:bodyPr wrap="square" lIns="0" rIns="0" tIns="0" bIns="0">
            <a:spAutoFit/>
          </a:bodyPr>
          <a:lstStyle/>
          <a:p>
            <a:pPr algn="l">
              <a:lnSpc>
                <a:spcPct val="110000"/>
              </a:lnSpc>
              <a:spcAft>
                <a:spcPts val="200"/>
              </a:spcAft>
              <a:defRPr sz="1300" b="0">
                <a:solidFill>
                  <a:srgbClr val="B1C1D2"/>
                </a:solidFill>
                <a:latin typeface="Arial"/>
              </a:defRPr>
            </a:pPr>
            <a:r>
              <a:t>Rows 98 and 139.</a:t>
            </a:r>
          </a:p>
        </p:txBody>
      </p:sp>
      <p:sp>
        <p:nvSpPr>
          <p:cNvPr id="12" name="Rounded Rectangle 11"/>
          <p:cNvSpPr/>
          <p:nvPr/>
        </p:nvSpPr>
        <p:spPr>
          <a:xfrm>
            <a:off x="4315968" y="1600200"/>
            <a:ext cx="3520440" cy="1828800"/>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98848" y="1773936"/>
            <a:ext cx="3154680" cy="594360"/>
          </a:xfrm>
          <a:prstGeom prst="rect">
            <a:avLst/>
          </a:prstGeom>
          <a:noFill/>
        </p:spPr>
        <p:txBody>
          <a:bodyPr wrap="square" lIns="0" rIns="0" tIns="0" bIns="0">
            <a:spAutoFit/>
          </a:bodyPr>
          <a:lstStyle/>
          <a:p>
            <a:pPr algn="l">
              <a:lnSpc>
                <a:spcPct val="110000"/>
              </a:lnSpc>
              <a:spcAft>
                <a:spcPts val="200"/>
              </a:spcAft>
              <a:defRPr sz="3200" b="1">
                <a:solidFill>
                  <a:srgbClr val="69DDD0"/>
                </a:solidFill>
                <a:latin typeface="Arial"/>
              </a:defRPr>
            </a:pPr>
            <a:r>
              <a:t>2 · 1.2%</a:t>
            </a:r>
          </a:p>
        </p:txBody>
      </p:sp>
      <p:sp>
        <p:nvSpPr>
          <p:cNvPr id="14" name="TextBox 13"/>
          <p:cNvSpPr txBox="1"/>
          <p:nvPr/>
        </p:nvSpPr>
        <p:spPr>
          <a:xfrm>
            <a:off x="4498848" y="2441448"/>
            <a:ext cx="3154680" cy="502920"/>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Owner details need correction</a:t>
            </a:r>
          </a:p>
        </p:txBody>
      </p:sp>
      <p:sp>
        <p:nvSpPr>
          <p:cNvPr id="15" name="TextBox 14"/>
          <p:cNvSpPr txBox="1"/>
          <p:nvPr/>
        </p:nvSpPr>
        <p:spPr>
          <a:xfrm>
            <a:off x="4498848" y="2990088"/>
            <a:ext cx="3154680" cy="438912"/>
          </a:xfrm>
          <a:prstGeom prst="rect">
            <a:avLst/>
          </a:prstGeom>
          <a:noFill/>
        </p:spPr>
        <p:txBody>
          <a:bodyPr wrap="square" lIns="0" rIns="0" tIns="0" bIns="0">
            <a:spAutoFit/>
          </a:bodyPr>
          <a:lstStyle/>
          <a:p>
            <a:pPr algn="l">
              <a:lnSpc>
                <a:spcPct val="110000"/>
              </a:lnSpc>
              <a:spcAft>
                <a:spcPts val="200"/>
              </a:spcAft>
              <a:defRPr sz="1300" b="0">
                <a:solidFill>
                  <a:srgbClr val="B1C1D2"/>
                </a:solidFill>
                <a:latin typeface="Arial"/>
              </a:defRPr>
            </a:pPr>
            <a:r>
              <a:t>One malformed email; one Unknown owner.</a:t>
            </a:r>
          </a:p>
        </p:txBody>
      </p:sp>
      <p:sp>
        <p:nvSpPr>
          <p:cNvPr id="16" name="Rounded Rectangle 15"/>
          <p:cNvSpPr/>
          <p:nvPr/>
        </p:nvSpPr>
        <p:spPr>
          <a:xfrm>
            <a:off x="8101583" y="1600200"/>
            <a:ext cx="3520440" cy="1828800"/>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84463" y="1773936"/>
            <a:ext cx="3154680" cy="594360"/>
          </a:xfrm>
          <a:prstGeom prst="rect">
            <a:avLst/>
          </a:prstGeom>
          <a:noFill/>
        </p:spPr>
        <p:txBody>
          <a:bodyPr wrap="square" lIns="0" rIns="0" tIns="0" bIns="0">
            <a:spAutoFit/>
          </a:bodyPr>
          <a:lstStyle/>
          <a:p>
            <a:pPr algn="l">
              <a:lnSpc>
                <a:spcPct val="110000"/>
              </a:lnSpc>
              <a:spcAft>
                <a:spcPts val="200"/>
              </a:spcAft>
              <a:defRPr sz="3200" b="1">
                <a:solidFill>
                  <a:srgbClr val="9ABCF4"/>
                </a:solidFill>
                <a:latin typeface="Arial"/>
              </a:defRPr>
            </a:pPr>
            <a:r>
              <a:t>1 · 0.6%</a:t>
            </a:r>
          </a:p>
        </p:txBody>
      </p:sp>
      <p:sp>
        <p:nvSpPr>
          <p:cNvPr id="18" name="TextBox 17"/>
          <p:cNvSpPr txBox="1"/>
          <p:nvPr/>
        </p:nvSpPr>
        <p:spPr>
          <a:xfrm>
            <a:off x="8284463" y="2441448"/>
            <a:ext cx="3154680" cy="502920"/>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Blank Data Environment</a:t>
            </a:r>
          </a:p>
        </p:txBody>
      </p:sp>
      <p:sp>
        <p:nvSpPr>
          <p:cNvPr id="19" name="TextBox 18"/>
          <p:cNvSpPr txBox="1"/>
          <p:nvPr/>
        </p:nvSpPr>
        <p:spPr>
          <a:xfrm>
            <a:off x="8284463" y="2990088"/>
            <a:ext cx="3154680" cy="438912"/>
          </a:xfrm>
          <a:prstGeom prst="rect">
            <a:avLst/>
          </a:prstGeom>
          <a:noFill/>
        </p:spPr>
        <p:txBody>
          <a:bodyPr wrap="square" lIns="0" rIns="0" tIns="0" bIns="0">
            <a:spAutoFit/>
          </a:bodyPr>
          <a:lstStyle/>
          <a:p>
            <a:pPr algn="l">
              <a:lnSpc>
                <a:spcPct val="110000"/>
              </a:lnSpc>
              <a:spcAft>
                <a:spcPts val="200"/>
              </a:spcAft>
              <a:defRPr sz="1300" b="0">
                <a:solidFill>
                  <a:srgbClr val="B1C1D2"/>
                </a:solidFill>
                <a:latin typeface="Arial"/>
              </a:defRPr>
            </a:pPr>
            <a:r>
              <a:t>A required source detail is absent.</a:t>
            </a:r>
          </a:p>
        </p:txBody>
      </p:sp>
      <p:pic>
        <p:nvPicPr>
          <p:cNvPr id="20" name="Picture 19" descr="vreview-missing-date.png"/>
          <p:cNvPicPr>
            <a:picLocks noChangeAspect="1"/>
          </p:cNvPicPr>
          <p:nvPr/>
        </p:nvPicPr>
        <p:blipFill>
          <a:blip r:embed="rId2"/>
          <a:srcRect/>
          <a:stretch>
            <a:fillRect/>
          </a:stretch>
        </p:blipFill>
        <p:spPr>
          <a:xfrm>
            <a:off x="1485997" y="3685032"/>
            <a:ext cx="9189525" cy="1042415"/>
          </a:xfrm>
          <a:prstGeom prst="rect">
            <a:avLst/>
          </a:prstGeom>
        </p:spPr>
      </p:pic>
      <p:pic>
        <p:nvPicPr>
          <p:cNvPr id="21" name="Picture 20" descr="vreview-unknown-owner.png"/>
          <p:cNvPicPr>
            <a:picLocks noChangeAspect="1"/>
          </p:cNvPicPr>
          <p:nvPr/>
        </p:nvPicPr>
        <p:blipFill>
          <a:blip r:embed="rId3"/>
          <a:srcRect/>
          <a:stretch>
            <a:fillRect/>
          </a:stretch>
        </p:blipFill>
        <p:spPr>
          <a:xfrm>
            <a:off x="1703794" y="4937760"/>
            <a:ext cx="8753931" cy="1133856"/>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CURRENT FINDINGS • PROPOSED PLACEHOLDER ALIGNMENT</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Check the ID meaning before you merge records</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Application / System ID  •  AI System / Solution Name</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12</a:t>
            </a:r>
          </a:p>
        </p:txBody>
      </p:sp>
      <p:sp>
        <p:nvSpPr>
          <p:cNvPr id="8" name="Rounded Rectangle 7"/>
          <p:cNvSpPr/>
          <p:nvPr/>
        </p:nvSpPr>
        <p:spPr>
          <a:xfrm>
            <a:off x="530352" y="1664208"/>
            <a:ext cx="5394960" cy="2057400"/>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37944"/>
            <a:ext cx="5029200" cy="594360"/>
          </a:xfrm>
          <a:prstGeom prst="rect">
            <a:avLst/>
          </a:prstGeom>
          <a:noFill/>
        </p:spPr>
        <p:txBody>
          <a:bodyPr wrap="square" lIns="0" rIns="0" tIns="0" bIns="0">
            <a:spAutoFit/>
          </a:bodyPr>
          <a:lstStyle/>
          <a:p>
            <a:pPr algn="l">
              <a:lnSpc>
                <a:spcPct val="110000"/>
              </a:lnSpc>
              <a:spcAft>
                <a:spcPts val="200"/>
              </a:spcAft>
              <a:defRPr sz="3200" b="1">
                <a:solidFill>
                  <a:srgbClr val="F4C16D"/>
                </a:solidFill>
                <a:latin typeface="Arial"/>
              </a:defRPr>
            </a:pPr>
            <a:r>
              <a:t>5 · 2.9%</a:t>
            </a:r>
          </a:p>
        </p:txBody>
      </p:sp>
      <p:sp>
        <p:nvSpPr>
          <p:cNvPr id="10" name="TextBox 9"/>
          <p:cNvSpPr txBox="1"/>
          <p:nvPr/>
        </p:nvSpPr>
        <p:spPr>
          <a:xfrm>
            <a:off x="713232" y="2505456"/>
            <a:ext cx="5029200" cy="502920"/>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Repeated “Not Applicable” IDs</a:t>
            </a:r>
          </a:p>
        </p:txBody>
      </p:sp>
      <p:sp>
        <p:nvSpPr>
          <p:cNvPr id="11" name="TextBox 10"/>
          <p:cNvSpPr txBox="1"/>
          <p:nvPr/>
        </p:nvSpPr>
        <p:spPr>
          <a:xfrm>
            <a:off x="713232" y="3054096"/>
            <a:ext cx="5029200" cy="557784"/>
          </a:xfrm>
          <a:prstGeom prst="rect">
            <a:avLst/>
          </a:prstGeom>
          <a:noFill/>
        </p:spPr>
        <p:txBody>
          <a:bodyPr wrap="square" lIns="0" rIns="0" tIns="0" bIns="0">
            <a:spAutoFit/>
          </a:bodyPr>
          <a:lstStyle/>
          <a:p>
            <a:pPr algn="l">
              <a:lnSpc>
                <a:spcPct val="110000"/>
              </a:lnSpc>
              <a:spcAft>
                <a:spcPts val="200"/>
              </a:spcAft>
              <a:defRPr sz="1400" b="0">
                <a:solidFill>
                  <a:srgbClr val="B1C1D2"/>
                </a:solidFill>
                <a:latin typeface="Arial"/>
              </a:defRPr>
            </a:pPr>
            <a:r>
              <a:t>Align placeholder handling with the intended unavailable-ID allowance.</a:t>
            </a:r>
          </a:p>
        </p:txBody>
      </p:sp>
      <p:sp>
        <p:nvSpPr>
          <p:cNvPr id="12" name="Rounded Rectangle 11"/>
          <p:cNvSpPr/>
          <p:nvPr/>
        </p:nvSpPr>
        <p:spPr>
          <a:xfrm>
            <a:off x="6190488" y="1664208"/>
            <a:ext cx="5394960" cy="2057400"/>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73368" y="1837944"/>
            <a:ext cx="5029200" cy="594360"/>
          </a:xfrm>
          <a:prstGeom prst="rect">
            <a:avLst/>
          </a:prstGeom>
          <a:noFill/>
        </p:spPr>
        <p:txBody>
          <a:bodyPr wrap="square" lIns="0" rIns="0" tIns="0" bIns="0">
            <a:spAutoFit/>
          </a:bodyPr>
          <a:lstStyle/>
          <a:p>
            <a:pPr algn="l">
              <a:lnSpc>
                <a:spcPct val="110000"/>
              </a:lnSpc>
              <a:spcAft>
                <a:spcPts val="200"/>
              </a:spcAft>
              <a:defRPr sz="3200" b="1">
                <a:solidFill>
                  <a:srgbClr val="9ABCF4"/>
                </a:solidFill>
                <a:latin typeface="Arial"/>
              </a:defRPr>
            </a:pPr>
            <a:r>
              <a:t>2 · 1.2%</a:t>
            </a:r>
          </a:p>
        </p:txBody>
      </p:sp>
      <p:sp>
        <p:nvSpPr>
          <p:cNvPr id="14" name="TextBox 13"/>
          <p:cNvSpPr txBox="1"/>
          <p:nvPr/>
        </p:nvSpPr>
        <p:spPr>
          <a:xfrm>
            <a:off x="6373368" y="2505456"/>
            <a:ext cx="5029200" cy="502920"/>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Same normalized identifier</a:t>
            </a:r>
          </a:p>
        </p:txBody>
      </p:sp>
      <p:sp>
        <p:nvSpPr>
          <p:cNvPr id="15" name="TextBox 14"/>
          <p:cNvSpPr txBox="1"/>
          <p:nvPr/>
        </p:nvSpPr>
        <p:spPr>
          <a:xfrm>
            <a:off x="6373368" y="3054096"/>
            <a:ext cx="5029200" cy="557784"/>
          </a:xfrm>
          <a:prstGeom prst="rect">
            <a:avLst/>
          </a:prstGeom>
          <a:noFill/>
        </p:spPr>
        <p:txBody>
          <a:bodyPr wrap="square" lIns="0" rIns="0" tIns="0" bIns="0">
            <a:spAutoFit/>
          </a:bodyPr>
          <a:lstStyle/>
          <a:p>
            <a:pPr algn="l">
              <a:lnSpc>
                <a:spcPct val="110000"/>
              </a:lnSpc>
              <a:spcAft>
                <a:spcPts val="200"/>
              </a:spcAft>
              <a:defRPr sz="1400" b="0">
                <a:solidFill>
                  <a:srgbClr val="B1C1D2"/>
                </a:solidFill>
                <a:latin typeface="Arial"/>
              </a:defRPr>
            </a:pPr>
            <a:r>
              <a:t>Rows 78 and 159 share variants of “TruCare Cloud”.</a:t>
            </a:r>
          </a:p>
        </p:txBody>
      </p:sp>
      <p:pic>
        <p:nvPicPr>
          <p:cNvPr id="16" name="Picture 15" descr="vreview-placeholder-id.png"/>
          <p:cNvPicPr>
            <a:picLocks noChangeAspect="1"/>
          </p:cNvPicPr>
          <p:nvPr/>
        </p:nvPicPr>
        <p:blipFill>
          <a:blip r:embed="rId2"/>
          <a:srcRect/>
          <a:stretch>
            <a:fillRect/>
          </a:stretch>
        </p:blipFill>
        <p:spPr>
          <a:xfrm>
            <a:off x="609552" y="4206240"/>
            <a:ext cx="10942414" cy="1417319"/>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PROPOSED CHECKS • PARSER PRECISION AND SEMANTIC REVIEW</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A passing check does not confirm the operating status</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AI System / Solution Name  •  Business Purpose / Intended Use  •  Deployment Status  •  Risk Tier  •  LLM Count  •  ML/DL Models Count  •  Date Submitted</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13</a:t>
            </a:r>
          </a:p>
        </p:txBody>
      </p:sp>
      <p:sp>
        <p:nvSpPr>
          <p:cNvPr id="8" name="Rounded Rectangle 7"/>
          <p:cNvSpPr/>
          <p:nvPr/>
        </p:nvSpPr>
        <p:spPr>
          <a:xfrm>
            <a:off x="530352" y="1600200"/>
            <a:ext cx="3520440" cy="1691640"/>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773936"/>
            <a:ext cx="3154680" cy="594360"/>
          </a:xfrm>
          <a:prstGeom prst="rect">
            <a:avLst/>
          </a:prstGeom>
          <a:noFill/>
        </p:spPr>
        <p:txBody>
          <a:bodyPr wrap="square" lIns="0" rIns="0" tIns="0" bIns="0">
            <a:spAutoFit/>
          </a:bodyPr>
          <a:lstStyle/>
          <a:p>
            <a:pPr algn="l">
              <a:lnSpc>
                <a:spcPct val="110000"/>
              </a:lnSpc>
              <a:spcAft>
                <a:spcPts val="200"/>
              </a:spcAft>
              <a:defRPr sz="3200" b="1">
                <a:solidFill>
                  <a:srgbClr val="F4C16D"/>
                </a:solidFill>
                <a:latin typeface="Arial"/>
              </a:defRPr>
            </a:pPr>
            <a:r>
              <a:t>5 · 2.9%</a:t>
            </a:r>
          </a:p>
        </p:txBody>
      </p:sp>
      <p:sp>
        <p:nvSpPr>
          <p:cNvPr id="10" name="TextBox 9"/>
          <p:cNvSpPr txBox="1"/>
          <p:nvPr/>
        </p:nvSpPr>
        <p:spPr>
          <a:xfrm>
            <a:off x="713232" y="2441448"/>
            <a:ext cx="3154680" cy="758952"/>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Active, test-like registrations</a:t>
            </a:r>
          </a:p>
        </p:txBody>
      </p:sp>
      <p:sp>
        <p:nvSpPr>
          <p:cNvPr id="11" name="Rounded Rectangle 10"/>
          <p:cNvSpPr/>
          <p:nvPr/>
        </p:nvSpPr>
        <p:spPr>
          <a:xfrm>
            <a:off x="4315968" y="1600200"/>
            <a:ext cx="3520440" cy="1691640"/>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8848" y="1773936"/>
            <a:ext cx="3154680" cy="594360"/>
          </a:xfrm>
          <a:prstGeom prst="rect">
            <a:avLst/>
          </a:prstGeom>
          <a:noFill/>
        </p:spPr>
        <p:txBody>
          <a:bodyPr wrap="square" lIns="0" rIns="0" tIns="0" bIns="0">
            <a:spAutoFit/>
          </a:bodyPr>
          <a:lstStyle/>
          <a:p>
            <a:pPr algn="l">
              <a:lnSpc>
                <a:spcPct val="110000"/>
              </a:lnSpc>
              <a:spcAft>
                <a:spcPts val="200"/>
              </a:spcAft>
              <a:defRPr sz="3200" b="1">
                <a:solidFill>
                  <a:srgbClr val="9ABCF4"/>
                </a:solidFill>
                <a:latin typeface="Arial"/>
              </a:defRPr>
            </a:pPr>
            <a:r>
              <a:t>2 · 1.2%</a:t>
            </a:r>
          </a:p>
        </p:txBody>
      </p:sp>
      <p:sp>
        <p:nvSpPr>
          <p:cNvPr id="13" name="TextBox 12"/>
          <p:cNvSpPr txBox="1"/>
          <p:nvPr/>
        </p:nvSpPr>
        <p:spPr>
          <a:xfrm>
            <a:off x="4498848" y="2441448"/>
            <a:ext cx="3154680" cy="758952"/>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Pass current checks</a:t>
            </a:r>
          </a:p>
        </p:txBody>
      </p:sp>
      <p:sp>
        <p:nvSpPr>
          <p:cNvPr id="14" name="Rounded Rectangle 13"/>
          <p:cNvSpPr/>
          <p:nvPr/>
        </p:nvSpPr>
        <p:spPr>
          <a:xfrm>
            <a:off x="8101583" y="1600200"/>
            <a:ext cx="3520440" cy="1691640"/>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4463" y="1773936"/>
            <a:ext cx="3154680" cy="594360"/>
          </a:xfrm>
          <a:prstGeom prst="rect">
            <a:avLst/>
          </a:prstGeom>
          <a:noFill/>
        </p:spPr>
        <p:txBody>
          <a:bodyPr wrap="square" lIns="0" rIns="0" tIns="0" bIns="0">
            <a:spAutoFit/>
          </a:bodyPr>
          <a:lstStyle/>
          <a:p>
            <a:pPr algn="l">
              <a:lnSpc>
                <a:spcPct val="110000"/>
              </a:lnSpc>
              <a:spcAft>
                <a:spcPts val="200"/>
              </a:spcAft>
              <a:defRPr sz="3200" b="1">
                <a:solidFill>
                  <a:srgbClr val="69DDD0"/>
                </a:solidFill>
                <a:latin typeface="Arial"/>
              </a:defRPr>
            </a:pPr>
            <a:r>
              <a:t>19</a:t>
            </a:r>
          </a:p>
        </p:txBody>
      </p:sp>
      <p:sp>
        <p:nvSpPr>
          <p:cNvPr id="16" name="TextBox 15"/>
          <p:cNvSpPr txBox="1"/>
          <p:nvPr/>
        </p:nvSpPr>
        <p:spPr>
          <a:xfrm>
            <a:off x="8284463" y="2441448"/>
            <a:ext cx="3154680" cy="758952"/>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Parsed as the model count</a:t>
            </a:r>
          </a:p>
        </p:txBody>
      </p:sp>
      <p:pic>
        <p:nvPicPr>
          <p:cNvPr id="17" name="Picture 16" descr="vreview-test-like-pass.png"/>
          <p:cNvPicPr>
            <a:picLocks noChangeAspect="1"/>
          </p:cNvPicPr>
          <p:nvPr/>
        </p:nvPicPr>
        <p:blipFill>
          <a:blip r:embed="rId2"/>
          <a:srcRect/>
          <a:stretch>
            <a:fillRect/>
          </a:stretch>
        </p:blipFill>
        <p:spPr>
          <a:xfrm>
            <a:off x="664028" y="3520440"/>
            <a:ext cx="10833462" cy="1097280"/>
          </a:xfrm>
          <a:prstGeom prst="rect">
            <a:avLst/>
          </a:prstGeom>
        </p:spPr>
      </p:pic>
      <p:pic>
        <p:nvPicPr>
          <p:cNvPr id="18" name="Picture 17" descr="vreview-accepted-date-like-count.png"/>
          <p:cNvPicPr>
            <a:picLocks noChangeAspect="1"/>
          </p:cNvPicPr>
          <p:nvPr/>
        </p:nvPicPr>
        <p:blipFill>
          <a:blip r:embed="rId3"/>
          <a:srcRect/>
          <a:stretch>
            <a:fillRect/>
          </a:stretch>
        </p:blipFill>
        <p:spPr>
          <a:xfrm>
            <a:off x="548640" y="4943309"/>
            <a:ext cx="11064240" cy="7204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REPORTING IMPROVEMENT • PRESERVE DISCLOSED SELECTIONS</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Unmapped text can hide PHI or PII in the charts</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Data Input to or Processed by AI Tool  •  Deployment Status</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14</a:t>
            </a:r>
          </a:p>
        </p:txBody>
      </p:sp>
      <p:sp>
        <p:nvSpPr>
          <p:cNvPr id="8" name="Rounded Rectangle 7"/>
          <p:cNvSpPr/>
          <p:nvPr/>
        </p:nvSpPr>
        <p:spPr>
          <a:xfrm>
            <a:off x="530352" y="1600200"/>
            <a:ext cx="3520440" cy="1783080"/>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773936"/>
            <a:ext cx="3154680" cy="594360"/>
          </a:xfrm>
          <a:prstGeom prst="rect">
            <a:avLst/>
          </a:prstGeom>
          <a:noFill/>
        </p:spPr>
        <p:txBody>
          <a:bodyPr wrap="square" lIns="0" rIns="0" tIns="0" bIns="0">
            <a:spAutoFit/>
          </a:bodyPr>
          <a:lstStyle/>
          <a:p>
            <a:pPr algn="l">
              <a:lnSpc>
                <a:spcPct val="110000"/>
              </a:lnSpc>
              <a:spcAft>
                <a:spcPts val="200"/>
              </a:spcAft>
              <a:defRPr sz="3200" b="1">
                <a:solidFill>
                  <a:srgbClr val="F4C16D"/>
                </a:solidFill>
                <a:latin typeface="Arial"/>
              </a:defRPr>
            </a:pPr>
            <a:r>
              <a:t>18 · 10.4%</a:t>
            </a:r>
          </a:p>
        </p:txBody>
      </p:sp>
      <p:sp>
        <p:nvSpPr>
          <p:cNvPr id="10" name="TextBox 9"/>
          <p:cNvSpPr txBox="1"/>
          <p:nvPr/>
        </p:nvSpPr>
        <p:spPr>
          <a:xfrm>
            <a:off x="713232" y="2441448"/>
            <a:ext cx="3154680" cy="777240"/>
          </a:xfrm>
          <a:prstGeom prst="rect">
            <a:avLst/>
          </a:prstGeom>
          <a:noFill/>
        </p:spPr>
        <p:txBody>
          <a:bodyPr wrap="square" lIns="0" rIns="0" tIns="0" bIns="0">
            <a:spAutoFit/>
          </a:bodyPr>
          <a:lstStyle/>
          <a:p>
            <a:pPr algn="l">
              <a:lnSpc>
                <a:spcPct val="110000"/>
              </a:lnSpc>
              <a:spcAft>
                <a:spcPts val="200"/>
              </a:spcAft>
              <a:defRPr sz="1600" b="1">
                <a:solidFill>
                  <a:srgbClr val="F2F6FB"/>
                </a:solidFill>
                <a:latin typeface="Arial"/>
              </a:defRPr>
            </a:pPr>
            <a:r>
              <a:t>Explicit PHI/PII, hidden in charts</a:t>
            </a:r>
          </a:p>
        </p:txBody>
      </p:sp>
      <p:sp>
        <p:nvSpPr>
          <p:cNvPr id="11" name="Rounded Rectangle 10"/>
          <p:cNvSpPr/>
          <p:nvPr/>
        </p:nvSpPr>
        <p:spPr>
          <a:xfrm>
            <a:off x="4315968" y="1600200"/>
            <a:ext cx="3520440" cy="1783080"/>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8848" y="1773936"/>
            <a:ext cx="3154680" cy="594360"/>
          </a:xfrm>
          <a:prstGeom prst="rect">
            <a:avLst/>
          </a:prstGeom>
          <a:noFill/>
        </p:spPr>
        <p:txBody>
          <a:bodyPr wrap="square" lIns="0" rIns="0" tIns="0" bIns="0">
            <a:spAutoFit/>
          </a:bodyPr>
          <a:lstStyle/>
          <a:p>
            <a:pPr algn="l">
              <a:lnSpc>
                <a:spcPct val="110000"/>
              </a:lnSpc>
              <a:spcAft>
                <a:spcPts val="200"/>
              </a:spcAft>
              <a:defRPr sz="3200" b="1">
                <a:solidFill>
                  <a:srgbClr val="69DDD0"/>
                </a:solidFill>
                <a:latin typeface="Arial"/>
              </a:defRPr>
            </a:pPr>
            <a:r>
              <a:t>9 · 5.2%</a:t>
            </a:r>
          </a:p>
        </p:txBody>
      </p:sp>
      <p:sp>
        <p:nvSpPr>
          <p:cNvPr id="13" name="TextBox 12"/>
          <p:cNvSpPr txBox="1"/>
          <p:nvPr/>
        </p:nvSpPr>
        <p:spPr>
          <a:xfrm>
            <a:off x="4498848" y="2441448"/>
            <a:ext cx="3154680" cy="777240"/>
          </a:xfrm>
          <a:prstGeom prst="rect">
            <a:avLst/>
          </a:prstGeom>
          <a:noFill/>
        </p:spPr>
        <p:txBody>
          <a:bodyPr wrap="square" lIns="0" rIns="0" tIns="0" bIns="0">
            <a:spAutoFit/>
          </a:bodyPr>
          <a:lstStyle/>
          <a:p>
            <a:pPr algn="l">
              <a:lnSpc>
                <a:spcPct val="110000"/>
              </a:lnSpc>
              <a:spcAft>
                <a:spcPts val="200"/>
              </a:spcAft>
              <a:defRPr sz="1700" b="1">
                <a:solidFill>
                  <a:srgbClr val="F2F6FB"/>
                </a:solidFill>
                <a:latin typeface="Arial"/>
              </a:defRPr>
            </a:pPr>
            <a:r>
              <a:t>Also Pilot or Active</a:t>
            </a:r>
          </a:p>
        </p:txBody>
      </p:sp>
      <p:sp>
        <p:nvSpPr>
          <p:cNvPr id="14" name="Rounded Rectangle 13"/>
          <p:cNvSpPr/>
          <p:nvPr/>
        </p:nvSpPr>
        <p:spPr>
          <a:xfrm>
            <a:off x="8101583" y="1600200"/>
            <a:ext cx="3520440" cy="1783080"/>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84463" y="1773936"/>
            <a:ext cx="3154680" cy="594360"/>
          </a:xfrm>
          <a:prstGeom prst="rect">
            <a:avLst/>
          </a:prstGeom>
          <a:noFill/>
        </p:spPr>
        <p:txBody>
          <a:bodyPr wrap="square" lIns="0" rIns="0" tIns="0" bIns="0">
            <a:spAutoFit/>
          </a:bodyPr>
          <a:lstStyle/>
          <a:p>
            <a:pPr algn="l">
              <a:lnSpc>
                <a:spcPct val="110000"/>
              </a:lnSpc>
              <a:spcAft>
                <a:spcPts val="200"/>
              </a:spcAft>
              <a:defRPr sz="3200" b="1">
                <a:solidFill>
                  <a:srgbClr val="9ABCF4"/>
                </a:solidFill>
                <a:latin typeface="Arial"/>
              </a:defRPr>
            </a:pPr>
            <a:r>
              <a:t>14</a:t>
            </a:r>
          </a:p>
        </p:txBody>
      </p:sp>
      <p:sp>
        <p:nvSpPr>
          <p:cNvPr id="16" name="TextBox 15"/>
          <p:cNvSpPr txBox="1"/>
          <p:nvPr/>
        </p:nvSpPr>
        <p:spPr>
          <a:xfrm>
            <a:off x="8284463" y="2441448"/>
            <a:ext cx="3154680" cy="777240"/>
          </a:xfrm>
          <a:prstGeom prst="rect">
            <a:avLst/>
          </a:prstGeom>
          <a:noFill/>
        </p:spPr>
        <p:txBody>
          <a:bodyPr wrap="square" lIns="0" rIns="0" tIns="0" bIns="0">
            <a:spAutoFit/>
          </a:bodyPr>
          <a:lstStyle/>
          <a:p>
            <a:pPr algn="l">
              <a:lnSpc>
                <a:spcPct val="110000"/>
              </a:lnSpc>
              <a:spcAft>
                <a:spcPts val="200"/>
              </a:spcAft>
              <a:defRPr sz="1600" b="1">
                <a:solidFill>
                  <a:srgbClr val="F2F6FB"/>
                </a:solidFill>
                <a:latin typeface="Arial"/>
              </a:defRPr>
            </a:pPr>
            <a:r>
              <a:t>Also say Business Confidential Data</a:t>
            </a:r>
          </a:p>
        </p:txBody>
      </p:sp>
      <p:pic>
        <p:nvPicPr>
          <p:cNvPr id="17" name="Picture 16" descr="vreview-disclosed-pii.png"/>
          <p:cNvPicPr>
            <a:picLocks noChangeAspect="1"/>
          </p:cNvPicPr>
          <p:nvPr/>
        </p:nvPicPr>
        <p:blipFill>
          <a:blip r:embed="rId2"/>
          <a:srcRect/>
          <a:stretch>
            <a:fillRect/>
          </a:stretch>
        </p:blipFill>
        <p:spPr>
          <a:xfrm>
            <a:off x="548640" y="3804881"/>
            <a:ext cx="11064240" cy="720420"/>
          </a:xfrm>
          <a:prstGeom prst="rect">
            <a:avLst/>
          </a:prstGeom>
        </p:spPr>
      </p:pic>
      <p:sp>
        <p:nvSpPr>
          <p:cNvPr id="18" name="TextBox 17"/>
          <p:cNvSpPr txBox="1"/>
          <p:nvPr/>
        </p:nvSpPr>
        <p:spPr>
          <a:xfrm>
            <a:off x="685800" y="5010912"/>
            <a:ext cx="10789920" cy="868680"/>
          </a:xfrm>
          <a:prstGeom prst="rect">
            <a:avLst/>
          </a:prstGeom>
          <a:noFill/>
        </p:spPr>
        <p:txBody>
          <a:bodyPr wrap="square" lIns="0" rIns="0" tIns="0" bIns="0">
            <a:spAutoFit/>
          </a:bodyPr>
          <a:lstStyle/>
          <a:p>
            <a:pPr algn="l">
              <a:lnSpc>
                <a:spcPct val="110000"/>
              </a:lnSpc>
              <a:spcAft>
                <a:spcPts val="200"/>
              </a:spcAft>
              <a:defRPr sz="2300" b="0">
                <a:solidFill>
                  <a:srgbClr val="B1C1D2"/>
                </a:solidFill>
                <a:latin typeface="Arial"/>
              </a:defRPr>
            </a:pPr>
            <a:r>
              <a:t>Keep each recognized selection. Report the unmapped text separately. Do not treat a detailed answer as an empty answer.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PROPOSED FOLLOW-UP • UNKNOWN RISK TIER × STAGE × SOURCE</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Ask owners to review Unknown risk tiers</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Risk Tier  •  Deployment Status  •  Source of AI System  •  AI System / Solution Name  •  Business Purpose / Intended Use</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15</a:t>
            </a:r>
          </a:p>
        </p:txBody>
      </p:sp>
      <p:sp>
        <p:nvSpPr>
          <p:cNvPr id="8" name="TextBox 7"/>
          <p:cNvSpPr txBox="1"/>
          <p:nvPr/>
        </p:nvSpPr>
        <p:spPr>
          <a:xfrm>
            <a:off x="502920" y="1344168"/>
            <a:ext cx="11155680" cy="320040"/>
          </a:xfrm>
          <a:prstGeom prst="rect">
            <a:avLst/>
          </a:prstGeom>
          <a:noFill/>
        </p:spPr>
        <p:txBody>
          <a:bodyPr wrap="square" lIns="0" rIns="0" tIns="0" bIns="0">
            <a:spAutoFit/>
          </a:bodyPr>
          <a:lstStyle/>
          <a:p>
            <a:pPr algn="l">
              <a:lnSpc>
                <a:spcPct val="110000"/>
              </a:lnSpc>
              <a:spcAft>
                <a:spcPts val="200"/>
              </a:spcAft>
              <a:defRPr sz="1639" b="0">
                <a:solidFill>
                  <a:srgbClr val="B1C1D2"/>
                </a:solidFill>
                <a:latin typeface="Arial"/>
              </a:defRPr>
            </a:pPr>
            <a:r>
              <a:t>Unknown needs owner review. Red bars show findings from other checks.</a:t>
            </a:r>
          </a:p>
        </p:txBody>
      </p:sp>
      <p:pic>
        <p:nvPicPr>
          <p:cNvPr id="9" name="Picture 8" descr="vreview-risk-follow-up.png"/>
          <p:cNvPicPr>
            <a:picLocks noChangeAspect="1"/>
          </p:cNvPicPr>
          <p:nvPr/>
        </p:nvPicPr>
        <p:blipFill>
          <a:blip r:embed="rId2"/>
          <a:srcRect l="2500" t="20694" r="2500" b="8056"/>
          <a:stretch>
            <a:fillRect/>
          </a:stretch>
        </p:blipFill>
        <p:spPr>
          <a:xfrm>
            <a:off x="1000929" y="1691640"/>
            <a:ext cx="10187093" cy="4297680"/>
          </a:xfrm>
          <a:prstGeom prst="rect">
            <a:avLst/>
          </a:prstGeom>
        </p:spPr>
      </p:pic>
      <p:sp>
        <p:nvSpPr>
          <p:cNvPr id="10" name="TextBox 9"/>
          <p:cNvSpPr txBox="1"/>
          <p:nvPr/>
        </p:nvSpPr>
        <p:spPr>
          <a:xfrm>
            <a:off x="685800" y="6053328"/>
            <a:ext cx="10789920" cy="173736"/>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Red: records with findings. Teal: records with no findings. Share: % of all 173 records.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TEAM DECISIONS • CORRECTION PRIORITIES AND RULE IMPROVEMENTS</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Agree the checks. Then validate the corrected source.</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LLM Count  •  ML/DL Models Count  •  Vendor Owner  •  Application / System ID  •  Data Input to or Processed by AI Tool  •  Risk Tier  •  Deployment Status</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16</a:t>
            </a:r>
          </a:p>
        </p:txBody>
      </p:sp>
      <p:sp>
        <p:nvSpPr>
          <p:cNvPr id="8" name="Rounded Rectangle 7"/>
          <p:cNvSpPr/>
          <p:nvPr/>
        </p:nvSpPr>
        <p:spPr>
          <a:xfrm>
            <a:off x="530352" y="1645920"/>
            <a:ext cx="11064240" cy="932688"/>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801368"/>
            <a:ext cx="3657600" cy="438912"/>
          </a:xfrm>
          <a:prstGeom prst="rect">
            <a:avLst/>
          </a:prstGeom>
          <a:noFill/>
        </p:spPr>
        <p:txBody>
          <a:bodyPr wrap="square" lIns="0" rIns="0" tIns="0" bIns="0">
            <a:spAutoFit/>
          </a:bodyPr>
          <a:lstStyle/>
          <a:p>
            <a:pPr algn="l">
              <a:lnSpc>
                <a:spcPct val="110000"/>
              </a:lnSpc>
              <a:spcAft>
                <a:spcPts val="200"/>
              </a:spcAft>
              <a:defRPr sz="1450" b="1">
                <a:solidFill>
                  <a:srgbClr val="69DDD0"/>
                </a:solidFill>
                <a:latin typeface="Arial"/>
              </a:defRPr>
            </a:pPr>
            <a:r>
              <a:t>RECORD / PLATFORM OWNERS</a:t>
            </a:r>
          </a:p>
        </p:txBody>
      </p:sp>
      <p:sp>
        <p:nvSpPr>
          <p:cNvPr id="10" name="TextBox 9"/>
          <p:cNvSpPr txBox="1"/>
          <p:nvPr/>
        </p:nvSpPr>
        <p:spPr>
          <a:xfrm>
            <a:off x="4480560" y="1773936"/>
            <a:ext cx="6858000" cy="658368"/>
          </a:xfrm>
          <a:prstGeom prst="rect">
            <a:avLst/>
          </a:prstGeom>
          <a:noFill/>
        </p:spPr>
        <p:txBody>
          <a:bodyPr wrap="square" lIns="0" rIns="0" tIns="0" bIns="0">
            <a:spAutoFit/>
          </a:bodyPr>
          <a:lstStyle/>
          <a:p>
            <a:pPr algn="l">
              <a:lnSpc>
                <a:spcPct val="110000"/>
              </a:lnSpc>
              <a:spcAft>
                <a:spcPts val="200"/>
              </a:spcAft>
              <a:defRPr sz="1700" b="0">
                <a:solidFill>
                  <a:srgbClr val="B1C1D2"/>
                </a:solidFill>
                <a:latin typeface="Arial"/>
              </a:defRPr>
            </a:pPr>
            <a:r>
              <a:t>Confirm missing facts. Correct source values.</a:t>
            </a:r>
          </a:p>
          <a:p>
            <a:pPr algn="l">
              <a:lnSpc>
                <a:spcPct val="110000"/>
              </a:lnSpc>
              <a:spcAft>
                <a:spcPts val="200"/>
              </a:spcAft>
              <a:defRPr sz="1700" b="0">
                <a:solidFill>
                  <a:srgbClr val="B1C1D2"/>
                </a:solidFill>
                <a:latin typeface="Arial"/>
              </a:defRPr>
            </a:pPr>
            <a:r>
              <a:t>Review the counts and contacts for each record.</a:t>
            </a:r>
          </a:p>
        </p:txBody>
      </p:sp>
      <p:sp>
        <p:nvSpPr>
          <p:cNvPr id="11" name="Rounded Rectangle 10"/>
          <p:cNvSpPr/>
          <p:nvPr/>
        </p:nvSpPr>
        <p:spPr>
          <a:xfrm>
            <a:off x="530352" y="2724912"/>
            <a:ext cx="11064240" cy="932688"/>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880360"/>
            <a:ext cx="3657600" cy="438912"/>
          </a:xfrm>
          <a:prstGeom prst="rect">
            <a:avLst/>
          </a:prstGeom>
          <a:noFill/>
        </p:spPr>
        <p:txBody>
          <a:bodyPr wrap="square" lIns="0" rIns="0" tIns="0" bIns="0">
            <a:spAutoFit/>
          </a:bodyPr>
          <a:lstStyle/>
          <a:p>
            <a:pPr algn="l">
              <a:lnSpc>
                <a:spcPct val="110000"/>
              </a:lnSpc>
              <a:spcAft>
                <a:spcPts val="200"/>
              </a:spcAft>
              <a:defRPr sz="1450" b="1">
                <a:solidFill>
                  <a:srgbClr val="F4C16D"/>
                </a:solidFill>
                <a:latin typeface="Arial"/>
              </a:defRPr>
            </a:pPr>
            <a:r>
              <a:t>INVENTORY TEAM</a:t>
            </a:r>
          </a:p>
        </p:txBody>
      </p:sp>
      <p:sp>
        <p:nvSpPr>
          <p:cNvPr id="13" name="TextBox 12"/>
          <p:cNvSpPr txBox="1"/>
          <p:nvPr/>
        </p:nvSpPr>
        <p:spPr>
          <a:xfrm>
            <a:off x="4480560" y="2852928"/>
            <a:ext cx="6858000" cy="658368"/>
          </a:xfrm>
          <a:prstGeom prst="rect">
            <a:avLst/>
          </a:prstGeom>
          <a:noFill/>
        </p:spPr>
        <p:txBody>
          <a:bodyPr wrap="square" lIns="0" rIns="0" tIns="0" bIns="0">
            <a:spAutoFit/>
          </a:bodyPr>
          <a:lstStyle/>
          <a:p>
            <a:pPr algn="l">
              <a:lnSpc>
                <a:spcPct val="110000"/>
              </a:lnSpc>
              <a:spcAft>
                <a:spcPts val="200"/>
              </a:spcAft>
              <a:defRPr sz="1700" b="0">
                <a:solidFill>
                  <a:srgbClr val="B1C1D2"/>
                </a:solidFill>
                <a:latin typeface="Arial"/>
              </a:defRPr>
            </a:pPr>
            <a:r>
              <a:t>Clarify count guidance and ID meaning.</a:t>
            </a:r>
          </a:p>
          <a:p>
            <a:pPr algn="l">
              <a:lnSpc>
                <a:spcPct val="110000"/>
              </a:lnSpc>
              <a:spcAft>
                <a:spcPts val="200"/>
              </a:spcAft>
              <a:defRPr sz="1700" b="0">
                <a:solidFill>
                  <a:srgbClr val="B1C1D2"/>
                </a:solidFill>
                <a:latin typeface="Arial"/>
              </a:defRPr>
            </a:pPr>
            <a:r>
              <a:t>Agree the review steps for Unknown and test-like records.</a:t>
            </a:r>
          </a:p>
        </p:txBody>
      </p:sp>
      <p:sp>
        <p:nvSpPr>
          <p:cNvPr id="14" name="Rounded Rectangle 13"/>
          <p:cNvSpPr/>
          <p:nvPr/>
        </p:nvSpPr>
        <p:spPr>
          <a:xfrm>
            <a:off x="530352" y="3803904"/>
            <a:ext cx="11064240" cy="932688"/>
          </a:xfrm>
          <a:prstGeom prst="roundRect">
            <a:avLst>
              <a:gd name="adj" fmla="val 7000"/>
            </a:avLst>
          </a:prstGeom>
          <a:solidFill>
            <a:srgbClr val="1726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3959352"/>
            <a:ext cx="3657600" cy="438912"/>
          </a:xfrm>
          <a:prstGeom prst="rect">
            <a:avLst/>
          </a:prstGeom>
          <a:noFill/>
        </p:spPr>
        <p:txBody>
          <a:bodyPr wrap="square" lIns="0" rIns="0" tIns="0" bIns="0">
            <a:spAutoFit/>
          </a:bodyPr>
          <a:lstStyle/>
          <a:p>
            <a:pPr algn="l">
              <a:lnSpc>
                <a:spcPct val="110000"/>
              </a:lnSpc>
              <a:spcAft>
                <a:spcPts val="200"/>
              </a:spcAft>
              <a:defRPr sz="1450" b="1">
                <a:solidFill>
                  <a:srgbClr val="9ABCF4"/>
                </a:solidFill>
                <a:latin typeface="Arial"/>
              </a:defRPr>
            </a:pPr>
            <a:r>
              <a:t>APP TEAM</a:t>
            </a:r>
          </a:p>
        </p:txBody>
      </p:sp>
      <p:sp>
        <p:nvSpPr>
          <p:cNvPr id="16" name="TextBox 15"/>
          <p:cNvSpPr txBox="1"/>
          <p:nvPr/>
        </p:nvSpPr>
        <p:spPr>
          <a:xfrm>
            <a:off x="4480560" y="3931920"/>
            <a:ext cx="6858000" cy="658368"/>
          </a:xfrm>
          <a:prstGeom prst="rect">
            <a:avLst/>
          </a:prstGeom>
          <a:noFill/>
        </p:spPr>
        <p:txBody>
          <a:bodyPr wrap="square" lIns="0" rIns="0" tIns="0" bIns="0">
            <a:spAutoFit/>
          </a:bodyPr>
          <a:lstStyle/>
          <a:p>
            <a:pPr algn="l">
              <a:lnSpc>
                <a:spcPct val="110000"/>
              </a:lnSpc>
              <a:spcAft>
                <a:spcPts val="200"/>
              </a:spcAft>
              <a:defRPr sz="1700" b="0">
                <a:solidFill>
                  <a:srgbClr val="B1C1D2"/>
                </a:solidFill>
                <a:latin typeface="Arial"/>
              </a:defRPr>
            </a:pPr>
            <a:r>
              <a:t>Reject date-like counts. Align ID placeholders.</a:t>
            </a:r>
          </a:p>
          <a:p>
            <a:pPr algn="l">
              <a:lnSpc>
                <a:spcPct val="110000"/>
              </a:lnSpc>
              <a:spcAft>
                <a:spcPts val="200"/>
              </a:spcAft>
              <a:defRPr sz="1700" b="0">
                <a:solidFill>
                  <a:srgbClr val="B1C1D2"/>
                </a:solidFill>
                <a:latin typeface="Arial"/>
              </a:defRPr>
            </a:pPr>
            <a:r>
              <a:t>Keep recognized data selections in the charts.</a:t>
            </a:r>
          </a:p>
        </p:txBody>
      </p:sp>
      <p:sp>
        <p:nvSpPr>
          <p:cNvPr id="17" name="TextBox 16"/>
          <p:cNvSpPr txBox="1"/>
          <p:nvPr/>
        </p:nvSpPr>
        <p:spPr>
          <a:xfrm>
            <a:off x="685800" y="5038344"/>
            <a:ext cx="10789920" cy="512064"/>
          </a:xfrm>
          <a:prstGeom prst="rect">
            <a:avLst/>
          </a:prstGeom>
          <a:noFill/>
        </p:spPr>
        <p:txBody>
          <a:bodyPr wrap="square" lIns="0" rIns="0" tIns="0" bIns="0">
            <a:spAutoFit/>
          </a:bodyPr>
          <a:lstStyle/>
          <a:p>
            <a:pPr algn="l">
              <a:lnSpc>
                <a:spcPct val="110000"/>
              </a:lnSpc>
              <a:spcAft>
                <a:spcPts val="200"/>
              </a:spcAft>
              <a:defRPr sz="1900" b="1">
                <a:solidFill>
                  <a:srgbClr val="69DDD0"/>
                </a:solidFill>
                <a:latin typeface="Arial"/>
              </a:defRPr>
            </a:pPr>
            <a:r>
              <a:t>Upload the corrected source. Confirm the same 173 records. Compare the findings.</a:t>
            </a:r>
          </a:p>
        </p:txBody>
      </p:sp>
      <p:sp>
        <p:nvSpPr>
          <p:cNvPr id="18" name="TextBox 17"/>
          <p:cNvSpPr txBox="1"/>
          <p:nvPr/>
        </p:nvSpPr>
        <p:spPr>
          <a:xfrm>
            <a:off x="685800" y="5632704"/>
            <a:ext cx="10789920" cy="429768"/>
          </a:xfrm>
          <a:prstGeom prst="rect">
            <a:avLst/>
          </a:prstGeom>
          <a:noFill/>
        </p:spPr>
        <p:txBody>
          <a:bodyPr wrap="square" lIns="0" rIns="0" tIns="0" bIns="0">
            <a:spAutoFit/>
          </a:bodyPr>
          <a:lstStyle/>
          <a:p>
            <a:pPr algn="l">
              <a:lnSpc>
                <a:spcPct val="110000"/>
              </a:lnSpc>
              <a:spcAft>
                <a:spcPts val="200"/>
              </a:spcAft>
              <a:defRPr sz="1550" b="0">
                <a:solidFill>
                  <a:srgbClr val="B1C1D2"/>
                </a:solidFill>
                <a:latin typeface="Arial"/>
              </a:defRPr>
            </a:pPr>
            <a:r>
              <a:t>If all 76 count-only records pass after correction, the passing count could rise from 52 to 128 (74.0%).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APPENDIX A • CURRENT RULE OUTCOMES</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Records with findings, by rule and column</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LLM Count  •  ML/DL Models Count  •  Vendor Owner  •  State  •  LOB  •  Application / System ID  •  Go-Live Date  •  Business Owner  •  Technical Owner  •  Data Environment</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17</a:t>
            </a:r>
          </a:p>
        </p:txBody>
      </p:sp>
      <p:sp>
        <p:nvSpPr>
          <p:cNvPr id="8" name="Rectangle 7"/>
          <p:cNvSpPr/>
          <p:nvPr/>
        </p:nvSpPr>
        <p:spPr>
          <a:xfrm>
            <a:off x="502920" y="1572768"/>
            <a:ext cx="11155680" cy="365760"/>
          </a:xfrm>
          <a:prstGeom prst="rect">
            <a:avLst/>
          </a:prstGeom>
          <a:solidFill>
            <a:srgbClr val="20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673352"/>
            <a:ext cx="978408" cy="201168"/>
          </a:xfrm>
          <a:prstGeom prst="rect">
            <a:avLst/>
          </a:prstGeom>
          <a:noFill/>
        </p:spPr>
        <p:txBody>
          <a:bodyPr wrap="square" lIns="0" rIns="0" tIns="0" bIns="0">
            <a:spAutoFit/>
          </a:bodyPr>
          <a:lstStyle/>
          <a:p>
            <a:pPr algn="l">
              <a:lnSpc>
                <a:spcPct val="110000"/>
              </a:lnSpc>
              <a:spcAft>
                <a:spcPts val="200"/>
              </a:spcAft>
              <a:defRPr sz="1100" b="1">
                <a:solidFill>
                  <a:srgbClr val="69DDD0"/>
                </a:solidFill>
                <a:latin typeface="Arial"/>
              </a:defRPr>
            </a:pPr>
            <a:r>
              <a:t>Rule</a:t>
            </a:r>
          </a:p>
        </p:txBody>
      </p:sp>
      <p:sp>
        <p:nvSpPr>
          <p:cNvPr id="10" name="TextBox 9"/>
          <p:cNvSpPr txBox="1"/>
          <p:nvPr/>
        </p:nvSpPr>
        <p:spPr>
          <a:xfrm>
            <a:off x="1737360" y="1673352"/>
            <a:ext cx="4498848" cy="201168"/>
          </a:xfrm>
          <a:prstGeom prst="rect">
            <a:avLst/>
          </a:prstGeom>
          <a:noFill/>
        </p:spPr>
        <p:txBody>
          <a:bodyPr wrap="square" lIns="0" rIns="0" tIns="0" bIns="0">
            <a:spAutoFit/>
          </a:bodyPr>
          <a:lstStyle/>
          <a:p>
            <a:pPr algn="l">
              <a:lnSpc>
                <a:spcPct val="110000"/>
              </a:lnSpc>
              <a:spcAft>
                <a:spcPts val="200"/>
              </a:spcAft>
              <a:defRPr sz="1100" b="1">
                <a:solidFill>
                  <a:srgbClr val="69DDD0"/>
                </a:solidFill>
                <a:latin typeface="Arial"/>
              </a:defRPr>
            </a:pPr>
            <a:r>
              <a:t>Columns with current findings</a:t>
            </a:r>
          </a:p>
        </p:txBody>
      </p:sp>
      <p:sp>
        <p:nvSpPr>
          <p:cNvPr id="11" name="TextBox 10"/>
          <p:cNvSpPr txBox="1"/>
          <p:nvPr/>
        </p:nvSpPr>
        <p:spPr>
          <a:xfrm>
            <a:off x="6400799" y="1673352"/>
            <a:ext cx="3172968" cy="201168"/>
          </a:xfrm>
          <a:prstGeom prst="rect">
            <a:avLst/>
          </a:prstGeom>
          <a:noFill/>
        </p:spPr>
        <p:txBody>
          <a:bodyPr wrap="square" lIns="0" rIns="0" tIns="0" bIns="0">
            <a:spAutoFit/>
          </a:bodyPr>
          <a:lstStyle/>
          <a:p>
            <a:pPr algn="l">
              <a:lnSpc>
                <a:spcPct val="110000"/>
              </a:lnSpc>
              <a:spcAft>
                <a:spcPts val="200"/>
              </a:spcAft>
              <a:defRPr sz="1100" b="1">
                <a:solidFill>
                  <a:srgbClr val="69DDD0"/>
                </a:solidFill>
                <a:latin typeface="Arial"/>
              </a:defRPr>
            </a:pPr>
            <a:r>
              <a:t>Meaning</a:t>
            </a:r>
          </a:p>
        </p:txBody>
      </p:sp>
      <p:sp>
        <p:nvSpPr>
          <p:cNvPr id="12" name="TextBox 11"/>
          <p:cNvSpPr txBox="1"/>
          <p:nvPr/>
        </p:nvSpPr>
        <p:spPr>
          <a:xfrm>
            <a:off x="9738359" y="1673352"/>
            <a:ext cx="1847088" cy="201168"/>
          </a:xfrm>
          <a:prstGeom prst="rect">
            <a:avLst/>
          </a:prstGeom>
          <a:noFill/>
        </p:spPr>
        <p:txBody>
          <a:bodyPr wrap="square" lIns="0" rIns="0" tIns="0" bIns="0">
            <a:spAutoFit/>
          </a:bodyPr>
          <a:lstStyle/>
          <a:p>
            <a:pPr algn="l">
              <a:lnSpc>
                <a:spcPct val="110000"/>
              </a:lnSpc>
              <a:spcAft>
                <a:spcPts val="200"/>
              </a:spcAft>
              <a:defRPr sz="1100" b="1">
                <a:solidFill>
                  <a:srgbClr val="69DDD0"/>
                </a:solidFill>
                <a:latin typeface="Arial"/>
              </a:defRPr>
            </a:pPr>
            <a:r>
              <a:t>Records / % of 173</a:t>
            </a:r>
          </a:p>
        </p:txBody>
      </p:sp>
      <p:sp>
        <p:nvSpPr>
          <p:cNvPr id="13" name="Rectangle 12"/>
          <p:cNvSpPr/>
          <p:nvPr/>
        </p:nvSpPr>
        <p:spPr>
          <a:xfrm>
            <a:off x="502920" y="1938528"/>
            <a:ext cx="11155680" cy="420624"/>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011680"/>
            <a:ext cx="978408" cy="329184"/>
          </a:xfrm>
          <a:prstGeom prst="rect">
            <a:avLst/>
          </a:prstGeom>
          <a:noFill/>
        </p:spPr>
        <p:txBody>
          <a:bodyPr wrap="square" lIns="0" rIns="0" tIns="0" bIns="0">
            <a:spAutoFit/>
          </a:bodyPr>
          <a:lstStyle/>
          <a:p>
            <a:pPr algn="l">
              <a:lnSpc>
                <a:spcPct val="110000"/>
              </a:lnSpc>
              <a:spcAft>
                <a:spcPts val="200"/>
              </a:spcAft>
              <a:defRPr sz="1200" b="1">
                <a:solidFill>
                  <a:srgbClr val="F2F6FB"/>
                </a:solidFill>
                <a:latin typeface="Arial"/>
              </a:defRPr>
            </a:pPr>
            <a:r>
              <a:t>COUNT-01</a:t>
            </a:r>
          </a:p>
        </p:txBody>
      </p:sp>
      <p:sp>
        <p:nvSpPr>
          <p:cNvPr id="15" name="TextBox 14"/>
          <p:cNvSpPr txBox="1"/>
          <p:nvPr/>
        </p:nvSpPr>
        <p:spPr>
          <a:xfrm>
            <a:off x="1737360" y="2011680"/>
            <a:ext cx="449884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LLM Count; ML/DL Models Count</a:t>
            </a:r>
          </a:p>
        </p:txBody>
      </p:sp>
      <p:sp>
        <p:nvSpPr>
          <p:cNvPr id="16" name="TextBox 15"/>
          <p:cNvSpPr txBox="1"/>
          <p:nvPr/>
        </p:nvSpPr>
        <p:spPr>
          <a:xfrm>
            <a:off x="6400799" y="2011680"/>
            <a:ext cx="317296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Whole-number format</a:t>
            </a:r>
          </a:p>
        </p:txBody>
      </p:sp>
      <p:sp>
        <p:nvSpPr>
          <p:cNvPr id="17" name="TextBox 16"/>
          <p:cNvSpPr txBox="1"/>
          <p:nvPr/>
        </p:nvSpPr>
        <p:spPr>
          <a:xfrm>
            <a:off x="9738359" y="2011680"/>
            <a:ext cx="184708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79 · 45.7%</a:t>
            </a:r>
          </a:p>
        </p:txBody>
      </p:sp>
      <p:sp>
        <p:nvSpPr>
          <p:cNvPr id="18" name="Rectangle 17"/>
          <p:cNvSpPr/>
          <p:nvPr/>
        </p:nvSpPr>
        <p:spPr>
          <a:xfrm>
            <a:off x="502920" y="2359152"/>
            <a:ext cx="11155680" cy="420624"/>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2432304"/>
            <a:ext cx="978408" cy="329184"/>
          </a:xfrm>
          <a:prstGeom prst="rect">
            <a:avLst/>
          </a:prstGeom>
          <a:noFill/>
        </p:spPr>
        <p:txBody>
          <a:bodyPr wrap="square" lIns="0" rIns="0" tIns="0" bIns="0">
            <a:spAutoFit/>
          </a:bodyPr>
          <a:lstStyle/>
          <a:p>
            <a:pPr algn="l">
              <a:lnSpc>
                <a:spcPct val="110000"/>
              </a:lnSpc>
              <a:spcAft>
                <a:spcPts val="200"/>
              </a:spcAft>
              <a:defRPr sz="1200" b="1">
                <a:solidFill>
                  <a:srgbClr val="F2F6FB"/>
                </a:solidFill>
                <a:latin typeface="Arial"/>
              </a:defRPr>
            </a:pPr>
            <a:r>
              <a:t>COUNT-02</a:t>
            </a:r>
          </a:p>
        </p:txBody>
      </p:sp>
      <p:sp>
        <p:nvSpPr>
          <p:cNvPr id="20" name="TextBox 19"/>
          <p:cNvSpPr txBox="1"/>
          <p:nvPr/>
        </p:nvSpPr>
        <p:spPr>
          <a:xfrm>
            <a:off x="1737360" y="2432304"/>
            <a:ext cx="449884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Type(s) of AI Used; LLM Count</a:t>
            </a:r>
          </a:p>
        </p:txBody>
      </p:sp>
      <p:sp>
        <p:nvSpPr>
          <p:cNvPr id="21" name="TextBox 20"/>
          <p:cNvSpPr txBox="1"/>
          <p:nvPr/>
        </p:nvSpPr>
        <p:spPr>
          <a:xfrm>
            <a:off x="6400799" y="2432304"/>
            <a:ext cx="317296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Required LLM count ≥ 0</a:t>
            </a:r>
          </a:p>
        </p:txBody>
      </p:sp>
      <p:sp>
        <p:nvSpPr>
          <p:cNvPr id="22" name="TextBox 21"/>
          <p:cNvSpPr txBox="1"/>
          <p:nvPr/>
        </p:nvSpPr>
        <p:spPr>
          <a:xfrm>
            <a:off x="9738359" y="2432304"/>
            <a:ext cx="184708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15 · 8.7%</a:t>
            </a:r>
          </a:p>
        </p:txBody>
      </p:sp>
      <p:sp>
        <p:nvSpPr>
          <p:cNvPr id="23" name="Rectangle 22"/>
          <p:cNvSpPr/>
          <p:nvPr/>
        </p:nvSpPr>
        <p:spPr>
          <a:xfrm>
            <a:off x="502920" y="2779776"/>
            <a:ext cx="11155680" cy="420624"/>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2852928"/>
            <a:ext cx="978408" cy="329184"/>
          </a:xfrm>
          <a:prstGeom prst="rect">
            <a:avLst/>
          </a:prstGeom>
          <a:noFill/>
        </p:spPr>
        <p:txBody>
          <a:bodyPr wrap="square" lIns="0" rIns="0" tIns="0" bIns="0">
            <a:spAutoFit/>
          </a:bodyPr>
          <a:lstStyle/>
          <a:p>
            <a:pPr algn="l">
              <a:lnSpc>
                <a:spcPct val="110000"/>
              </a:lnSpc>
              <a:spcAft>
                <a:spcPts val="200"/>
              </a:spcAft>
              <a:defRPr sz="1200" b="1">
                <a:solidFill>
                  <a:srgbClr val="F2F6FB"/>
                </a:solidFill>
                <a:latin typeface="Arial"/>
              </a:defRPr>
            </a:pPr>
            <a:r>
              <a:t>COUNT-03</a:t>
            </a:r>
          </a:p>
        </p:txBody>
      </p:sp>
      <p:sp>
        <p:nvSpPr>
          <p:cNvPr id="25" name="TextBox 24"/>
          <p:cNvSpPr txBox="1"/>
          <p:nvPr/>
        </p:nvSpPr>
        <p:spPr>
          <a:xfrm>
            <a:off x="1737360" y="2852928"/>
            <a:ext cx="449884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Type(s) of AI Used; ML/DL Models Count</a:t>
            </a:r>
          </a:p>
        </p:txBody>
      </p:sp>
      <p:sp>
        <p:nvSpPr>
          <p:cNvPr id="26" name="TextBox 25"/>
          <p:cNvSpPr txBox="1"/>
          <p:nvPr/>
        </p:nvSpPr>
        <p:spPr>
          <a:xfrm>
            <a:off x="6400799" y="2852928"/>
            <a:ext cx="317296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Required ML/DL count ≥ 1</a:t>
            </a:r>
          </a:p>
        </p:txBody>
      </p:sp>
      <p:sp>
        <p:nvSpPr>
          <p:cNvPr id="27" name="TextBox 26"/>
          <p:cNvSpPr txBox="1"/>
          <p:nvPr/>
        </p:nvSpPr>
        <p:spPr>
          <a:xfrm>
            <a:off x="9738359" y="2852928"/>
            <a:ext cx="184708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6 · 3.5%</a:t>
            </a:r>
          </a:p>
        </p:txBody>
      </p:sp>
      <p:sp>
        <p:nvSpPr>
          <p:cNvPr id="28" name="Rectangle 27"/>
          <p:cNvSpPr/>
          <p:nvPr/>
        </p:nvSpPr>
        <p:spPr>
          <a:xfrm>
            <a:off x="502920" y="3200400"/>
            <a:ext cx="11155680" cy="420624"/>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4360" y="3273552"/>
            <a:ext cx="978408" cy="329184"/>
          </a:xfrm>
          <a:prstGeom prst="rect">
            <a:avLst/>
          </a:prstGeom>
          <a:noFill/>
        </p:spPr>
        <p:txBody>
          <a:bodyPr wrap="square" lIns="0" rIns="0" tIns="0" bIns="0">
            <a:spAutoFit/>
          </a:bodyPr>
          <a:lstStyle/>
          <a:p>
            <a:pPr algn="l">
              <a:lnSpc>
                <a:spcPct val="110000"/>
              </a:lnSpc>
              <a:spcAft>
                <a:spcPts val="200"/>
              </a:spcAft>
              <a:defRPr sz="1200" b="1">
                <a:solidFill>
                  <a:srgbClr val="F2F6FB"/>
                </a:solidFill>
                <a:latin typeface="Arial"/>
              </a:defRPr>
            </a:pPr>
            <a:r>
              <a:t>VENDOR-01</a:t>
            </a:r>
          </a:p>
        </p:txBody>
      </p:sp>
      <p:sp>
        <p:nvSpPr>
          <p:cNvPr id="30" name="TextBox 29"/>
          <p:cNvSpPr txBox="1"/>
          <p:nvPr/>
        </p:nvSpPr>
        <p:spPr>
          <a:xfrm>
            <a:off x="1737360" y="3273552"/>
            <a:ext cx="449884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Source of AI System; Vendor Owner</a:t>
            </a:r>
          </a:p>
        </p:txBody>
      </p:sp>
      <p:sp>
        <p:nvSpPr>
          <p:cNvPr id="31" name="TextBox 30"/>
          <p:cNvSpPr txBox="1"/>
          <p:nvPr/>
        </p:nvSpPr>
        <p:spPr>
          <a:xfrm>
            <a:off x="6400799" y="3273552"/>
            <a:ext cx="317296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Vendor contact unavailable</a:t>
            </a:r>
          </a:p>
        </p:txBody>
      </p:sp>
      <p:sp>
        <p:nvSpPr>
          <p:cNvPr id="32" name="TextBox 31"/>
          <p:cNvSpPr txBox="1"/>
          <p:nvPr/>
        </p:nvSpPr>
        <p:spPr>
          <a:xfrm>
            <a:off x="9738359" y="3273552"/>
            <a:ext cx="184708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24 · 13.9%</a:t>
            </a:r>
          </a:p>
        </p:txBody>
      </p:sp>
      <p:sp>
        <p:nvSpPr>
          <p:cNvPr id="33" name="Rectangle 32"/>
          <p:cNvSpPr/>
          <p:nvPr/>
        </p:nvSpPr>
        <p:spPr>
          <a:xfrm>
            <a:off x="502920" y="3621024"/>
            <a:ext cx="11155680" cy="420624"/>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94360" y="3694176"/>
            <a:ext cx="978408" cy="329184"/>
          </a:xfrm>
          <a:prstGeom prst="rect">
            <a:avLst/>
          </a:prstGeom>
          <a:noFill/>
        </p:spPr>
        <p:txBody>
          <a:bodyPr wrap="square" lIns="0" rIns="0" tIns="0" bIns="0">
            <a:spAutoFit/>
          </a:bodyPr>
          <a:lstStyle/>
          <a:p>
            <a:pPr algn="l">
              <a:lnSpc>
                <a:spcPct val="110000"/>
              </a:lnSpc>
              <a:spcAft>
                <a:spcPts val="200"/>
              </a:spcAft>
              <a:defRPr sz="1200" b="1">
                <a:solidFill>
                  <a:srgbClr val="F2F6FB"/>
                </a:solidFill>
                <a:latin typeface="Arial"/>
              </a:defRPr>
            </a:pPr>
            <a:r>
              <a:t>SCOPE-01</a:t>
            </a:r>
          </a:p>
        </p:txBody>
      </p:sp>
      <p:sp>
        <p:nvSpPr>
          <p:cNvPr id="35" name="TextBox 34"/>
          <p:cNvSpPr txBox="1"/>
          <p:nvPr/>
        </p:nvSpPr>
        <p:spPr>
          <a:xfrm>
            <a:off x="1737360" y="3694176"/>
            <a:ext cx="449884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LOB; State</a:t>
            </a:r>
          </a:p>
        </p:txBody>
      </p:sp>
      <p:sp>
        <p:nvSpPr>
          <p:cNvPr id="36" name="TextBox 35"/>
          <p:cNvSpPr txBox="1"/>
          <p:nvPr/>
        </p:nvSpPr>
        <p:spPr>
          <a:xfrm>
            <a:off x="6400799" y="3694176"/>
            <a:ext cx="317296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Exclusive choices combined</a:t>
            </a:r>
          </a:p>
        </p:txBody>
      </p:sp>
      <p:sp>
        <p:nvSpPr>
          <p:cNvPr id="37" name="TextBox 36"/>
          <p:cNvSpPr txBox="1"/>
          <p:nvPr/>
        </p:nvSpPr>
        <p:spPr>
          <a:xfrm>
            <a:off x="9738359" y="3694176"/>
            <a:ext cx="184708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14 · 8.1%</a:t>
            </a:r>
          </a:p>
        </p:txBody>
      </p:sp>
      <p:sp>
        <p:nvSpPr>
          <p:cNvPr id="38" name="Rectangle 37"/>
          <p:cNvSpPr/>
          <p:nvPr/>
        </p:nvSpPr>
        <p:spPr>
          <a:xfrm>
            <a:off x="502920" y="4041648"/>
            <a:ext cx="11155680" cy="420624"/>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60" y="4114800"/>
            <a:ext cx="978408" cy="329184"/>
          </a:xfrm>
          <a:prstGeom prst="rect">
            <a:avLst/>
          </a:prstGeom>
          <a:noFill/>
        </p:spPr>
        <p:txBody>
          <a:bodyPr wrap="square" lIns="0" rIns="0" tIns="0" bIns="0">
            <a:spAutoFit/>
          </a:bodyPr>
          <a:lstStyle/>
          <a:p>
            <a:pPr algn="l">
              <a:lnSpc>
                <a:spcPct val="110000"/>
              </a:lnSpc>
              <a:spcAft>
                <a:spcPts val="200"/>
              </a:spcAft>
              <a:defRPr sz="1200" b="1">
                <a:solidFill>
                  <a:srgbClr val="F2F6FB"/>
                </a:solidFill>
                <a:latin typeface="Arial"/>
              </a:defRPr>
            </a:pPr>
            <a:r>
              <a:t>ID-02</a:t>
            </a:r>
          </a:p>
        </p:txBody>
      </p:sp>
      <p:sp>
        <p:nvSpPr>
          <p:cNvPr id="40" name="TextBox 39"/>
          <p:cNvSpPr txBox="1"/>
          <p:nvPr/>
        </p:nvSpPr>
        <p:spPr>
          <a:xfrm>
            <a:off x="1737360" y="4114800"/>
            <a:ext cx="449884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Application / System ID</a:t>
            </a:r>
          </a:p>
        </p:txBody>
      </p:sp>
      <p:sp>
        <p:nvSpPr>
          <p:cNvPr id="41" name="TextBox 40"/>
          <p:cNvSpPr txBox="1"/>
          <p:nvPr/>
        </p:nvSpPr>
        <p:spPr>
          <a:xfrm>
            <a:off x="6400799" y="4114800"/>
            <a:ext cx="317296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Repeated normalized ID</a:t>
            </a:r>
          </a:p>
        </p:txBody>
      </p:sp>
      <p:sp>
        <p:nvSpPr>
          <p:cNvPr id="42" name="TextBox 41"/>
          <p:cNvSpPr txBox="1"/>
          <p:nvPr/>
        </p:nvSpPr>
        <p:spPr>
          <a:xfrm>
            <a:off x="9738359" y="4114800"/>
            <a:ext cx="184708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7 · 4.0%</a:t>
            </a:r>
          </a:p>
        </p:txBody>
      </p:sp>
      <p:sp>
        <p:nvSpPr>
          <p:cNvPr id="43" name="Rectangle 42"/>
          <p:cNvSpPr/>
          <p:nvPr/>
        </p:nvSpPr>
        <p:spPr>
          <a:xfrm>
            <a:off x="502920" y="4462272"/>
            <a:ext cx="11155680" cy="420624"/>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4360" y="4535424"/>
            <a:ext cx="978408" cy="329184"/>
          </a:xfrm>
          <a:prstGeom prst="rect">
            <a:avLst/>
          </a:prstGeom>
          <a:noFill/>
        </p:spPr>
        <p:txBody>
          <a:bodyPr wrap="square" lIns="0" rIns="0" tIns="0" bIns="0">
            <a:spAutoFit/>
          </a:bodyPr>
          <a:lstStyle/>
          <a:p>
            <a:pPr algn="l">
              <a:lnSpc>
                <a:spcPct val="110000"/>
              </a:lnSpc>
              <a:spcAft>
                <a:spcPts val="200"/>
              </a:spcAft>
              <a:defRPr sz="1200" b="1">
                <a:solidFill>
                  <a:srgbClr val="F2F6FB"/>
                </a:solidFill>
                <a:latin typeface="Arial"/>
              </a:defRPr>
            </a:pPr>
            <a:r>
              <a:t>DATE-02</a:t>
            </a:r>
          </a:p>
        </p:txBody>
      </p:sp>
      <p:sp>
        <p:nvSpPr>
          <p:cNvPr id="45" name="TextBox 44"/>
          <p:cNvSpPr txBox="1"/>
          <p:nvPr/>
        </p:nvSpPr>
        <p:spPr>
          <a:xfrm>
            <a:off x="1737360" y="4535424"/>
            <a:ext cx="449884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Deployment Status; Go-Live Date</a:t>
            </a:r>
          </a:p>
        </p:txBody>
      </p:sp>
      <p:sp>
        <p:nvSpPr>
          <p:cNvPr id="46" name="TextBox 45"/>
          <p:cNvSpPr txBox="1"/>
          <p:nvPr/>
        </p:nvSpPr>
        <p:spPr>
          <a:xfrm>
            <a:off x="6400799" y="4535424"/>
            <a:ext cx="317296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Active without a date</a:t>
            </a:r>
          </a:p>
        </p:txBody>
      </p:sp>
      <p:sp>
        <p:nvSpPr>
          <p:cNvPr id="47" name="TextBox 46"/>
          <p:cNvSpPr txBox="1"/>
          <p:nvPr/>
        </p:nvSpPr>
        <p:spPr>
          <a:xfrm>
            <a:off x="9738359" y="4535424"/>
            <a:ext cx="184708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2 · 1.2%</a:t>
            </a:r>
          </a:p>
        </p:txBody>
      </p:sp>
      <p:sp>
        <p:nvSpPr>
          <p:cNvPr id="48" name="Rectangle 47"/>
          <p:cNvSpPr/>
          <p:nvPr/>
        </p:nvSpPr>
        <p:spPr>
          <a:xfrm>
            <a:off x="502920" y="4882896"/>
            <a:ext cx="11155680" cy="420624"/>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4360" y="4956048"/>
            <a:ext cx="978408" cy="329184"/>
          </a:xfrm>
          <a:prstGeom prst="rect">
            <a:avLst/>
          </a:prstGeom>
          <a:noFill/>
        </p:spPr>
        <p:txBody>
          <a:bodyPr wrap="square" lIns="0" rIns="0" tIns="0" bIns="0">
            <a:spAutoFit/>
          </a:bodyPr>
          <a:lstStyle/>
          <a:p>
            <a:pPr algn="l">
              <a:lnSpc>
                <a:spcPct val="110000"/>
              </a:lnSpc>
              <a:spcAft>
                <a:spcPts val="200"/>
              </a:spcAft>
              <a:defRPr sz="1200" b="1">
                <a:solidFill>
                  <a:srgbClr val="F2F6FB"/>
                </a:solidFill>
                <a:latin typeface="Arial"/>
              </a:defRPr>
            </a:pPr>
            <a:r>
              <a:t>REQ-01</a:t>
            </a:r>
          </a:p>
        </p:txBody>
      </p:sp>
      <p:sp>
        <p:nvSpPr>
          <p:cNvPr id="50" name="TextBox 49"/>
          <p:cNvSpPr txBox="1"/>
          <p:nvPr/>
        </p:nvSpPr>
        <p:spPr>
          <a:xfrm>
            <a:off x="1737360" y="4956048"/>
            <a:ext cx="449884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Data Environment</a:t>
            </a:r>
          </a:p>
        </p:txBody>
      </p:sp>
      <p:sp>
        <p:nvSpPr>
          <p:cNvPr id="51" name="TextBox 50"/>
          <p:cNvSpPr txBox="1"/>
          <p:nvPr/>
        </p:nvSpPr>
        <p:spPr>
          <a:xfrm>
            <a:off x="6400799" y="4956048"/>
            <a:ext cx="317296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Required value missing</a:t>
            </a:r>
          </a:p>
        </p:txBody>
      </p:sp>
      <p:sp>
        <p:nvSpPr>
          <p:cNvPr id="52" name="TextBox 51"/>
          <p:cNvSpPr txBox="1"/>
          <p:nvPr/>
        </p:nvSpPr>
        <p:spPr>
          <a:xfrm>
            <a:off x="9738359" y="4956048"/>
            <a:ext cx="184708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1 · 0.6%</a:t>
            </a:r>
          </a:p>
        </p:txBody>
      </p:sp>
      <p:sp>
        <p:nvSpPr>
          <p:cNvPr id="53" name="Rectangle 52"/>
          <p:cNvSpPr/>
          <p:nvPr/>
        </p:nvSpPr>
        <p:spPr>
          <a:xfrm>
            <a:off x="502920" y="5303520"/>
            <a:ext cx="11155680" cy="420624"/>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4360" y="5376672"/>
            <a:ext cx="978408" cy="329184"/>
          </a:xfrm>
          <a:prstGeom prst="rect">
            <a:avLst/>
          </a:prstGeom>
          <a:noFill/>
        </p:spPr>
        <p:txBody>
          <a:bodyPr wrap="square" lIns="0" rIns="0" tIns="0" bIns="0">
            <a:spAutoFit/>
          </a:bodyPr>
          <a:lstStyle/>
          <a:p>
            <a:pPr algn="l">
              <a:lnSpc>
                <a:spcPct val="110000"/>
              </a:lnSpc>
              <a:spcAft>
                <a:spcPts val="200"/>
              </a:spcAft>
              <a:defRPr sz="1200" b="1">
                <a:solidFill>
                  <a:srgbClr val="F2F6FB"/>
                </a:solidFill>
                <a:latin typeface="Arial"/>
              </a:defRPr>
            </a:pPr>
            <a:r>
              <a:t>REQ-02</a:t>
            </a:r>
          </a:p>
        </p:txBody>
      </p:sp>
      <p:sp>
        <p:nvSpPr>
          <p:cNvPr id="55" name="TextBox 54"/>
          <p:cNvSpPr txBox="1"/>
          <p:nvPr/>
        </p:nvSpPr>
        <p:spPr>
          <a:xfrm>
            <a:off x="1737360" y="5376672"/>
            <a:ext cx="449884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Technical Owner</a:t>
            </a:r>
          </a:p>
        </p:txBody>
      </p:sp>
      <p:sp>
        <p:nvSpPr>
          <p:cNvPr id="56" name="TextBox 55"/>
          <p:cNvSpPr txBox="1"/>
          <p:nvPr/>
        </p:nvSpPr>
        <p:spPr>
          <a:xfrm>
            <a:off x="6400799" y="5376672"/>
            <a:ext cx="317296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Owner not identified</a:t>
            </a:r>
          </a:p>
        </p:txBody>
      </p:sp>
      <p:sp>
        <p:nvSpPr>
          <p:cNvPr id="57" name="TextBox 56"/>
          <p:cNvSpPr txBox="1"/>
          <p:nvPr/>
        </p:nvSpPr>
        <p:spPr>
          <a:xfrm>
            <a:off x="9738359" y="5376672"/>
            <a:ext cx="184708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1 · 0.6%</a:t>
            </a:r>
          </a:p>
        </p:txBody>
      </p:sp>
      <p:sp>
        <p:nvSpPr>
          <p:cNvPr id="58" name="Rectangle 57"/>
          <p:cNvSpPr/>
          <p:nvPr/>
        </p:nvSpPr>
        <p:spPr>
          <a:xfrm>
            <a:off x="502920" y="5724144"/>
            <a:ext cx="11155680" cy="420624"/>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94360" y="5797296"/>
            <a:ext cx="978408" cy="329184"/>
          </a:xfrm>
          <a:prstGeom prst="rect">
            <a:avLst/>
          </a:prstGeom>
          <a:noFill/>
        </p:spPr>
        <p:txBody>
          <a:bodyPr wrap="square" lIns="0" rIns="0" tIns="0" bIns="0">
            <a:spAutoFit/>
          </a:bodyPr>
          <a:lstStyle/>
          <a:p>
            <a:pPr algn="l">
              <a:lnSpc>
                <a:spcPct val="110000"/>
              </a:lnSpc>
              <a:spcAft>
                <a:spcPts val="200"/>
              </a:spcAft>
              <a:defRPr sz="1200" b="1">
                <a:solidFill>
                  <a:srgbClr val="F2F6FB"/>
                </a:solidFill>
                <a:latin typeface="Arial"/>
              </a:defRPr>
            </a:pPr>
            <a:r>
              <a:t>EMAIL-01</a:t>
            </a:r>
          </a:p>
        </p:txBody>
      </p:sp>
      <p:sp>
        <p:nvSpPr>
          <p:cNvPr id="60" name="TextBox 59"/>
          <p:cNvSpPr txBox="1"/>
          <p:nvPr/>
        </p:nvSpPr>
        <p:spPr>
          <a:xfrm>
            <a:off x="1737360" y="5797296"/>
            <a:ext cx="449884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Business Owner</a:t>
            </a:r>
          </a:p>
        </p:txBody>
      </p:sp>
      <p:sp>
        <p:nvSpPr>
          <p:cNvPr id="61" name="TextBox 60"/>
          <p:cNvSpPr txBox="1"/>
          <p:nvPr/>
        </p:nvSpPr>
        <p:spPr>
          <a:xfrm>
            <a:off x="6400799" y="5797296"/>
            <a:ext cx="317296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Email syntax invalid</a:t>
            </a:r>
          </a:p>
        </p:txBody>
      </p:sp>
      <p:sp>
        <p:nvSpPr>
          <p:cNvPr id="62" name="TextBox 61"/>
          <p:cNvSpPr txBox="1"/>
          <p:nvPr/>
        </p:nvSpPr>
        <p:spPr>
          <a:xfrm>
            <a:off x="9738359" y="5797296"/>
            <a:ext cx="1847088" cy="329184"/>
          </a:xfrm>
          <a:prstGeom prst="rect">
            <a:avLst/>
          </a:prstGeom>
          <a:noFill/>
        </p:spPr>
        <p:txBody>
          <a:bodyPr wrap="square" lIns="0" rIns="0" tIns="0" bIns="0">
            <a:spAutoFit/>
          </a:bodyPr>
          <a:lstStyle/>
          <a:p>
            <a:pPr algn="l">
              <a:lnSpc>
                <a:spcPct val="110000"/>
              </a:lnSpc>
              <a:spcAft>
                <a:spcPts val="200"/>
              </a:spcAft>
              <a:defRPr sz="1200" b="0">
                <a:solidFill>
                  <a:srgbClr val="B1C1D2"/>
                </a:solidFill>
                <a:latin typeface="Arial"/>
              </a:defRPr>
            </a:pPr>
            <a:r>
              <a:t>1 · 0.6%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APPENDIX B • ALL 23 SOURCE COLUMNS</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Checks that apply to each inventory column</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all 23 exact source names are listed above; the optional Lifecycle field is not validated.</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18</a:t>
            </a:r>
          </a:p>
        </p:txBody>
      </p:sp>
      <p:sp>
        <p:nvSpPr>
          <p:cNvPr id="8" name="Rectangle 7"/>
          <p:cNvSpPr/>
          <p:nvPr/>
        </p:nvSpPr>
        <p:spPr>
          <a:xfrm>
            <a:off x="502920" y="1627632"/>
            <a:ext cx="5504688" cy="347472"/>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673352"/>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01</a:t>
            </a:r>
          </a:p>
        </p:txBody>
      </p:sp>
      <p:sp>
        <p:nvSpPr>
          <p:cNvPr id="10" name="TextBox 9"/>
          <p:cNvSpPr txBox="1"/>
          <p:nvPr/>
        </p:nvSpPr>
        <p:spPr>
          <a:xfrm>
            <a:off x="896112" y="1659636"/>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Application / System ID</a:t>
            </a:r>
          </a:p>
        </p:txBody>
      </p:sp>
      <p:sp>
        <p:nvSpPr>
          <p:cNvPr id="11" name="TextBox 10"/>
          <p:cNvSpPr txBox="1"/>
          <p:nvPr/>
        </p:nvSpPr>
        <p:spPr>
          <a:xfrm>
            <a:off x="3566160" y="1659636"/>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Required; normalized ID uniqueness</a:t>
            </a:r>
          </a:p>
        </p:txBody>
      </p:sp>
      <p:sp>
        <p:nvSpPr>
          <p:cNvPr id="12" name="Rectangle 11"/>
          <p:cNvSpPr/>
          <p:nvPr/>
        </p:nvSpPr>
        <p:spPr>
          <a:xfrm>
            <a:off x="502920" y="1990648"/>
            <a:ext cx="5504688" cy="347472"/>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6072" y="2036368"/>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02</a:t>
            </a:r>
          </a:p>
        </p:txBody>
      </p:sp>
      <p:sp>
        <p:nvSpPr>
          <p:cNvPr id="14" name="TextBox 13"/>
          <p:cNvSpPr txBox="1"/>
          <p:nvPr/>
        </p:nvSpPr>
        <p:spPr>
          <a:xfrm>
            <a:off x="896112" y="2022652"/>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AI System / Solution Name</a:t>
            </a:r>
          </a:p>
        </p:txBody>
      </p:sp>
      <p:sp>
        <p:nvSpPr>
          <p:cNvPr id="15" name="TextBox 14"/>
          <p:cNvSpPr txBox="1"/>
          <p:nvPr/>
        </p:nvSpPr>
        <p:spPr>
          <a:xfrm>
            <a:off x="3566160" y="2022652"/>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Required</a:t>
            </a:r>
          </a:p>
        </p:txBody>
      </p:sp>
      <p:sp>
        <p:nvSpPr>
          <p:cNvPr id="16" name="Rectangle 15"/>
          <p:cNvSpPr/>
          <p:nvPr/>
        </p:nvSpPr>
        <p:spPr>
          <a:xfrm>
            <a:off x="502920" y="2353665"/>
            <a:ext cx="5504688" cy="347472"/>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76072" y="2399385"/>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03</a:t>
            </a:r>
          </a:p>
        </p:txBody>
      </p:sp>
      <p:sp>
        <p:nvSpPr>
          <p:cNvPr id="18" name="TextBox 17"/>
          <p:cNvSpPr txBox="1"/>
          <p:nvPr/>
        </p:nvSpPr>
        <p:spPr>
          <a:xfrm>
            <a:off x="896112" y="2385669"/>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Business Purpose / Intended Use</a:t>
            </a:r>
          </a:p>
        </p:txBody>
      </p:sp>
      <p:sp>
        <p:nvSpPr>
          <p:cNvPr id="19" name="TextBox 18"/>
          <p:cNvSpPr txBox="1"/>
          <p:nvPr/>
        </p:nvSpPr>
        <p:spPr>
          <a:xfrm>
            <a:off x="3566160" y="2385669"/>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Required</a:t>
            </a:r>
          </a:p>
        </p:txBody>
      </p:sp>
      <p:sp>
        <p:nvSpPr>
          <p:cNvPr id="20" name="Rectangle 19"/>
          <p:cNvSpPr/>
          <p:nvPr/>
        </p:nvSpPr>
        <p:spPr>
          <a:xfrm>
            <a:off x="502920" y="2716682"/>
            <a:ext cx="5504688" cy="347472"/>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76072" y="2762402"/>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04</a:t>
            </a:r>
          </a:p>
        </p:txBody>
      </p:sp>
      <p:sp>
        <p:nvSpPr>
          <p:cNvPr id="22" name="TextBox 21"/>
          <p:cNvSpPr txBox="1"/>
          <p:nvPr/>
        </p:nvSpPr>
        <p:spPr>
          <a:xfrm>
            <a:off x="896112" y="2748686"/>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Business Function</a:t>
            </a:r>
          </a:p>
        </p:txBody>
      </p:sp>
      <p:sp>
        <p:nvSpPr>
          <p:cNvPr id="23" name="TextBox 22"/>
          <p:cNvSpPr txBox="1"/>
          <p:nvPr/>
        </p:nvSpPr>
        <p:spPr>
          <a:xfrm>
            <a:off x="3566160" y="2748686"/>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At least one selection</a:t>
            </a:r>
          </a:p>
        </p:txBody>
      </p:sp>
      <p:sp>
        <p:nvSpPr>
          <p:cNvPr id="24" name="Rectangle 23"/>
          <p:cNvSpPr/>
          <p:nvPr/>
        </p:nvSpPr>
        <p:spPr>
          <a:xfrm>
            <a:off x="502920" y="3079699"/>
            <a:ext cx="5504688" cy="347472"/>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76072" y="3125419"/>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05</a:t>
            </a:r>
          </a:p>
        </p:txBody>
      </p:sp>
      <p:sp>
        <p:nvSpPr>
          <p:cNvPr id="26" name="TextBox 25"/>
          <p:cNvSpPr txBox="1"/>
          <p:nvPr/>
        </p:nvSpPr>
        <p:spPr>
          <a:xfrm>
            <a:off x="896112" y="3111703"/>
            <a:ext cx="2606040" cy="310896"/>
          </a:xfrm>
          <a:prstGeom prst="rect">
            <a:avLst/>
          </a:prstGeom>
          <a:noFill/>
        </p:spPr>
        <p:txBody>
          <a:bodyPr wrap="square" lIns="0" rIns="0" tIns="0" bIns="0">
            <a:spAutoFit/>
          </a:bodyPr>
          <a:lstStyle/>
          <a:p>
            <a:pPr algn="l">
              <a:lnSpc>
                <a:spcPct val="110000"/>
              </a:lnSpc>
              <a:spcAft>
                <a:spcPts val="200"/>
              </a:spcAft>
              <a:defRPr sz="890" b="1">
                <a:solidFill>
                  <a:srgbClr val="F2F6FB"/>
                </a:solidFill>
                <a:latin typeface="Arial"/>
              </a:defRPr>
            </a:pPr>
            <a:r>
              <a:t>Impact from AI (Patient/Member, Regulatory, Financial)</a:t>
            </a:r>
          </a:p>
        </p:txBody>
      </p:sp>
      <p:sp>
        <p:nvSpPr>
          <p:cNvPr id="27" name="TextBox 26"/>
          <p:cNvSpPr txBox="1"/>
          <p:nvPr/>
        </p:nvSpPr>
        <p:spPr>
          <a:xfrm>
            <a:off x="3566160" y="3111703"/>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Nonblank impact response</a:t>
            </a:r>
          </a:p>
        </p:txBody>
      </p:sp>
      <p:sp>
        <p:nvSpPr>
          <p:cNvPr id="28" name="Rectangle 27"/>
          <p:cNvSpPr/>
          <p:nvPr/>
        </p:nvSpPr>
        <p:spPr>
          <a:xfrm>
            <a:off x="502920" y="3442716"/>
            <a:ext cx="5504688" cy="347472"/>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072" y="3488436"/>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06</a:t>
            </a:r>
          </a:p>
        </p:txBody>
      </p:sp>
      <p:sp>
        <p:nvSpPr>
          <p:cNvPr id="30" name="TextBox 29"/>
          <p:cNvSpPr txBox="1"/>
          <p:nvPr/>
        </p:nvSpPr>
        <p:spPr>
          <a:xfrm>
            <a:off x="896112" y="3474720"/>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Business Owner</a:t>
            </a:r>
          </a:p>
        </p:txBody>
      </p:sp>
      <p:sp>
        <p:nvSpPr>
          <p:cNvPr id="31" name="TextBox 30"/>
          <p:cNvSpPr txBox="1"/>
          <p:nvPr/>
        </p:nvSpPr>
        <p:spPr>
          <a:xfrm>
            <a:off x="3566160" y="3474720"/>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Name or valid-domain email</a:t>
            </a:r>
          </a:p>
        </p:txBody>
      </p:sp>
      <p:sp>
        <p:nvSpPr>
          <p:cNvPr id="32" name="Rectangle 31"/>
          <p:cNvSpPr/>
          <p:nvPr/>
        </p:nvSpPr>
        <p:spPr>
          <a:xfrm>
            <a:off x="502920" y="3805732"/>
            <a:ext cx="5504688" cy="347472"/>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6072" y="3851452"/>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07</a:t>
            </a:r>
          </a:p>
        </p:txBody>
      </p:sp>
      <p:sp>
        <p:nvSpPr>
          <p:cNvPr id="34" name="TextBox 33"/>
          <p:cNvSpPr txBox="1"/>
          <p:nvPr/>
        </p:nvSpPr>
        <p:spPr>
          <a:xfrm>
            <a:off x="896112" y="3837736"/>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Technical Owner</a:t>
            </a:r>
          </a:p>
        </p:txBody>
      </p:sp>
      <p:sp>
        <p:nvSpPr>
          <p:cNvPr id="35" name="TextBox 34"/>
          <p:cNvSpPr txBox="1"/>
          <p:nvPr/>
        </p:nvSpPr>
        <p:spPr>
          <a:xfrm>
            <a:off x="3566160" y="3837736"/>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Name or valid-domain email</a:t>
            </a:r>
          </a:p>
        </p:txBody>
      </p:sp>
      <p:sp>
        <p:nvSpPr>
          <p:cNvPr id="36" name="Rectangle 35"/>
          <p:cNvSpPr/>
          <p:nvPr/>
        </p:nvSpPr>
        <p:spPr>
          <a:xfrm>
            <a:off x="502920" y="4168749"/>
            <a:ext cx="5504688" cy="347472"/>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76072" y="4214469"/>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08</a:t>
            </a:r>
          </a:p>
        </p:txBody>
      </p:sp>
      <p:sp>
        <p:nvSpPr>
          <p:cNvPr id="38" name="TextBox 37"/>
          <p:cNvSpPr txBox="1"/>
          <p:nvPr/>
        </p:nvSpPr>
        <p:spPr>
          <a:xfrm>
            <a:off x="896112" y="4200753"/>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Vendor Owner</a:t>
            </a:r>
          </a:p>
        </p:txBody>
      </p:sp>
      <p:sp>
        <p:nvSpPr>
          <p:cNvPr id="39" name="TextBox 38"/>
          <p:cNvSpPr txBox="1"/>
          <p:nvPr/>
        </p:nvSpPr>
        <p:spPr>
          <a:xfrm>
            <a:off x="3566160" y="4200753"/>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Conditional contact; email syntax</a:t>
            </a:r>
          </a:p>
        </p:txBody>
      </p:sp>
      <p:sp>
        <p:nvSpPr>
          <p:cNvPr id="40" name="Rectangle 39"/>
          <p:cNvSpPr/>
          <p:nvPr/>
        </p:nvSpPr>
        <p:spPr>
          <a:xfrm>
            <a:off x="502920" y="4531766"/>
            <a:ext cx="5504688" cy="347472"/>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76072" y="4577486"/>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09</a:t>
            </a:r>
          </a:p>
        </p:txBody>
      </p:sp>
      <p:sp>
        <p:nvSpPr>
          <p:cNvPr id="42" name="TextBox 41"/>
          <p:cNvSpPr txBox="1"/>
          <p:nvPr/>
        </p:nvSpPr>
        <p:spPr>
          <a:xfrm>
            <a:off x="896112" y="4563770"/>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Source of AI System</a:t>
            </a:r>
          </a:p>
        </p:txBody>
      </p:sp>
      <p:sp>
        <p:nvSpPr>
          <p:cNvPr id="43" name="TextBox 42"/>
          <p:cNvSpPr txBox="1"/>
          <p:nvPr/>
        </p:nvSpPr>
        <p:spPr>
          <a:xfrm>
            <a:off x="3566160" y="4563770"/>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Required; triggers vendor contact</a:t>
            </a:r>
          </a:p>
        </p:txBody>
      </p:sp>
      <p:sp>
        <p:nvSpPr>
          <p:cNvPr id="44" name="Rectangle 43"/>
          <p:cNvSpPr/>
          <p:nvPr/>
        </p:nvSpPr>
        <p:spPr>
          <a:xfrm>
            <a:off x="502920" y="4894783"/>
            <a:ext cx="5504688" cy="347472"/>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76072" y="4940503"/>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10</a:t>
            </a:r>
          </a:p>
        </p:txBody>
      </p:sp>
      <p:sp>
        <p:nvSpPr>
          <p:cNvPr id="46" name="TextBox 45"/>
          <p:cNvSpPr txBox="1"/>
          <p:nvPr/>
        </p:nvSpPr>
        <p:spPr>
          <a:xfrm>
            <a:off x="896112" y="4926787"/>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Type(s) of AI Used</a:t>
            </a:r>
          </a:p>
        </p:txBody>
      </p:sp>
      <p:sp>
        <p:nvSpPr>
          <p:cNvPr id="47" name="TextBox 46"/>
          <p:cNvSpPr txBox="1"/>
          <p:nvPr/>
        </p:nvSpPr>
        <p:spPr>
          <a:xfrm>
            <a:off x="3566160" y="4926787"/>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Required; triggers count conditions</a:t>
            </a:r>
          </a:p>
        </p:txBody>
      </p:sp>
      <p:sp>
        <p:nvSpPr>
          <p:cNvPr id="48" name="Rectangle 47"/>
          <p:cNvSpPr/>
          <p:nvPr/>
        </p:nvSpPr>
        <p:spPr>
          <a:xfrm>
            <a:off x="502920" y="5257800"/>
            <a:ext cx="5504688" cy="347472"/>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76072" y="5303520"/>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11</a:t>
            </a:r>
          </a:p>
        </p:txBody>
      </p:sp>
      <p:sp>
        <p:nvSpPr>
          <p:cNvPr id="50" name="TextBox 49"/>
          <p:cNvSpPr txBox="1"/>
          <p:nvPr/>
        </p:nvSpPr>
        <p:spPr>
          <a:xfrm>
            <a:off x="896112" y="5289804"/>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ML/DL Models Count</a:t>
            </a:r>
          </a:p>
        </p:txBody>
      </p:sp>
      <p:sp>
        <p:nvSpPr>
          <p:cNvPr id="51" name="TextBox 50"/>
          <p:cNvSpPr txBox="1"/>
          <p:nvPr/>
        </p:nvSpPr>
        <p:spPr>
          <a:xfrm>
            <a:off x="3566160" y="5289804"/>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Whole count; ≥1 when ML/DL/Predictive</a:t>
            </a:r>
          </a:p>
        </p:txBody>
      </p:sp>
      <p:sp>
        <p:nvSpPr>
          <p:cNvPr id="52" name="Rectangle 51"/>
          <p:cNvSpPr/>
          <p:nvPr/>
        </p:nvSpPr>
        <p:spPr>
          <a:xfrm>
            <a:off x="502920" y="5620816"/>
            <a:ext cx="5504688" cy="347472"/>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76072" y="5666536"/>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12</a:t>
            </a:r>
          </a:p>
        </p:txBody>
      </p:sp>
      <p:sp>
        <p:nvSpPr>
          <p:cNvPr id="54" name="TextBox 53"/>
          <p:cNvSpPr txBox="1"/>
          <p:nvPr/>
        </p:nvSpPr>
        <p:spPr>
          <a:xfrm>
            <a:off x="896112" y="5652820"/>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LLM Count</a:t>
            </a:r>
          </a:p>
        </p:txBody>
      </p:sp>
      <p:sp>
        <p:nvSpPr>
          <p:cNvPr id="55" name="TextBox 54"/>
          <p:cNvSpPr txBox="1"/>
          <p:nvPr/>
        </p:nvSpPr>
        <p:spPr>
          <a:xfrm>
            <a:off x="3566160" y="5652820"/>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Whole count; ≥0 when LLM/GenAI/Agentic</a:t>
            </a:r>
          </a:p>
        </p:txBody>
      </p:sp>
      <p:sp>
        <p:nvSpPr>
          <p:cNvPr id="56" name="Rectangle 55"/>
          <p:cNvSpPr/>
          <p:nvPr/>
        </p:nvSpPr>
        <p:spPr>
          <a:xfrm>
            <a:off x="6217920" y="1627632"/>
            <a:ext cx="5504688" cy="347472"/>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291072" y="1673352"/>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13</a:t>
            </a:r>
          </a:p>
        </p:txBody>
      </p:sp>
      <p:sp>
        <p:nvSpPr>
          <p:cNvPr id="58" name="TextBox 57"/>
          <p:cNvSpPr txBox="1"/>
          <p:nvPr/>
        </p:nvSpPr>
        <p:spPr>
          <a:xfrm>
            <a:off x="6611112" y="1659636"/>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Data Input to or Processed by AI Tool</a:t>
            </a:r>
          </a:p>
        </p:txBody>
      </p:sp>
      <p:sp>
        <p:nvSpPr>
          <p:cNvPr id="59" name="TextBox 58"/>
          <p:cNvSpPr txBox="1"/>
          <p:nvPr/>
        </p:nvSpPr>
        <p:spPr>
          <a:xfrm>
            <a:off x="9281160" y="1659636"/>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At least one selection; mapping separate</a:t>
            </a:r>
          </a:p>
        </p:txBody>
      </p:sp>
      <p:sp>
        <p:nvSpPr>
          <p:cNvPr id="60" name="Rectangle 59"/>
          <p:cNvSpPr/>
          <p:nvPr/>
        </p:nvSpPr>
        <p:spPr>
          <a:xfrm>
            <a:off x="6217920" y="1990648"/>
            <a:ext cx="5504688" cy="347472"/>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291072" y="2036368"/>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14</a:t>
            </a:r>
          </a:p>
        </p:txBody>
      </p:sp>
      <p:sp>
        <p:nvSpPr>
          <p:cNvPr id="62" name="TextBox 61"/>
          <p:cNvSpPr txBox="1"/>
          <p:nvPr/>
        </p:nvSpPr>
        <p:spPr>
          <a:xfrm>
            <a:off x="6611112" y="2022652"/>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Data Environment</a:t>
            </a:r>
          </a:p>
        </p:txBody>
      </p:sp>
      <p:sp>
        <p:nvSpPr>
          <p:cNvPr id="63" name="TextBox 62"/>
          <p:cNvSpPr txBox="1"/>
          <p:nvPr/>
        </p:nvSpPr>
        <p:spPr>
          <a:xfrm>
            <a:off x="9281160" y="2022652"/>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At least one selection</a:t>
            </a:r>
          </a:p>
        </p:txBody>
      </p:sp>
      <p:sp>
        <p:nvSpPr>
          <p:cNvPr id="64" name="Rectangle 63"/>
          <p:cNvSpPr/>
          <p:nvPr/>
        </p:nvSpPr>
        <p:spPr>
          <a:xfrm>
            <a:off x="6217920" y="2353665"/>
            <a:ext cx="5504688" cy="347472"/>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91072" y="2399385"/>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15</a:t>
            </a:r>
          </a:p>
        </p:txBody>
      </p:sp>
      <p:sp>
        <p:nvSpPr>
          <p:cNvPr id="66" name="TextBox 65"/>
          <p:cNvSpPr txBox="1"/>
          <p:nvPr/>
        </p:nvSpPr>
        <p:spPr>
          <a:xfrm>
            <a:off x="6611112" y="2385669"/>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Deployment Environment</a:t>
            </a:r>
          </a:p>
        </p:txBody>
      </p:sp>
      <p:sp>
        <p:nvSpPr>
          <p:cNvPr id="67" name="TextBox 66"/>
          <p:cNvSpPr txBox="1"/>
          <p:nvPr/>
        </p:nvSpPr>
        <p:spPr>
          <a:xfrm>
            <a:off x="9281160" y="2385669"/>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Required</a:t>
            </a:r>
          </a:p>
        </p:txBody>
      </p:sp>
      <p:sp>
        <p:nvSpPr>
          <p:cNvPr id="68" name="Rectangle 67"/>
          <p:cNvSpPr/>
          <p:nvPr/>
        </p:nvSpPr>
        <p:spPr>
          <a:xfrm>
            <a:off x="6217920" y="2716682"/>
            <a:ext cx="5504688" cy="347472"/>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91072" y="2762402"/>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16</a:t>
            </a:r>
          </a:p>
        </p:txBody>
      </p:sp>
      <p:sp>
        <p:nvSpPr>
          <p:cNvPr id="70" name="TextBox 69"/>
          <p:cNvSpPr txBox="1"/>
          <p:nvPr/>
        </p:nvSpPr>
        <p:spPr>
          <a:xfrm>
            <a:off x="6611112" y="2748686"/>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Deployment Status</a:t>
            </a:r>
          </a:p>
        </p:txBody>
      </p:sp>
      <p:sp>
        <p:nvSpPr>
          <p:cNvPr id="71" name="TextBox 70"/>
          <p:cNvSpPr txBox="1"/>
          <p:nvPr/>
        </p:nvSpPr>
        <p:spPr>
          <a:xfrm>
            <a:off x="9281160" y="2748686"/>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One current status; triggers date</a:t>
            </a:r>
          </a:p>
        </p:txBody>
      </p:sp>
      <p:sp>
        <p:nvSpPr>
          <p:cNvPr id="72" name="Rectangle 71"/>
          <p:cNvSpPr/>
          <p:nvPr/>
        </p:nvSpPr>
        <p:spPr>
          <a:xfrm>
            <a:off x="6217920" y="3079699"/>
            <a:ext cx="5504688" cy="347472"/>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291072" y="3125419"/>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17</a:t>
            </a:r>
          </a:p>
        </p:txBody>
      </p:sp>
      <p:sp>
        <p:nvSpPr>
          <p:cNvPr id="74" name="TextBox 73"/>
          <p:cNvSpPr txBox="1"/>
          <p:nvPr/>
        </p:nvSpPr>
        <p:spPr>
          <a:xfrm>
            <a:off x="6611112" y="3111703"/>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Go-Live Date</a:t>
            </a:r>
          </a:p>
        </p:txBody>
      </p:sp>
      <p:sp>
        <p:nvSpPr>
          <p:cNvPr id="75" name="TextBox 74"/>
          <p:cNvSpPr txBox="1"/>
          <p:nvPr/>
        </p:nvSpPr>
        <p:spPr>
          <a:xfrm>
            <a:off x="9281160" y="3111703"/>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Valid date; required if Active</a:t>
            </a:r>
          </a:p>
        </p:txBody>
      </p:sp>
      <p:sp>
        <p:nvSpPr>
          <p:cNvPr id="76" name="Rectangle 75"/>
          <p:cNvSpPr/>
          <p:nvPr/>
        </p:nvSpPr>
        <p:spPr>
          <a:xfrm>
            <a:off x="6217920" y="3442716"/>
            <a:ext cx="5504688" cy="347472"/>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291072" y="3488436"/>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18</a:t>
            </a:r>
          </a:p>
        </p:txBody>
      </p:sp>
      <p:sp>
        <p:nvSpPr>
          <p:cNvPr id="78" name="TextBox 77"/>
          <p:cNvSpPr txBox="1"/>
          <p:nvPr/>
        </p:nvSpPr>
        <p:spPr>
          <a:xfrm>
            <a:off x="6611112" y="3474720"/>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LOB</a:t>
            </a:r>
          </a:p>
        </p:txBody>
      </p:sp>
      <p:sp>
        <p:nvSpPr>
          <p:cNvPr id="79" name="TextBox 78"/>
          <p:cNvSpPr txBox="1"/>
          <p:nvPr/>
        </p:nvSpPr>
        <p:spPr>
          <a:xfrm>
            <a:off x="9281160" y="3474720"/>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Selection; None stands alone</a:t>
            </a:r>
          </a:p>
        </p:txBody>
      </p:sp>
      <p:sp>
        <p:nvSpPr>
          <p:cNvPr id="80" name="Rectangle 79"/>
          <p:cNvSpPr/>
          <p:nvPr/>
        </p:nvSpPr>
        <p:spPr>
          <a:xfrm>
            <a:off x="6217920" y="3805732"/>
            <a:ext cx="5504688" cy="347472"/>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6291072" y="3851452"/>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19</a:t>
            </a:r>
          </a:p>
        </p:txBody>
      </p:sp>
      <p:sp>
        <p:nvSpPr>
          <p:cNvPr id="82" name="TextBox 81"/>
          <p:cNvSpPr txBox="1"/>
          <p:nvPr/>
        </p:nvSpPr>
        <p:spPr>
          <a:xfrm>
            <a:off x="6611112" y="3837736"/>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State</a:t>
            </a:r>
          </a:p>
        </p:txBody>
      </p:sp>
      <p:sp>
        <p:nvSpPr>
          <p:cNvPr id="83" name="TextBox 82"/>
          <p:cNvSpPr txBox="1"/>
          <p:nvPr/>
        </p:nvSpPr>
        <p:spPr>
          <a:xfrm>
            <a:off x="9281160" y="3837736"/>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Selection; All/None stand alone</a:t>
            </a:r>
          </a:p>
        </p:txBody>
      </p:sp>
      <p:sp>
        <p:nvSpPr>
          <p:cNvPr id="84" name="Rectangle 83"/>
          <p:cNvSpPr/>
          <p:nvPr/>
        </p:nvSpPr>
        <p:spPr>
          <a:xfrm>
            <a:off x="6217920" y="4168749"/>
            <a:ext cx="5504688" cy="347472"/>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291072" y="4214469"/>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20</a:t>
            </a:r>
          </a:p>
        </p:txBody>
      </p:sp>
      <p:sp>
        <p:nvSpPr>
          <p:cNvPr id="86" name="TextBox 85"/>
          <p:cNvSpPr txBox="1"/>
          <p:nvPr/>
        </p:nvSpPr>
        <p:spPr>
          <a:xfrm>
            <a:off x="6611112" y="4200753"/>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Risk Tier</a:t>
            </a:r>
          </a:p>
        </p:txBody>
      </p:sp>
      <p:sp>
        <p:nvSpPr>
          <p:cNvPr id="87" name="TextBox 86"/>
          <p:cNvSpPr txBox="1"/>
          <p:nvPr/>
        </p:nvSpPr>
        <p:spPr>
          <a:xfrm>
            <a:off x="9281160" y="4200753"/>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Required; Unknown accepted</a:t>
            </a:r>
          </a:p>
        </p:txBody>
      </p:sp>
      <p:sp>
        <p:nvSpPr>
          <p:cNvPr id="88" name="Rectangle 87"/>
          <p:cNvSpPr/>
          <p:nvPr/>
        </p:nvSpPr>
        <p:spPr>
          <a:xfrm>
            <a:off x="6217920" y="4531766"/>
            <a:ext cx="5504688" cy="347472"/>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6291072" y="4577486"/>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21</a:t>
            </a:r>
          </a:p>
        </p:txBody>
      </p:sp>
      <p:sp>
        <p:nvSpPr>
          <p:cNvPr id="90" name="TextBox 89"/>
          <p:cNvSpPr txBox="1"/>
          <p:nvPr/>
        </p:nvSpPr>
        <p:spPr>
          <a:xfrm>
            <a:off x="6611112" y="4563770"/>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Human-in-the-Loop</a:t>
            </a:r>
          </a:p>
        </p:txBody>
      </p:sp>
      <p:sp>
        <p:nvSpPr>
          <p:cNvPr id="91" name="TextBox 90"/>
          <p:cNvSpPr txBox="1"/>
          <p:nvPr/>
        </p:nvSpPr>
        <p:spPr>
          <a:xfrm>
            <a:off x="9281160" y="4563770"/>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Required; No/Partial accepted</a:t>
            </a:r>
          </a:p>
        </p:txBody>
      </p:sp>
      <p:sp>
        <p:nvSpPr>
          <p:cNvPr id="92" name="Rectangle 91"/>
          <p:cNvSpPr/>
          <p:nvPr/>
        </p:nvSpPr>
        <p:spPr>
          <a:xfrm>
            <a:off x="6217920" y="4894783"/>
            <a:ext cx="5504688" cy="347472"/>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291072" y="4940503"/>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22</a:t>
            </a:r>
          </a:p>
        </p:txBody>
      </p:sp>
      <p:sp>
        <p:nvSpPr>
          <p:cNvPr id="94" name="TextBox 93"/>
          <p:cNvSpPr txBox="1"/>
          <p:nvPr/>
        </p:nvSpPr>
        <p:spPr>
          <a:xfrm>
            <a:off x="6611112" y="4926787"/>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Submitter Name</a:t>
            </a:r>
          </a:p>
        </p:txBody>
      </p:sp>
      <p:sp>
        <p:nvSpPr>
          <p:cNvPr id="95" name="TextBox 94"/>
          <p:cNvSpPr txBox="1"/>
          <p:nvPr/>
        </p:nvSpPr>
        <p:spPr>
          <a:xfrm>
            <a:off x="9281160" y="4926787"/>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Required</a:t>
            </a:r>
          </a:p>
        </p:txBody>
      </p:sp>
      <p:sp>
        <p:nvSpPr>
          <p:cNvPr id="96" name="Rectangle 95"/>
          <p:cNvSpPr/>
          <p:nvPr/>
        </p:nvSpPr>
        <p:spPr>
          <a:xfrm>
            <a:off x="6217920" y="5257800"/>
            <a:ext cx="5504688" cy="347472"/>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6291072" y="5303520"/>
            <a:ext cx="219456" cy="182880"/>
          </a:xfrm>
          <a:prstGeom prst="rect">
            <a:avLst/>
          </a:prstGeom>
          <a:noFill/>
        </p:spPr>
        <p:txBody>
          <a:bodyPr wrap="square" lIns="0" rIns="0" tIns="0" bIns="0">
            <a:spAutoFit/>
          </a:bodyPr>
          <a:lstStyle/>
          <a:p>
            <a:pPr algn="l">
              <a:lnSpc>
                <a:spcPct val="110000"/>
              </a:lnSpc>
              <a:spcAft>
                <a:spcPts val="200"/>
              </a:spcAft>
              <a:defRPr sz="950" b="1">
                <a:solidFill>
                  <a:srgbClr val="69DDD0"/>
                </a:solidFill>
                <a:latin typeface="Arial"/>
              </a:defRPr>
            </a:pPr>
            <a:r>
              <a:t>23</a:t>
            </a:r>
          </a:p>
        </p:txBody>
      </p:sp>
      <p:sp>
        <p:nvSpPr>
          <p:cNvPr id="98" name="TextBox 97"/>
          <p:cNvSpPr txBox="1"/>
          <p:nvPr/>
        </p:nvSpPr>
        <p:spPr>
          <a:xfrm>
            <a:off x="6611112" y="5289804"/>
            <a:ext cx="2606040" cy="310896"/>
          </a:xfrm>
          <a:prstGeom prst="rect">
            <a:avLst/>
          </a:prstGeom>
          <a:noFill/>
        </p:spPr>
        <p:txBody>
          <a:bodyPr wrap="square" lIns="0" rIns="0" tIns="0" bIns="0">
            <a:spAutoFit/>
          </a:bodyPr>
          <a:lstStyle/>
          <a:p>
            <a:pPr algn="l">
              <a:lnSpc>
                <a:spcPct val="110000"/>
              </a:lnSpc>
              <a:spcAft>
                <a:spcPts val="200"/>
              </a:spcAft>
              <a:defRPr sz="1040" b="1">
                <a:solidFill>
                  <a:srgbClr val="F2F6FB"/>
                </a:solidFill>
                <a:latin typeface="Arial"/>
              </a:defRPr>
            </a:pPr>
            <a:r>
              <a:t>Date Submitted</a:t>
            </a:r>
          </a:p>
        </p:txBody>
      </p:sp>
      <p:sp>
        <p:nvSpPr>
          <p:cNvPr id="99" name="TextBox 98"/>
          <p:cNvSpPr txBox="1"/>
          <p:nvPr/>
        </p:nvSpPr>
        <p:spPr>
          <a:xfrm>
            <a:off x="9281160" y="5289804"/>
            <a:ext cx="2350008" cy="292608"/>
          </a:xfrm>
          <a:prstGeom prst="rect">
            <a:avLst/>
          </a:prstGeom>
          <a:noFill/>
        </p:spPr>
        <p:txBody>
          <a:bodyPr wrap="square" lIns="0" rIns="0" tIns="0" bIns="0">
            <a:spAutoFit/>
          </a:bodyPr>
          <a:lstStyle/>
          <a:p>
            <a:pPr algn="l">
              <a:lnSpc>
                <a:spcPct val="110000"/>
              </a:lnSpc>
              <a:spcAft>
                <a:spcPts val="200"/>
              </a:spcAft>
              <a:defRPr sz="1000" b="0">
                <a:solidFill>
                  <a:srgbClr val="B1C1D2"/>
                </a:solidFill>
                <a:latin typeface="Arial"/>
              </a:defRPr>
            </a:pPr>
            <a:r>
              <a:t>Required real date; not future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C1524"/>
        </a:solidFill>
        <a:effectLst/>
      </p:bgPr>
    </p:bg>
    <p:spTree>
      <p:nvGrpSpPr>
        <p:cNvPr id="1" name=""/>
        <p:cNvGrpSpPr/>
        <p:nvPr/>
      </p:nvGrpSpPr>
      <p:grpSpPr/>
      <p:sp>
        <p:nvSpPr>
          <p:cNvPr id="2" name="Rectangle 1"/>
          <p:cNvSpPr/>
          <p:nvPr/>
        </p:nvSpPr>
        <p:spPr>
          <a:xfrm>
            <a:off x="0" y="0"/>
            <a:ext cx="12191695" cy="41148"/>
          </a:xfrm>
          <a:prstGeom prst="rect">
            <a:avLst/>
          </a:prstGeom>
          <a:solidFill>
            <a:srgbClr val="69D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65176"/>
            <a:ext cx="11064240" cy="228600"/>
          </a:xfrm>
          <a:prstGeom prst="rect">
            <a:avLst/>
          </a:prstGeom>
          <a:noFill/>
        </p:spPr>
        <p:txBody>
          <a:bodyPr wrap="square" lIns="0" rIns="0" tIns="0" bIns="0">
            <a:spAutoFit/>
          </a:bodyPr>
          <a:lstStyle/>
          <a:p>
            <a:pPr algn="l">
              <a:lnSpc>
                <a:spcPct val="110000"/>
              </a:lnSpc>
              <a:spcAft>
                <a:spcPts val="200"/>
              </a:spcAft>
              <a:defRPr sz="1130" b="1">
                <a:solidFill>
                  <a:srgbClr val="69DDD0"/>
                </a:solidFill>
                <a:latin typeface="Arial"/>
              </a:defRPr>
            </a:pPr>
            <a:r>
              <a:t>APPENDIX C • COUNTING, PROVENANCE AND REPRODUCIBILITY</a:t>
            </a:r>
          </a:p>
        </p:txBody>
      </p:sp>
      <p:sp>
        <p:nvSpPr>
          <p:cNvPr id="4" name="TextBox 3"/>
          <p:cNvSpPr txBox="1"/>
          <p:nvPr/>
        </p:nvSpPr>
        <p:spPr>
          <a:xfrm>
            <a:off x="502920" y="667512"/>
            <a:ext cx="11109960" cy="768096"/>
          </a:xfrm>
          <a:prstGeom prst="rect">
            <a:avLst/>
          </a:prstGeom>
          <a:noFill/>
        </p:spPr>
        <p:txBody>
          <a:bodyPr wrap="square" lIns="0" rIns="0" tIns="0" bIns="0">
            <a:spAutoFit/>
          </a:bodyPr>
          <a:lstStyle/>
          <a:p>
            <a:pPr algn="l">
              <a:lnSpc>
                <a:spcPct val="110000"/>
              </a:lnSpc>
              <a:spcAft>
                <a:spcPts val="200"/>
              </a:spcAft>
              <a:defRPr sz="2700" b="1">
                <a:solidFill>
                  <a:srgbClr val="F2F6FB"/>
                </a:solidFill>
                <a:latin typeface="Arial"/>
              </a:defRPr>
            </a:pPr>
            <a:r>
              <a:t>Use one record count and a fixed denominator</a:t>
            </a:r>
          </a:p>
        </p:txBody>
      </p:sp>
      <p:sp>
        <p:nvSpPr>
          <p:cNvPr id="5" name="Rectangle 4"/>
          <p:cNvSpPr/>
          <p:nvPr/>
        </p:nvSpPr>
        <p:spPr>
          <a:xfrm>
            <a:off x="502920" y="6254496"/>
            <a:ext cx="11183112" cy="10972"/>
          </a:xfrm>
          <a:prstGeom prst="rect">
            <a:avLst/>
          </a:prstGeom>
          <a:solidFill>
            <a:srgbClr val="3045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391656"/>
            <a:ext cx="10607040" cy="393192"/>
          </a:xfrm>
          <a:prstGeom prst="rect">
            <a:avLst/>
          </a:prstGeom>
          <a:noFill/>
        </p:spPr>
        <p:txBody>
          <a:bodyPr wrap="square" lIns="0" rIns="0" tIns="0" bIns="0">
            <a:spAutoFit/>
          </a:bodyPr>
          <a:lstStyle/>
          <a:p>
            <a:pPr algn="l">
              <a:lnSpc>
                <a:spcPct val="110000"/>
              </a:lnSpc>
              <a:spcAft>
                <a:spcPts val="200"/>
              </a:spcAft>
              <a:defRPr sz="1080" b="0">
                <a:solidFill>
                  <a:srgbClr val="B1C1D2"/>
                </a:solidFill>
                <a:latin typeface="Arial"/>
              </a:defRPr>
            </a:pPr>
            <a:r>
              <a:t>AI Inventory columns: AI System / Solution Name  •  Application / System ID  •  LLM Count  •  ML/DL Models Count  •  Deployment Status  •  Source of AI System</a:t>
            </a:r>
          </a:p>
        </p:txBody>
      </p:sp>
      <p:sp>
        <p:nvSpPr>
          <p:cNvPr id="7" name="TextBox 6"/>
          <p:cNvSpPr txBox="1"/>
          <p:nvPr/>
        </p:nvSpPr>
        <p:spPr>
          <a:xfrm>
            <a:off x="11292840" y="6510528"/>
            <a:ext cx="393192" cy="182880"/>
          </a:xfrm>
          <a:prstGeom prst="rect">
            <a:avLst/>
          </a:prstGeom>
          <a:noFill/>
        </p:spPr>
        <p:txBody>
          <a:bodyPr wrap="square" lIns="0" rIns="0" tIns="0" bIns="0">
            <a:spAutoFit/>
          </a:bodyPr>
          <a:lstStyle/>
          <a:p>
            <a:pPr algn="r">
              <a:lnSpc>
                <a:spcPct val="110000"/>
              </a:lnSpc>
              <a:spcAft>
                <a:spcPts val="200"/>
              </a:spcAft>
              <a:defRPr sz="1030" b="1">
                <a:solidFill>
                  <a:srgbClr val="69DDD0"/>
                </a:solidFill>
                <a:latin typeface="Arial"/>
              </a:defRPr>
            </a:pPr>
            <a:r>
              <a:t>19</a:t>
            </a:r>
          </a:p>
        </p:txBody>
      </p:sp>
      <p:sp>
        <p:nvSpPr>
          <p:cNvPr id="8" name="Rectangle 7"/>
          <p:cNvSpPr/>
          <p:nvPr/>
        </p:nvSpPr>
        <p:spPr>
          <a:xfrm>
            <a:off x="502920" y="1783080"/>
            <a:ext cx="11155680" cy="365760"/>
          </a:xfrm>
          <a:prstGeom prst="rect">
            <a:avLst/>
          </a:prstGeom>
          <a:solidFill>
            <a:srgbClr val="2038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883664"/>
            <a:ext cx="2395727" cy="201168"/>
          </a:xfrm>
          <a:prstGeom prst="rect">
            <a:avLst/>
          </a:prstGeom>
          <a:noFill/>
        </p:spPr>
        <p:txBody>
          <a:bodyPr wrap="square" lIns="0" rIns="0" tIns="0" bIns="0">
            <a:spAutoFit/>
          </a:bodyPr>
          <a:lstStyle/>
          <a:p>
            <a:pPr algn="l">
              <a:lnSpc>
                <a:spcPct val="110000"/>
              </a:lnSpc>
              <a:spcAft>
                <a:spcPts val="200"/>
              </a:spcAft>
              <a:defRPr sz="1100" b="1">
                <a:solidFill>
                  <a:srgbClr val="69DDD0"/>
                </a:solidFill>
                <a:latin typeface="Arial"/>
              </a:defRPr>
            </a:pPr>
            <a:r>
              <a:t>Interpretation</a:t>
            </a:r>
          </a:p>
        </p:txBody>
      </p:sp>
      <p:sp>
        <p:nvSpPr>
          <p:cNvPr id="10" name="TextBox 9"/>
          <p:cNvSpPr txBox="1"/>
          <p:nvPr/>
        </p:nvSpPr>
        <p:spPr>
          <a:xfrm>
            <a:off x="3154679" y="1883664"/>
            <a:ext cx="8430768" cy="201168"/>
          </a:xfrm>
          <a:prstGeom prst="rect">
            <a:avLst/>
          </a:prstGeom>
          <a:noFill/>
        </p:spPr>
        <p:txBody>
          <a:bodyPr wrap="square" lIns="0" rIns="0" tIns="0" bIns="0">
            <a:spAutoFit/>
          </a:bodyPr>
          <a:lstStyle/>
          <a:p>
            <a:pPr algn="l">
              <a:lnSpc>
                <a:spcPct val="110000"/>
              </a:lnSpc>
              <a:spcAft>
                <a:spcPts val="200"/>
              </a:spcAft>
              <a:defRPr sz="1100" b="1">
                <a:solidFill>
                  <a:srgbClr val="69DDD0"/>
                </a:solidFill>
                <a:latin typeface="Arial"/>
              </a:defRPr>
            </a:pPr>
            <a:r>
              <a:t>Basis</a:t>
            </a:r>
          </a:p>
        </p:txBody>
      </p:sp>
      <p:sp>
        <p:nvSpPr>
          <p:cNvPr id="11" name="Rectangle 10"/>
          <p:cNvSpPr/>
          <p:nvPr/>
        </p:nvSpPr>
        <p:spPr>
          <a:xfrm>
            <a:off x="502920" y="2148840"/>
            <a:ext cx="11155680" cy="585216"/>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221992"/>
            <a:ext cx="2395727" cy="493776"/>
          </a:xfrm>
          <a:prstGeom prst="rect">
            <a:avLst/>
          </a:prstGeom>
          <a:noFill/>
        </p:spPr>
        <p:txBody>
          <a:bodyPr wrap="square" lIns="0" rIns="0" tIns="0" bIns="0">
            <a:spAutoFit/>
          </a:bodyPr>
          <a:lstStyle/>
          <a:p>
            <a:pPr algn="l">
              <a:lnSpc>
                <a:spcPct val="110000"/>
              </a:lnSpc>
              <a:spcAft>
                <a:spcPts val="200"/>
              </a:spcAft>
              <a:defRPr sz="1600" b="1">
                <a:solidFill>
                  <a:srgbClr val="F2F6FB"/>
                </a:solidFill>
                <a:latin typeface="Arial"/>
              </a:defRPr>
            </a:pPr>
            <a:r>
              <a:t>Population</a:t>
            </a:r>
          </a:p>
        </p:txBody>
      </p:sp>
      <p:sp>
        <p:nvSpPr>
          <p:cNvPr id="13" name="TextBox 12"/>
          <p:cNvSpPr txBox="1"/>
          <p:nvPr/>
        </p:nvSpPr>
        <p:spPr>
          <a:xfrm>
            <a:off x="3154679" y="2221992"/>
            <a:ext cx="8430768" cy="493776"/>
          </a:xfrm>
          <a:prstGeom prst="rect">
            <a:avLst/>
          </a:prstGeom>
          <a:noFill/>
        </p:spPr>
        <p:txBody>
          <a:bodyPr wrap="square" lIns="0" rIns="0" tIns="0" bIns="0">
            <a:spAutoFit/>
          </a:bodyPr>
          <a:lstStyle/>
          <a:p>
            <a:pPr algn="l">
              <a:lnSpc>
                <a:spcPct val="110000"/>
              </a:lnSpc>
              <a:spcAft>
                <a:spcPts val="200"/>
              </a:spcAft>
              <a:defRPr sz="1600" b="0">
                <a:solidFill>
                  <a:srgbClr val="B1C1D2"/>
                </a:solidFill>
                <a:latin typeface="Arial"/>
              </a:defRPr>
            </a:pPr>
            <a:r>
              <a:t>173 logical source rows; one row is one record.</a:t>
            </a:r>
          </a:p>
        </p:txBody>
      </p:sp>
      <p:sp>
        <p:nvSpPr>
          <p:cNvPr id="14" name="Rectangle 13"/>
          <p:cNvSpPr/>
          <p:nvPr/>
        </p:nvSpPr>
        <p:spPr>
          <a:xfrm>
            <a:off x="502920" y="2734056"/>
            <a:ext cx="11155680" cy="585216"/>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807208"/>
            <a:ext cx="2395727" cy="493776"/>
          </a:xfrm>
          <a:prstGeom prst="rect">
            <a:avLst/>
          </a:prstGeom>
          <a:noFill/>
        </p:spPr>
        <p:txBody>
          <a:bodyPr wrap="square" lIns="0" rIns="0" tIns="0" bIns="0">
            <a:spAutoFit/>
          </a:bodyPr>
          <a:lstStyle/>
          <a:p>
            <a:pPr algn="l">
              <a:lnSpc>
                <a:spcPct val="110000"/>
              </a:lnSpc>
              <a:spcAft>
                <a:spcPts val="200"/>
              </a:spcAft>
              <a:defRPr sz="1600" b="1">
                <a:solidFill>
                  <a:srgbClr val="F2F6FB"/>
                </a:solidFill>
                <a:latin typeface="Arial"/>
              </a:defRPr>
            </a:pPr>
            <a:r>
              <a:t>Percentages</a:t>
            </a:r>
          </a:p>
        </p:txBody>
      </p:sp>
      <p:sp>
        <p:nvSpPr>
          <p:cNvPr id="16" name="TextBox 15"/>
          <p:cNvSpPr txBox="1"/>
          <p:nvPr/>
        </p:nvSpPr>
        <p:spPr>
          <a:xfrm>
            <a:off x="3154679" y="2807208"/>
            <a:ext cx="8430768" cy="493776"/>
          </a:xfrm>
          <a:prstGeom prst="rect">
            <a:avLst/>
          </a:prstGeom>
          <a:noFill/>
        </p:spPr>
        <p:txBody>
          <a:bodyPr wrap="square" lIns="0" rIns="0" tIns="0" bIns="0">
            <a:spAutoFit/>
          </a:bodyPr>
          <a:lstStyle/>
          <a:p>
            <a:pPr algn="l">
              <a:lnSpc>
                <a:spcPct val="110000"/>
              </a:lnSpc>
              <a:spcAft>
                <a:spcPts val="200"/>
              </a:spcAft>
              <a:defRPr sz="1600" b="0">
                <a:solidFill>
                  <a:srgbClr val="B1C1D2"/>
                </a:solidFill>
                <a:latin typeface="Arial"/>
              </a:defRPr>
            </a:pPr>
            <a:r>
              <a:t>Every headline share divides by 173; screenshots use the same whole-file basis.</a:t>
            </a:r>
          </a:p>
        </p:txBody>
      </p:sp>
      <p:sp>
        <p:nvSpPr>
          <p:cNvPr id="17" name="Rectangle 16"/>
          <p:cNvSpPr/>
          <p:nvPr/>
        </p:nvSpPr>
        <p:spPr>
          <a:xfrm>
            <a:off x="502920" y="3319272"/>
            <a:ext cx="11155680" cy="585216"/>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392424"/>
            <a:ext cx="2395727" cy="493776"/>
          </a:xfrm>
          <a:prstGeom prst="rect">
            <a:avLst/>
          </a:prstGeom>
          <a:noFill/>
        </p:spPr>
        <p:txBody>
          <a:bodyPr wrap="square" lIns="0" rIns="0" tIns="0" bIns="0">
            <a:spAutoFit/>
          </a:bodyPr>
          <a:lstStyle/>
          <a:p>
            <a:pPr algn="l">
              <a:lnSpc>
                <a:spcPct val="110000"/>
              </a:lnSpc>
              <a:spcAft>
                <a:spcPts val="200"/>
              </a:spcAft>
              <a:defRPr sz="1600" b="1">
                <a:solidFill>
                  <a:srgbClr val="F2F6FB"/>
                </a:solidFill>
                <a:latin typeface="Arial"/>
              </a:defRPr>
            </a:pPr>
            <a:r>
              <a:t>Findings vs records</a:t>
            </a:r>
          </a:p>
        </p:txBody>
      </p:sp>
      <p:sp>
        <p:nvSpPr>
          <p:cNvPr id="19" name="TextBox 18"/>
          <p:cNvSpPr txBox="1"/>
          <p:nvPr/>
        </p:nvSpPr>
        <p:spPr>
          <a:xfrm>
            <a:off x="3154679" y="3392424"/>
            <a:ext cx="8430768" cy="493776"/>
          </a:xfrm>
          <a:prstGeom prst="rect">
            <a:avLst/>
          </a:prstGeom>
          <a:noFill/>
        </p:spPr>
        <p:txBody>
          <a:bodyPr wrap="square" lIns="0" rIns="0" tIns="0" bIns="0">
            <a:spAutoFit/>
          </a:bodyPr>
          <a:lstStyle/>
          <a:p>
            <a:pPr algn="l">
              <a:lnSpc>
                <a:spcPct val="110000"/>
              </a:lnSpc>
              <a:spcAft>
                <a:spcPts val="200"/>
              </a:spcAft>
              <a:defRPr sz="1600" b="0">
                <a:solidFill>
                  <a:srgbClr val="B1C1D2"/>
                </a:solidFill>
                <a:latin typeface="Arial"/>
              </a:defRPr>
            </a:pPr>
            <a:r>
              <a:t>183 findings affect 121 records; rule and field cohorts overlap.</a:t>
            </a:r>
          </a:p>
        </p:txBody>
      </p:sp>
      <p:sp>
        <p:nvSpPr>
          <p:cNvPr id="20" name="Rectangle 19"/>
          <p:cNvSpPr/>
          <p:nvPr/>
        </p:nvSpPr>
        <p:spPr>
          <a:xfrm>
            <a:off x="502920" y="3904487"/>
            <a:ext cx="11155680" cy="585216"/>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3977639"/>
            <a:ext cx="2395727" cy="493776"/>
          </a:xfrm>
          <a:prstGeom prst="rect">
            <a:avLst/>
          </a:prstGeom>
          <a:noFill/>
        </p:spPr>
        <p:txBody>
          <a:bodyPr wrap="square" lIns="0" rIns="0" tIns="0" bIns="0">
            <a:spAutoFit/>
          </a:bodyPr>
          <a:lstStyle/>
          <a:p>
            <a:pPr algn="l">
              <a:lnSpc>
                <a:spcPct val="110000"/>
              </a:lnSpc>
              <a:spcAft>
                <a:spcPts val="200"/>
              </a:spcAft>
              <a:defRPr sz="1600" b="1">
                <a:solidFill>
                  <a:srgbClr val="F2F6FB"/>
                </a:solidFill>
                <a:latin typeface="Arial"/>
              </a:defRPr>
            </a:pPr>
            <a:r>
              <a:t>Snapshot</a:t>
            </a:r>
          </a:p>
        </p:txBody>
      </p:sp>
      <p:sp>
        <p:nvSpPr>
          <p:cNvPr id="22" name="TextBox 21"/>
          <p:cNvSpPr txBox="1"/>
          <p:nvPr/>
        </p:nvSpPr>
        <p:spPr>
          <a:xfrm>
            <a:off x="3154679" y="3977639"/>
            <a:ext cx="8430768" cy="493776"/>
          </a:xfrm>
          <a:prstGeom prst="rect">
            <a:avLst/>
          </a:prstGeom>
          <a:noFill/>
        </p:spPr>
        <p:txBody>
          <a:bodyPr wrap="square" lIns="0" rIns="0" tIns="0" bIns="0">
            <a:spAutoFit/>
          </a:bodyPr>
          <a:lstStyle/>
          <a:p>
            <a:pPr algn="l">
              <a:lnSpc>
                <a:spcPct val="110000"/>
              </a:lnSpc>
              <a:spcAft>
                <a:spcPts val="200"/>
              </a:spcAft>
              <a:defRPr sz="1600" b="0">
                <a:solidFill>
                  <a:srgbClr val="B1C1D2"/>
                </a:solidFill>
                <a:latin typeface="Arial"/>
              </a:defRPr>
            </a:pPr>
            <a:r>
              <a:t>Saved review 28 October 2026, rules 5.4; source CSV byte-hash verified.</a:t>
            </a:r>
          </a:p>
        </p:txBody>
      </p:sp>
      <p:sp>
        <p:nvSpPr>
          <p:cNvPr id="23" name="Rectangle 22"/>
          <p:cNvSpPr/>
          <p:nvPr/>
        </p:nvSpPr>
        <p:spPr>
          <a:xfrm>
            <a:off x="502920" y="4489704"/>
            <a:ext cx="11155680" cy="585216"/>
          </a:xfrm>
          <a:prstGeom prst="rect">
            <a:avLst/>
          </a:prstGeom>
          <a:solidFill>
            <a:srgbClr val="1524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562856"/>
            <a:ext cx="2395727" cy="493776"/>
          </a:xfrm>
          <a:prstGeom prst="rect">
            <a:avLst/>
          </a:prstGeom>
          <a:noFill/>
        </p:spPr>
        <p:txBody>
          <a:bodyPr wrap="square" lIns="0" rIns="0" tIns="0" bIns="0">
            <a:spAutoFit/>
          </a:bodyPr>
          <a:lstStyle/>
          <a:p>
            <a:pPr algn="l">
              <a:lnSpc>
                <a:spcPct val="110000"/>
              </a:lnSpc>
              <a:spcAft>
                <a:spcPts val="200"/>
              </a:spcAft>
              <a:defRPr sz="1600" b="1">
                <a:solidFill>
                  <a:srgbClr val="F2F6FB"/>
                </a:solidFill>
                <a:latin typeface="Arial"/>
              </a:defRPr>
            </a:pPr>
            <a:r>
              <a:t>Screenshots</a:t>
            </a:r>
          </a:p>
        </p:txBody>
      </p:sp>
      <p:sp>
        <p:nvSpPr>
          <p:cNvPr id="25" name="TextBox 24"/>
          <p:cNvSpPr txBox="1"/>
          <p:nvPr/>
        </p:nvSpPr>
        <p:spPr>
          <a:xfrm>
            <a:off x="3154679" y="4562856"/>
            <a:ext cx="8430768" cy="493776"/>
          </a:xfrm>
          <a:prstGeom prst="rect">
            <a:avLst/>
          </a:prstGeom>
          <a:noFill/>
        </p:spPr>
        <p:txBody>
          <a:bodyPr wrap="square" lIns="0" rIns="0" tIns="0" bIns="0">
            <a:spAutoFit/>
          </a:bodyPr>
          <a:lstStyle/>
          <a:p>
            <a:pPr algn="l">
              <a:lnSpc>
                <a:spcPct val="110000"/>
              </a:lnSpc>
              <a:spcAft>
                <a:spcPts val="200"/>
              </a:spcAft>
              <a:defRPr sz="1600" b="0">
                <a:solidFill>
                  <a:srgbClr val="B1C1D2"/>
                </a:solidFill>
                <a:latin typeface="Arial"/>
              </a:defRPr>
            </a:pPr>
            <a:r>
              <a:t>App PNG exports and record captures; exact source rows are listed in the notes.</a:t>
            </a:r>
          </a:p>
        </p:txBody>
      </p:sp>
      <p:sp>
        <p:nvSpPr>
          <p:cNvPr id="26" name="Rectangle 25"/>
          <p:cNvSpPr/>
          <p:nvPr/>
        </p:nvSpPr>
        <p:spPr>
          <a:xfrm>
            <a:off x="502920" y="5074920"/>
            <a:ext cx="11155680" cy="585216"/>
          </a:xfrm>
          <a:prstGeom prst="rect">
            <a:avLst/>
          </a:prstGeom>
          <a:solidFill>
            <a:srgbClr val="1B2D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5148072"/>
            <a:ext cx="2395727" cy="493776"/>
          </a:xfrm>
          <a:prstGeom prst="rect">
            <a:avLst/>
          </a:prstGeom>
          <a:noFill/>
        </p:spPr>
        <p:txBody>
          <a:bodyPr wrap="square" lIns="0" rIns="0" tIns="0" bIns="0">
            <a:spAutoFit/>
          </a:bodyPr>
          <a:lstStyle/>
          <a:p>
            <a:pPr algn="l">
              <a:lnSpc>
                <a:spcPct val="110000"/>
              </a:lnSpc>
              <a:spcAft>
                <a:spcPts val="200"/>
              </a:spcAft>
              <a:defRPr sz="1600" b="1">
                <a:solidFill>
                  <a:srgbClr val="F2F6FB"/>
                </a:solidFill>
                <a:latin typeface="Arial"/>
              </a:defRPr>
            </a:pPr>
            <a:r>
              <a:t>Proposed improvements</a:t>
            </a:r>
          </a:p>
        </p:txBody>
      </p:sp>
      <p:sp>
        <p:nvSpPr>
          <p:cNvPr id="28" name="TextBox 27"/>
          <p:cNvSpPr txBox="1"/>
          <p:nvPr/>
        </p:nvSpPr>
        <p:spPr>
          <a:xfrm>
            <a:off x="3154679" y="5148072"/>
            <a:ext cx="8430768" cy="493776"/>
          </a:xfrm>
          <a:prstGeom prst="rect">
            <a:avLst/>
          </a:prstGeom>
          <a:noFill/>
        </p:spPr>
        <p:txBody>
          <a:bodyPr wrap="square" lIns="0" rIns="0" tIns="0" bIns="0">
            <a:spAutoFit/>
          </a:bodyPr>
          <a:lstStyle/>
          <a:p>
            <a:pPr algn="l">
              <a:lnSpc>
                <a:spcPct val="110000"/>
              </a:lnSpc>
              <a:spcAft>
                <a:spcPts val="200"/>
              </a:spcAft>
              <a:defRPr sz="1600" b="0">
                <a:solidFill>
                  <a:srgbClr val="B1C1D2"/>
                </a:solidFill>
                <a:latin typeface="Arial"/>
              </a:defRPr>
            </a:pPr>
            <a:r>
              <a:t>Discussion items only; no source values, validation rules or saved outcomes changed.</a:t>
            </a:r>
          </a:p>
        </p:txBody>
      </p:sp>
      <p:sp>
        <p:nvSpPr>
          <p:cNvPr id="29" name="TextBox 28"/>
          <p:cNvSpPr txBox="1"/>
          <p:nvPr/>
        </p:nvSpPr>
        <p:spPr>
          <a:xfrm>
            <a:off x="685800" y="5742432"/>
            <a:ext cx="10789920" cy="329184"/>
          </a:xfrm>
          <a:prstGeom prst="rect">
            <a:avLst/>
          </a:prstGeom>
          <a:noFill/>
        </p:spPr>
        <p:txBody>
          <a:bodyPr wrap="square" lIns="0" rIns="0" tIns="0" bIns="0">
            <a:spAutoFit/>
          </a:bodyPr>
          <a:lstStyle/>
          <a:p>
            <a:pPr algn="l">
              <a:lnSpc>
                <a:spcPct val="110000"/>
              </a:lnSpc>
              <a:spcAft>
                <a:spcPts val="200"/>
              </a:spcAft>
              <a:defRPr sz="1900" b="1">
                <a:solidFill>
                  <a:srgbClr val="69DDD0"/>
                </a:solidFill>
                <a:latin typeface="Arial"/>
              </a:defRPr>
            </a:pPr>
            <a:r>
              <a:t>Correct the source → upload again → compare the record results.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